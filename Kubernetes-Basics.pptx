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60" r:id="rId2"/>
  </p:sldMasterIdLst>
  <p:notesMasterIdLst>
    <p:notesMasterId r:id="rId34"/>
  </p:notesMasterIdLst>
  <p:sldIdLst>
    <p:sldId id="256" r:id="rId3"/>
    <p:sldId id="257" r:id="rId4"/>
    <p:sldId id="277" r:id="rId5"/>
    <p:sldId id="258" r:id="rId6"/>
    <p:sldId id="259" r:id="rId7"/>
    <p:sldId id="278" r:id="rId8"/>
    <p:sldId id="261" r:id="rId9"/>
    <p:sldId id="279" r:id="rId10"/>
    <p:sldId id="262" r:id="rId11"/>
    <p:sldId id="263" r:id="rId12"/>
    <p:sldId id="264" r:id="rId13"/>
    <p:sldId id="265" r:id="rId14"/>
    <p:sldId id="280" r:id="rId15"/>
    <p:sldId id="266" r:id="rId16"/>
    <p:sldId id="267" r:id="rId17"/>
    <p:sldId id="268" r:id="rId18"/>
    <p:sldId id="269" r:id="rId19"/>
    <p:sldId id="270" r:id="rId20"/>
    <p:sldId id="281" r:id="rId21"/>
    <p:sldId id="287" r:id="rId22"/>
    <p:sldId id="271" r:id="rId23"/>
    <p:sldId id="282" r:id="rId24"/>
    <p:sldId id="272" r:id="rId25"/>
    <p:sldId id="283" r:id="rId26"/>
    <p:sldId id="273" r:id="rId27"/>
    <p:sldId id="284" r:id="rId28"/>
    <p:sldId id="285" r:id="rId29"/>
    <p:sldId id="274" r:id="rId30"/>
    <p:sldId id="288" r:id="rId31"/>
    <p:sldId id="276" r:id="rId32"/>
    <p:sldId id="286" r:id="rId33"/>
  </p:sldIdLst>
  <p:sldSz cx="18288000" cy="10287000"/>
  <p:notesSz cx="6858000" cy="9144000"/>
  <p:embeddedFontLst>
    <p:embeddedFont>
      <p:font typeface="Cambria" panose="02040503050406030204" pitchFamily="18" charset="0"/>
      <p:regular r:id="rId35"/>
      <p:bold r:id="rId36"/>
      <p:italic r:id="rId37"/>
      <p:boldItalic r:id="rId38"/>
    </p:embeddedFont>
    <p:embeddedFont>
      <p:font typeface="Consolas" panose="020B0609020204030204" pitchFamily="49" charset="0"/>
      <p:regular r:id="rId39"/>
      <p:bold r:id="rId40"/>
      <p:italic r:id="rId41"/>
      <p:boldItalic r:id="rId42"/>
    </p:embeddedFont>
    <p:embeddedFont>
      <p:font typeface="Poppins" panose="00000500000000000000" pitchFamily="2" charset="0"/>
      <p:regular r:id="rId43"/>
      <p:bold r:id="rId44"/>
      <p:italic r:id="rId45"/>
      <p:boldItalic r:id="rId46"/>
    </p:embeddedFont>
    <p:embeddedFont>
      <p:font typeface="Trebuchet MS" panose="020B0603020202020204" pitchFamily="34" charset="0"/>
      <p:regular r:id="rId47"/>
      <p:bold r:id="rId48"/>
      <p:italic r:id="rId49"/>
      <p:boldItalic r:id="rId5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56" roundtripDataSignature="AMtx7mgWyJcuKNQk8S0D6Qyt1VIcpOCv8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5033" autoAdjust="0"/>
  </p:normalViewPr>
  <p:slideViewPr>
    <p:cSldViewPr snapToGrid="0">
      <p:cViewPr varScale="1">
        <p:scale>
          <a:sx n="73" d="100"/>
          <a:sy n="73" d="100"/>
        </p:scale>
        <p:origin x="594" y="6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font" Target="fonts/font5.fntdata"/><Relationship Id="rId21" Type="http://schemas.openxmlformats.org/officeDocument/2006/relationships/slide" Target="slides/slide19.xml"/><Relationship Id="rId34" Type="http://schemas.openxmlformats.org/officeDocument/2006/relationships/notesMaster" Target="notesMasters/notesMaster1.xml"/><Relationship Id="rId42" Type="http://schemas.openxmlformats.org/officeDocument/2006/relationships/font" Target="fonts/font8.fntdata"/><Relationship Id="rId47" Type="http://schemas.openxmlformats.org/officeDocument/2006/relationships/font" Target="fonts/font13.fntdata"/><Relationship Id="rId50" Type="http://schemas.openxmlformats.org/officeDocument/2006/relationships/font" Target="fonts/font16.fntdata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font" Target="fonts/font3.fntdata"/><Relationship Id="rId40" Type="http://schemas.openxmlformats.org/officeDocument/2006/relationships/font" Target="fonts/font6.fntdata"/><Relationship Id="rId45" Type="http://schemas.openxmlformats.org/officeDocument/2006/relationships/font" Target="fonts/font11.fntdata"/><Relationship Id="rId58" Type="http://schemas.openxmlformats.org/officeDocument/2006/relationships/viewProps" Target="viewProps.xml"/><Relationship Id="rId5" Type="http://schemas.openxmlformats.org/officeDocument/2006/relationships/slide" Target="slides/slide3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font" Target="fonts/font10.fntdata"/><Relationship Id="rId60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font" Target="fonts/font1.fntdata"/><Relationship Id="rId43" Type="http://schemas.openxmlformats.org/officeDocument/2006/relationships/font" Target="fonts/font9.fntdata"/><Relationship Id="rId48" Type="http://schemas.openxmlformats.org/officeDocument/2006/relationships/font" Target="fonts/font14.fntdata"/><Relationship Id="rId56" Type="http://customschemas.google.com/relationships/presentationmetadata" Target="metadata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font" Target="fonts/font4.fntdata"/><Relationship Id="rId46" Type="http://schemas.openxmlformats.org/officeDocument/2006/relationships/font" Target="fonts/font12.fntdata"/><Relationship Id="rId59" Type="http://schemas.openxmlformats.org/officeDocument/2006/relationships/theme" Target="theme/theme1.xml"/><Relationship Id="rId20" Type="http://schemas.openxmlformats.org/officeDocument/2006/relationships/slide" Target="slides/slide18.xml"/><Relationship Id="rId41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font" Target="fonts/font2.fntdata"/><Relationship Id="rId49" Type="http://schemas.openxmlformats.org/officeDocument/2006/relationships/font" Target="fonts/font15.fntdata"/><Relationship Id="rId57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2857500" y="512763"/>
            <a:ext cx="3429000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:notes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1" name="Google Shape;16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d3e761798d_0_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  <p:sp>
        <p:nvSpPr>
          <p:cNvPr id="181" name="Google Shape;181;g3d3e761798d_0_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0">
          <a:extLst>
            <a:ext uri="{FF2B5EF4-FFF2-40B4-BE49-F238E27FC236}">
              <a16:creationId xmlns:a16="http://schemas.microsoft.com/office/drawing/2014/main" id="{AB264707-E684-8FEB-14EB-91B89A1D89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3d50459c92a_0_1122:notes">
            <a:extLst>
              <a:ext uri="{FF2B5EF4-FFF2-40B4-BE49-F238E27FC236}">
                <a16:creationId xmlns:a16="http://schemas.microsoft.com/office/drawing/2014/main" id="{20754CE0-7BDA-973F-33D5-A53F44BD3B6A}"/>
              </a:ext>
            </a:extLst>
          </p:cNvPr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/>
          </a:p>
        </p:txBody>
      </p:sp>
      <p:sp>
        <p:nvSpPr>
          <p:cNvPr id="242" name="Google Shape;242;g3d50459c92a_0_1122:notes">
            <a:extLst>
              <a:ext uri="{FF2B5EF4-FFF2-40B4-BE49-F238E27FC236}">
                <a16:creationId xmlns:a16="http://schemas.microsoft.com/office/drawing/2014/main" id="{96F82AD3-4CC1-22D3-A9E1-29219221E170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243" name="Google Shape;243;g3d50459c92a_0_1122:notes">
            <a:extLst>
              <a:ext uri="{FF2B5EF4-FFF2-40B4-BE49-F238E27FC236}">
                <a16:creationId xmlns:a16="http://schemas.microsoft.com/office/drawing/2014/main" id="{942652C8-BCD4-7B21-2DF6-0FD5BB6C0B5E}"/>
              </a:ext>
            </a:extLst>
          </p:cNvPr>
          <p:cNvSpPr>
            <a:spLocks noGrp="1" noRot="1" noChangeAspect="1"/>
          </p:cNvSpPr>
          <p:nvPr>
            <p:ph type="sldImg" idx="3"/>
          </p:nvPr>
        </p:nvSpPr>
        <p:spPr>
          <a:xfrm>
            <a:off x="2290763" y="512763"/>
            <a:ext cx="4562475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4" name="Google Shape;244;g3d50459c92a_0_1122:notes">
            <a:extLst>
              <a:ext uri="{FF2B5EF4-FFF2-40B4-BE49-F238E27FC236}">
                <a16:creationId xmlns:a16="http://schemas.microsoft.com/office/drawing/2014/main" id="{0EF7B008-3931-2468-4E6A-0BD8FB0A7E0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Compensation is one of the most powerful — and most misunderstood — levers in any organization.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Every business pays people. Very few businesses truly understand how or why they pay people the way they do.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This is where compensation analysis comes in.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Are we paying our people in a way that is fair, competitive, and sustainable for the business?</a:t>
            </a:r>
            <a:endParaRPr/>
          </a:p>
        </p:txBody>
      </p:sp>
      <p:sp>
        <p:nvSpPr>
          <p:cNvPr id="245" name="Google Shape;245;g3d50459c92a_0_1122:notes">
            <a:extLst>
              <a:ext uri="{FF2B5EF4-FFF2-40B4-BE49-F238E27FC236}">
                <a16:creationId xmlns:a16="http://schemas.microsoft.com/office/drawing/2014/main" id="{092DDC02-80F0-2266-CF2B-B58426A59412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/>
          </a:p>
        </p:txBody>
      </p:sp>
      <p:sp>
        <p:nvSpPr>
          <p:cNvPr id="246" name="Google Shape;246;g3d50459c92a_0_1122:notes">
            <a:extLst>
              <a:ext uri="{FF2B5EF4-FFF2-40B4-BE49-F238E27FC236}">
                <a16:creationId xmlns:a16="http://schemas.microsoft.com/office/drawing/2014/main" id="{813C9543-330D-F66F-0319-80198DC2F58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9057833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3d50459c92a_0_1122:notes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/>
          </a:p>
        </p:txBody>
      </p:sp>
      <p:sp>
        <p:nvSpPr>
          <p:cNvPr id="242" name="Google Shape;242;g3d50459c92a_0_1122:notes"/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243" name="Google Shape;243;g3d50459c92a_0_1122:notes"/>
          <p:cNvSpPr>
            <a:spLocks noGrp="1" noRot="1" noChangeAspect="1"/>
          </p:cNvSpPr>
          <p:nvPr>
            <p:ph type="sldImg" idx="3"/>
          </p:nvPr>
        </p:nvSpPr>
        <p:spPr>
          <a:xfrm>
            <a:off x="2290763" y="512763"/>
            <a:ext cx="4562475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4" name="Google Shape;244;g3d50459c92a_0_1122:notes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Compensation is one of the most powerful — and most misunderstood — levers in any organization.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Every business pays people. Very few businesses truly understand how or why they pay people the way they do.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This is where compensation analysis comes in.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Are we paying our people in a way that is fair, competitive, and sustainable for the business?</a:t>
            </a:r>
            <a:endParaRPr/>
          </a:p>
        </p:txBody>
      </p:sp>
      <p:sp>
        <p:nvSpPr>
          <p:cNvPr id="245" name="Google Shape;245;g3d50459c92a_0_1122:notes"/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/>
          </a:p>
        </p:txBody>
      </p:sp>
      <p:sp>
        <p:nvSpPr>
          <p:cNvPr id="246" name="Google Shape;246;g3d50459c92a_0_1122:notes"/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39783d9389a_0_1:notes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/>
          </a:p>
        </p:txBody>
      </p:sp>
      <p:sp>
        <p:nvSpPr>
          <p:cNvPr id="263" name="Google Shape;263;g39783d9389a_0_1:notes"/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264" name="Google Shape;264;g39783d9389a_0_1:notes"/>
          <p:cNvSpPr>
            <a:spLocks noGrp="1" noRot="1" noChangeAspect="1"/>
          </p:cNvSpPr>
          <p:nvPr>
            <p:ph type="sldImg" idx="3"/>
          </p:nvPr>
        </p:nvSpPr>
        <p:spPr>
          <a:xfrm>
            <a:off x="2290763" y="512763"/>
            <a:ext cx="4562475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5" name="Google Shape;265;g39783d9389a_0_1:notes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Compensation is one of the most powerful — and most misunderstood — levers in any organization.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Every business pays people. Very few businesses truly understand how or why they pay people the way they do.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This is where compensation analysis comes in.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Are we paying our people in a way that is fair, competitive, and sustainable for the business?</a:t>
            </a:r>
            <a:endParaRPr/>
          </a:p>
        </p:txBody>
      </p:sp>
      <p:sp>
        <p:nvSpPr>
          <p:cNvPr id="266" name="Google Shape;266;g39783d9389a_0_1:notes"/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/>
          </a:p>
        </p:txBody>
      </p:sp>
      <p:sp>
        <p:nvSpPr>
          <p:cNvPr id="267" name="Google Shape;267;g39783d9389a_0_1:notes"/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1">
          <a:extLst>
            <a:ext uri="{FF2B5EF4-FFF2-40B4-BE49-F238E27FC236}">
              <a16:creationId xmlns:a16="http://schemas.microsoft.com/office/drawing/2014/main" id="{35BEA838-F05A-0E72-CE29-D223D86043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39783d9389a_0_1:notes">
            <a:extLst>
              <a:ext uri="{FF2B5EF4-FFF2-40B4-BE49-F238E27FC236}">
                <a16:creationId xmlns:a16="http://schemas.microsoft.com/office/drawing/2014/main" id="{0160490A-8A1A-4EF9-4941-BAF609EB2B85}"/>
              </a:ext>
            </a:extLst>
          </p:cNvPr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/>
          </a:p>
        </p:txBody>
      </p:sp>
      <p:sp>
        <p:nvSpPr>
          <p:cNvPr id="263" name="Google Shape;263;g39783d9389a_0_1:notes">
            <a:extLst>
              <a:ext uri="{FF2B5EF4-FFF2-40B4-BE49-F238E27FC236}">
                <a16:creationId xmlns:a16="http://schemas.microsoft.com/office/drawing/2014/main" id="{0FF08A7D-9B6A-F21A-088B-5DC8707F8ECD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264" name="Google Shape;264;g39783d9389a_0_1:notes">
            <a:extLst>
              <a:ext uri="{FF2B5EF4-FFF2-40B4-BE49-F238E27FC236}">
                <a16:creationId xmlns:a16="http://schemas.microsoft.com/office/drawing/2014/main" id="{A5706930-89C4-713D-1A2A-67725456FFAA}"/>
              </a:ext>
            </a:extLst>
          </p:cNvPr>
          <p:cNvSpPr>
            <a:spLocks noGrp="1" noRot="1" noChangeAspect="1"/>
          </p:cNvSpPr>
          <p:nvPr>
            <p:ph type="sldImg" idx="3"/>
          </p:nvPr>
        </p:nvSpPr>
        <p:spPr>
          <a:xfrm>
            <a:off x="2290763" y="512763"/>
            <a:ext cx="4562475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5" name="Google Shape;265;g39783d9389a_0_1:notes">
            <a:extLst>
              <a:ext uri="{FF2B5EF4-FFF2-40B4-BE49-F238E27FC236}">
                <a16:creationId xmlns:a16="http://schemas.microsoft.com/office/drawing/2014/main" id="{FD802D16-0893-8136-C372-BAF333BF7A4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Compensation is one of the most powerful — and most misunderstood — levers in any organization.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Every business pays people. Very few businesses truly understand how or why they pay people the way they do.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This is where compensation analysis comes in.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Are we paying our people in a way that is fair, competitive, and sustainable for the business?</a:t>
            </a:r>
            <a:endParaRPr/>
          </a:p>
        </p:txBody>
      </p:sp>
      <p:sp>
        <p:nvSpPr>
          <p:cNvPr id="266" name="Google Shape;266;g39783d9389a_0_1:notes">
            <a:extLst>
              <a:ext uri="{FF2B5EF4-FFF2-40B4-BE49-F238E27FC236}">
                <a16:creationId xmlns:a16="http://schemas.microsoft.com/office/drawing/2014/main" id="{46089484-D8A6-CD1F-7C79-4B8DD34C63D7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/>
          </a:p>
        </p:txBody>
      </p:sp>
      <p:sp>
        <p:nvSpPr>
          <p:cNvPr id="267" name="Google Shape;267;g39783d9389a_0_1:notes">
            <a:extLst>
              <a:ext uri="{FF2B5EF4-FFF2-40B4-BE49-F238E27FC236}">
                <a16:creationId xmlns:a16="http://schemas.microsoft.com/office/drawing/2014/main" id="{85638288-FC3E-D4DD-620D-C2156E6013B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37537167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3dae939ee2c_0_0:notes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/>
          </a:p>
        </p:txBody>
      </p:sp>
      <p:sp>
        <p:nvSpPr>
          <p:cNvPr id="305" name="Google Shape;305;g3dae939ee2c_0_0:notes"/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306" name="Google Shape;306;g3dae939ee2c_0_0:notes"/>
          <p:cNvSpPr>
            <a:spLocks noGrp="1" noRot="1" noChangeAspect="1"/>
          </p:cNvSpPr>
          <p:nvPr>
            <p:ph type="sldImg" idx="3"/>
          </p:nvPr>
        </p:nvSpPr>
        <p:spPr>
          <a:xfrm>
            <a:off x="2290763" y="512763"/>
            <a:ext cx="4562475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7" name="Google Shape;307;g3dae939ee2c_0_0:notes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Compensation is one of the most powerful — and most misunderstood — levers in any organization.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Every business pays people. Very few businesses truly understand how or why they pay people the way they do.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This is where compensation analysis comes in.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Are we paying our people in a way that is fair, competitive, and sustainable for the business?</a:t>
            </a:r>
            <a:endParaRPr/>
          </a:p>
        </p:txBody>
      </p:sp>
      <p:sp>
        <p:nvSpPr>
          <p:cNvPr id="308" name="Google Shape;308;g3dae939ee2c_0_0:notes"/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/>
          </a:p>
        </p:txBody>
      </p:sp>
      <p:sp>
        <p:nvSpPr>
          <p:cNvPr id="309" name="Google Shape;309;g3dae939ee2c_0_0:notes"/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>
          <a:extLst>
            <a:ext uri="{FF2B5EF4-FFF2-40B4-BE49-F238E27FC236}">
              <a16:creationId xmlns:a16="http://schemas.microsoft.com/office/drawing/2014/main" id="{A33F5B23-E8ED-094B-90AB-FF670F9DFD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3dae939ee2c_0_0:notes">
            <a:extLst>
              <a:ext uri="{FF2B5EF4-FFF2-40B4-BE49-F238E27FC236}">
                <a16:creationId xmlns:a16="http://schemas.microsoft.com/office/drawing/2014/main" id="{A19BE92D-ED55-3859-497D-435385724E57}"/>
              </a:ext>
            </a:extLst>
          </p:cNvPr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/>
          </a:p>
        </p:txBody>
      </p:sp>
      <p:sp>
        <p:nvSpPr>
          <p:cNvPr id="305" name="Google Shape;305;g3dae939ee2c_0_0:notes">
            <a:extLst>
              <a:ext uri="{FF2B5EF4-FFF2-40B4-BE49-F238E27FC236}">
                <a16:creationId xmlns:a16="http://schemas.microsoft.com/office/drawing/2014/main" id="{C29A9090-EBDE-78F5-1402-396699CCA492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306" name="Google Shape;306;g3dae939ee2c_0_0:notes">
            <a:extLst>
              <a:ext uri="{FF2B5EF4-FFF2-40B4-BE49-F238E27FC236}">
                <a16:creationId xmlns:a16="http://schemas.microsoft.com/office/drawing/2014/main" id="{2E03F41C-801F-0EE0-A827-F4ADC0622582}"/>
              </a:ext>
            </a:extLst>
          </p:cNvPr>
          <p:cNvSpPr>
            <a:spLocks noGrp="1" noRot="1" noChangeAspect="1"/>
          </p:cNvSpPr>
          <p:nvPr>
            <p:ph type="sldImg" idx="3"/>
          </p:nvPr>
        </p:nvSpPr>
        <p:spPr>
          <a:xfrm>
            <a:off x="2290763" y="512763"/>
            <a:ext cx="4562475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7" name="Google Shape;307;g3dae939ee2c_0_0:notes">
            <a:extLst>
              <a:ext uri="{FF2B5EF4-FFF2-40B4-BE49-F238E27FC236}">
                <a16:creationId xmlns:a16="http://schemas.microsoft.com/office/drawing/2014/main" id="{18424D16-9777-ED67-B6CF-88425C4D3FC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Compensation is one of the most powerful — and most misunderstood — levers in any organization.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Every business pays people. Very few businesses truly understand how or why they pay people the way they do.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This is where compensation analysis comes in.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Are we paying our people in a way that is fair, competitive, and sustainable for the business?</a:t>
            </a:r>
            <a:endParaRPr/>
          </a:p>
        </p:txBody>
      </p:sp>
      <p:sp>
        <p:nvSpPr>
          <p:cNvPr id="308" name="Google Shape;308;g3dae939ee2c_0_0:notes">
            <a:extLst>
              <a:ext uri="{FF2B5EF4-FFF2-40B4-BE49-F238E27FC236}">
                <a16:creationId xmlns:a16="http://schemas.microsoft.com/office/drawing/2014/main" id="{AFE56D7C-E2E3-1675-6BED-DAC89E863F23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/>
          </a:p>
        </p:txBody>
      </p:sp>
      <p:sp>
        <p:nvSpPr>
          <p:cNvPr id="309" name="Google Shape;309;g3dae939ee2c_0_0:notes">
            <a:extLst>
              <a:ext uri="{FF2B5EF4-FFF2-40B4-BE49-F238E27FC236}">
                <a16:creationId xmlns:a16="http://schemas.microsoft.com/office/drawing/2014/main" id="{07CB5E88-432F-B395-1391-0031A9E34EF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38368478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3dae939ee2c_0_383:notes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26" name="Google Shape;326;g3dae939ee2c_0_3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39783d9389a_0_79:notes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/>
          </a:p>
        </p:txBody>
      </p:sp>
      <p:sp>
        <p:nvSpPr>
          <p:cNvPr id="338" name="Google Shape;338;g39783d9389a_0_79:notes"/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339" name="Google Shape;339;g39783d9389a_0_79:notes"/>
          <p:cNvSpPr>
            <a:spLocks noGrp="1" noRot="1" noChangeAspect="1"/>
          </p:cNvSpPr>
          <p:nvPr>
            <p:ph type="sldImg" idx="3"/>
          </p:nvPr>
        </p:nvSpPr>
        <p:spPr>
          <a:xfrm>
            <a:off x="2290763" y="512763"/>
            <a:ext cx="4562475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0" name="Google Shape;340;g39783d9389a_0_79:notes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Compensation is one of the most powerful — and most misunderstood — levers in any organization.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Every business pays people. Very few businesses truly understand how or why they pay people the way they do.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This is where compensation analysis comes in.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Are we paying our people in a way that is fair, competitive, and sustainable for the business?</a:t>
            </a:r>
            <a:endParaRPr/>
          </a:p>
        </p:txBody>
      </p:sp>
      <p:sp>
        <p:nvSpPr>
          <p:cNvPr id="341" name="Google Shape;341;g39783d9389a_0_79:notes"/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/>
          </a:p>
        </p:txBody>
      </p:sp>
      <p:sp>
        <p:nvSpPr>
          <p:cNvPr id="342" name="Google Shape;342;g39783d9389a_0_79:notes"/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g39799a058bd_0_8:notes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/>
          </a:p>
        </p:txBody>
      </p:sp>
      <p:sp>
        <p:nvSpPr>
          <p:cNvPr id="362" name="Google Shape;362;g39799a058bd_0_8:notes"/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363" name="Google Shape;363;g39799a058bd_0_8:notes"/>
          <p:cNvSpPr>
            <a:spLocks noGrp="1" noRot="1" noChangeAspect="1"/>
          </p:cNvSpPr>
          <p:nvPr>
            <p:ph type="sldImg" idx="3"/>
          </p:nvPr>
        </p:nvSpPr>
        <p:spPr>
          <a:xfrm>
            <a:off x="2290763" y="512763"/>
            <a:ext cx="4562475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64" name="Google Shape;364;g39799a058bd_0_8:notes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Compensation is one of the most powerful — and most misunderstood — levers in any organization.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Every business pays people. Very few businesses truly understand how or why they pay people the way they do.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This is where compensation analysis comes in.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Are we paying our people in a way that is fair, competitive, and sustainable for the business?</a:t>
            </a:r>
            <a:endParaRPr/>
          </a:p>
        </p:txBody>
      </p:sp>
      <p:sp>
        <p:nvSpPr>
          <p:cNvPr id="365" name="Google Shape;365;g39799a058bd_0_8:notes"/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/>
          </a:p>
        </p:txBody>
      </p:sp>
      <p:sp>
        <p:nvSpPr>
          <p:cNvPr id="366" name="Google Shape;366;g39799a058bd_0_8:notes"/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g3dae939ee2c_0_62:notes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/>
          </a:p>
        </p:txBody>
      </p:sp>
      <p:sp>
        <p:nvSpPr>
          <p:cNvPr id="383" name="Google Shape;383;g3dae939ee2c_0_62:notes"/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384" name="Google Shape;384;g3dae939ee2c_0_62:notes"/>
          <p:cNvSpPr>
            <a:spLocks noGrp="1" noRot="1" noChangeAspect="1"/>
          </p:cNvSpPr>
          <p:nvPr>
            <p:ph type="sldImg" idx="3"/>
          </p:nvPr>
        </p:nvSpPr>
        <p:spPr>
          <a:xfrm>
            <a:off x="2290763" y="512763"/>
            <a:ext cx="4562475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85" name="Google Shape;385;g3dae939ee2c_0_62:notes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Compensation is one of the most powerful — and most misunderstood — levers in any organization.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Every business pays people. Very few businesses truly understand how or why they pay people the way they do.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This is where compensation analysis comes in.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Are we paying our people in a way that is fair, competitive, and sustainable for the business?</a:t>
            </a:r>
            <a:endParaRPr/>
          </a:p>
        </p:txBody>
      </p:sp>
      <p:sp>
        <p:nvSpPr>
          <p:cNvPr id="386" name="Google Shape;386;g3dae939ee2c_0_62:notes"/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/>
          </a:p>
        </p:txBody>
      </p:sp>
      <p:sp>
        <p:nvSpPr>
          <p:cNvPr id="387" name="Google Shape;387;g3dae939ee2c_0_62:notes"/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1">
          <a:extLst>
            <a:ext uri="{FF2B5EF4-FFF2-40B4-BE49-F238E27FC236}">
              <a16:creationId xmlns:a16="http://schemas.microsoft.com/office/drawing/2014/main" id="{02AFBDD2-9370-D968-0841-00DDA0FE79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g3dae939ee2c_0_62:notes">
            <a:extLst>
              <a:ext uri="{FF2B5EF4-FFF2-40B4-BE49-F238E27FC236}">
                <a16:creationId xmlns:a16="http://schemas.microsoft.com/office/drawing/2014/main" id="{FD06ABE2-2274-8DC0-861E-6E12F66C292A}"/>
              </a:ext>
            </a:extLst>
          </p:cNvPr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/>
          </a:p>
        </p:txBody>
      </p:sp>
      <p:sp>
        <p:nvSpPr>
          <p:cNvPr id="383" name="Google Shape;383;g3dae939ee2c_0_62:notes">
            <a:extLst>
              <a:ext uri="{FF2B5EF4-FFF2-40B4-BE49-F238E27FC236}">
                <a16:creationId xmlns:a16="http://schemas.microsoft.com/office/drawing/2014/main" id="{E4A9624D-4C21-2B3E-69AC-F893B00266E0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384" name="Google Shape;384;g3dae939ee2c_0_62:notes">
            <a:extLst>
              <a:ext uri="{FF2B5EF4-FFF2-40B4-BE49-F238E27FC236}">
                <a16:creationId xmlns:a16="http://schemas.microsoft.com/office/drawing/2014/main" id="{7B32300C-7F0B-B560-A1DE-96422A73F3EC}"/>
              </a:ext>
            </a:extLst>
          </p:cNvPr>
          <p:cNvSpPr>
            <a:spLocks noGrp="1" noRot="1" noChangeAspect="1"/>
          </p:cNvSpPr>
          <p:nvPr>
            <p:ph type="sldImg" idx="3"/>
          </p:nvPr>
        </p:nvSpPr>
        <p:spPr>
          <a:xfrm>
            <a:off x="2290763" y="512763"/>
            <a:ext cx="4562475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85" name="Google Shape;385;g3dae939ee2c_0_62:notes">
            <a:extLst>
              <a:ext uri="{FF2B5EF4-FFF2-40B4-BE49-F238E27FC236}">
                <a16:creationId xmlns:a16="http://schemas.microsoft.com/office/drawing/2014/main" id="{6BA70D39-15EA-D27D-3F99-85E38E6626E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Compensation is one of the most powerful — and most misunderstood — levers in any organization.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Every business pays people. Very few businesses truly understand how or why they pay people the way they do.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This is where compensation analysis comes in.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Are we paying our people in a way that is fair, competitive, and sustainable for the business?</a:t>
            </a:r>
            <a:endParaRPr/>
          </a:p>
        </p:txBody>
      </p:sp>
      <p:sp>
        <p:nvSpPr>
          <p:cNvPr id="386" name="Google Shape;386;g3dae939ee2c_0_62:notes">
            <a:extLst>
              <a:ext uri="{FF2B5EF4-FFF2-40B4-BE49-F238E27FC236}">
                <a16:creationId xmlns:a16="http://schemas.microsoft.com/office/drawing/2014/main" id="{27DCFB1D-8C0C-DC87-CA27-A3D5592EE293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/>
          </a:p>
        </p:txBody>
      </p:sp>
      <p:sp>
        <p:nvSpPr>
          <p:cNvPr id="387" name="Google Shape;387;g3dae939ee2c_0_62:notes">
            <a:extLst>
              <a:ext uri="{FF2B5EF4-FFF2-40B4-BE49-F238E27FC236}">
                <a16:creationId xmlns:a16="http://schemas.microsoft.com/office/drawing/2014/main" id="{F7ABBD78-6552-6E39-D541-62A13DA8C6E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71288847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g3dae939ee2c_0_83:notes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/>
          </a:p>
        </p:txBody>
      </p:sp>
      <p:sp>
        <p:nvSpPr>
          <p:cNvPr id="404" name="Google Shape;404;g3dae939ee2c_0_83:notes"/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405" name="Google Shape;405;g3dae939ee2c_0_83:notes"/>
          <p:cNvSpPr>
            <a:spLocks noGrp="1" noRot="1" noChangeAspect="1"/>
          </p:cNvSpPr>
          <p:nvPr>
            <p:ph type="sldImg" idx="3"/>
          </p:nvPr>
        </p:nvSpPr>
        <p:spPr>
          <a:xfrm>
            <a:off x="2290763" y="512763"/>
            <a:ext cx="4562475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06" name="Google Shape;406;g3dae939ee2c_0_83:notes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Compensation is one of the most powerful — and most misunderstood — levers in any organization.</a:t>
            </a: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Every business pays people. Very few businesses truly understand how or why they pay people the way they do.</a:t>
            </a: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This is where compensation analysis comes in.</a:t>
            </a: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Are we paying our people in a way that is fair, competitive, and sustainable for the business?</a:t>
            </a:r>
            <a:endParaRPr dirty="0"/>
          </a:p>
        </p:txBody>
      </p:sp>
      <p:sp>
        <p:nvSpPr>
          <p:cNvPr id="407" name="Google Shape;407;g3dae939ee2c_0_83:notes"/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/>
          </a:p>
        </p:txBody>
      </p:sp>
      <p:sp>
        <p:nvSpPr>
          <p:cNvPr id="408" name="Google Shape;408;g3dae939ee2c_0_83:notes"/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g3dae939ee2c_0_108:notes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/>
          </a:p>
        </p:txBody>
      </p:sp>
      <p:sp>
        <p:nvSpPr>
          <p:cNvPr id="427" name="Google Shape;427;g3dae939ee2c_0_108:notes"/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428" name="Google Shape;428;g3dae939ee2c_0_108:notes"/>
          <p:cNvSpPr>
            <a:spLocks noGrp="1" noRot="1" noChangeAspect="1"/>
          </p:cNvSpPr>
          <p:nvPr>
            <p:ph type="sldImg" idx="3"/>
          </p:nvPr>
        </p:nvSpPr>
        <p:spPr>
          <a:xfrm>
            <a:off x="2290763" y="512763"/>
            <a:ext cx="4562475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29" name="Google Shape;429;g3dae939ee2c_0_108:notes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Compensation is one of the most powerful — and most misunderstood — levers in any organization.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Every business pays people. Very few businesses truly understand how or why they pay people the way they do.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This is where compensation analysis comes in.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Are we paying our people in a way that is fair, competitive, and sustainable for the business?</a:t>
            </a:r>
            <a:endParaRPr/>
          </a:p>
        </p:txBody>
      </p:sp>
      <p:sp>
        <p:nvSpPr>
          <p:cNvPr id="430" name="Google Shape;430;g3dae939ee2c_0_108:notes"/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/>
          </a:p>
        </p:txBody>
      </p:sp>
      <p:sp>
        <p:nvSpPr>
          <p:cNvPr id="431" name="Google Shape;431;g3dae939ee2c_0_108:notes"/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g3dae939ee2c_0_131:notes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/>
          </a:p>
        </p:txBody>
      </p:sp>
      <p:sp>
        <p:nvSpPr>
          <p:cNvPr id="451" name="Google Shape;451;g3dae939ee2c_0_131:notes"/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452" name="Google Shape;452;g3dae939ee2c_0_131:notes"/>
          <p:cNvSpPr>
            <a:spLocks noGrp="1" noRot="1" noChangeAspect="1"/>
          </p:cNvSpPr>
          <p:nvPr>
            <p:ph type="sldImg" idx="3"/>
          </p:nvPr>
        </p:nvSpPr>
        <p:spPr>
          <a:xfrm>
            <a:off x="2290763" y="512763"/>
            <a:ext cx="4562475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53" name="Google Shape;453;g3dae939ee2c_0_131:notes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Compensation is one of the most powerful — and most misunderstood — levers in any organization.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Every business pays people. Very few businesses truly understand how or why they pay people the way they do.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This is where compensation analysis comes in.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Are we paying our people in a way that is fair, competitive, and sustainable for the business?</a:t>
            </a:r>
            <a:endParaRPr/>
          </a:p>
        </p:txBody>
      </p:sp>
      <p:sp>
        <p:nvSpPr>
          <p:cNvPr id="454" name="Google Shape;454;g3dae939ee2c_0_131:notes"/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/>
          </a:p>
        </p:txBody>
      </p:sp>
      <p:sp>
        <p:nvSpPr>
          <p:cNvPr id="455" name="Google Shape;455;g3dae939ee2c_0_131:notes"/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g3dae939ee2c_0_154:notes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/>
          </a:p>
        </p:txBody>
      </p:sp>
      <p:sp>
        <p:nvSpPr>
          <p:cNvPr id="474" name="Google Shape;474;g3dae939ee2c_0_154:notes"/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475" name="Google Shape;475;g3dae939ee2c_0_154:notes"/>
          <p:cNvSpPr>
            <a:spLocks noGrp="1" noRot="1" noChangeAspect="1"/>
          </p:cNvSpPr>
          <p:nvPr>
            <p:ph type="sldImg" idx="3"/>
          </p:nvPr>
        </p:nvSpPr>
        <p:spPr>
          <a:xfrm>
            <a:off x="2290763" y="512763"/>
            <a:ext cx="4562475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76" name="Google Shape;476;g3dae939ee2c_0_154:notes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Compensation is one of the most powerful — and most misunderstood — levers in any organization.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Every business pays people. Very few businesses truly understand how or why they pay people the way they do.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This is where compensation analysis comes in.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Are we paying our people in a way that is fair, competitive, and sustainable for the business?</a:t>
            </a:r>
            <a:endParaRPr/>
          </a:p>
        </p:txBody>
      </p:sp>
      <p:sp>
        <p:nvSpPr>
          <p:cNvPr id="477" name="Google Shape;477;g3dae939ee2c_0_154:notes"/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/>
          </a:p>
        </p:txBody>
      </p:sp>
      <p:sp>
        <p:nvSpPr>
          <p:cNvPr id="478" name="Google Shape;478;g3dae939ee2c_0_154:notes"/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g39783d9389a_0_103:notes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/>
          </a:p>
        </p:txBody>
      </p:sp>
      <p:sp>
        <p:nvSpPr>
          <p:cNvPr id="497" name="Google Shape;497;g39783d9389a_0_103:notes"/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498" name="Google Shape;498;g39783d9389a_0_103:notes"/>
          <p:cNvSpPr>
            <a:spLocks noGrp="1" noRot="1" noChangeAspect="1"/>
          </p:cNvSpPr>
          <p:nvPr>
            <p:ph type="sldImg" idx="3"/>
          </p:nvPr>
        </p:nvSpPr>
        <p:spPr>
          <a:xfrm>
            <a:off x="2290763" y="512763"/>
            <a:ext cx="4562475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99" name="Google Shape;499;g39783d9389a_0_103:notes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Compensation is one of the most powerful — and most misunderstood — levers in any organization.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Every business pays people. Very few businesses truly understand how or why they pay people the way they do.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This is where compensation analysis comes in.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Are we paying our people in a way that is fair, competitive, and sustainable for the business?</a:t>
            </a:r>
            <a:endParaRPr/>
          </a:p>
        </p:txBody>
      </p:sp>
      <p:sp>
        <p:nvSpPr>
          <p:cNvPr id="500" name="Google Shape;500;g39783d9389a_0_103:notes"/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/>
          </a:p>
        </p:txBody>
      </p:sp>
      <p:sp>
        <p:nvSpPr>
          <p:cNvPr id="501" name="Google Shape;501;g39783d9389a_0_103:notes"/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5">
          <a:extLst>
            <a:ext uri="{FF2B5EF4-FFF2-40B4-BE49-F238E27FC236}">
              <a16:creationId xmlns:a16="http://schemas.microsoft.com/office/drawing/2014/main" id="{2513A822-C5BA-D6DD-701F-EFD025C6F7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g39783d9389a_0_103:notes">
            <a:extLst>
              <a:ext uri="{FF2B5EF4-FFF2-40B4-BE49-F238E27FC236}">
                <a16:creationId xmlns:a16="http://schemas.microsoft.com/office/drawing/2014/main" id="{24965CFF-B0E6-9D82-6C4F-60539BE0D57E}"/>
              </a:ext>
            </a:extLst>
          </p:cNvPr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/>
          </a:p>
        </p:txBody>
      </p:sp>
      <p:sp>
        <p:nvSpPr>
          <p:cNvPr id="497" name="Google Shape;497;g39783d9389a_0_103:notes">
            <a:extLst>
              <a:ext uri="{FF2B5EF4-FFF2-40B4-BE49-F238E27FC236}">
                <a16:creationId xmlns:a16="http://schemas.microsoft.com/office/drawing/2014/main" id="{9B0C2510-EC37-02A3-36C0-F79FDE8D7341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498" name="Google Shape;498;g39783d9389a_0_103:notes">
            <a:extLst>
              <a:ext uri="{FF2B5EF4-FFF2-40B4-BE49-F238E27FC236}">
                <a16:creationId xmlns:a16="http://schemas.microsoft.com/office/drawing/2014/main" id="{E15B47E6-759A-3D06-2D88-DC664DF87F6C}"/>
              </a:ext>
            </a:extLst>
          </p:cNvPr>
          <p:cNvSpPr>
            <a:spLocks noGrp="1" noRot="1" noChangeAspect="1"/>
          </p:cNvSpPr>
          <p:nvPr>
            <p:ph type="sldImg" idx="3"/>
          </p:nvPr>
        </p:nvSpPr>
        <p:spPr>
          <a:xfrm>
            <a:off x="2290763" y="512763"/>
            <a:ext cx="4562475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99" name="Google Shape;499;g39783d9389a_0_103:notes">
            <a:extLst>
              <a:ext uri="{FF2B5EF4-FFF2-40B4-BE49-F238E27FC236}">
                <a16:creationId xmlns:a16="http://schemas.microsoft.com/office/drawing/2014/main" id="{AB945CC2-5D3F-7B38-83CD-E1AE93E24FC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Compensation is one of the most powerful — and most misunderstood — levers in any organization.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Every business pays people. Very few businesses truly understand how or why they pay people the way they do.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This is where compensation analysis comes in.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Are we paying our people in a way that is fair, competitive, and sustainable for the business?</a:t>
            </a:r>
            <a:endParaRPr/>
          </a:p>
        </p:txBody>
      </p:sp>
      <p:sp>
        <p:nvSpPr>
          <p:cNvPr id="500" name="Google Shape;500;g39783d9389a_0_103:notes">
            <a:extLst>
              <a:ext uri="{FF2B5EF4-FFF2-40B4-BE49-F238E27FC236}">
                <a16:creationId xmlns:a16="http://schemas.microsoft.com/office/drawing/2014/main" id="{D30DD573-F299-D96E-F142-1E427CC794B1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/>
          </a:p>
        </p:txBody>
      </p:sp>
      <p:sp>
        <p:nvSpPr>
          <p:cNvPr id="501" name="Google Shape;501;g39783d9389a_0_103:notes">
            <a:extLst>
              <a:ext uri="{FF2B5EF4-FFF2-40B4-BE49-F238E27FC236}">
                <a16:creationId xmlns:a16="http://schemas.microsoft.com/office/drawing/2014/main" id="{0A3B4963-81F7-408C-4D42-20DB98B9CF5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09738167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3">
          <a:extLst>
            <a:ext uri="{FF2B5EF4-FFF2-40B4-BE49-F238E27FC236}">
              <a16:creationId xmlns:a16="http://schemas.microsoft.com/office/drawing/2014/main" id="{D85279FB-5924-A262-2AEE-3EC7356277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Google Shape;634;g3d50459c92a_0_1070:notes">
            <a:extLst>
              <a:ext uri="{FF2B5EF4-FFF2-40B4-BE49-F238E27FC236}">
                <a16:creationId xmlns:a16="http://schemas.microsoft.com/office/drawing/2014/main" id="{5D885996-86ED-8C98-E002-CC674D535612}"/>
              </a:ext>
            </a:extLst>
          </p:cNvPr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/>
          </a:p>
        </p:txBody>
      </p:sp>
      <p:sp>
        <p:nvSpPr>
          <p:cNvPr id="635" name="Google Shape;635;g3d50459c92a_0_1070:notes">
            <a:extLst>
              <a:ext uri="{FF2B5EF4-FFF2-40B4-BE49-F238E27FC236}">
                <a16:creationId xmlns:a16="http://schemas.microsoft.com/office/drawing/2014/main" id="{99C2110E-75E5-2FB6-178E-F2ACF3AAA6FF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636" name="Google Shape;636;g3d50459c92a_0_1070:notes">
            <a:extLst>
              <a:ext uri="{FF2B5EF4-FFF2-40B4-BE49-F238E27FC236}">
                <a16:creationId xmlns:a16="http://schemas.microsoft.com/office/drawing/2014/main" id="{86360ED8-F7AF-CB15-F6F2-F0A2A7B44446}"/>
              </a:ext>
            </a:extLst>
          </p:cNvPr>
          <p:cNvSpPr>
            <a:spLocks noGrp="1" noRot="1" noChangeAspect="1"/>
          </p:cNvSpPr>
          <p:nvPr>
            <p:ph type="sldImg" idx="3"/>
          </p:nvPr>
        </p:nvSpPr>
        <p:spPr>
          <a:xfrm>
            <a:off x="2290763" y="512763"/>
            <a:ext cx="4562475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37" name="Google Shape;637;g3d50459c92a_0_1070:notes">
            <a:extLst>
              <a:ext uri="{FF2B5EF4-FFF2-40B4-BE49-F238E27FC236}">
                <a16:creationId xmlns:a16="http://schemas.microsoft.com/office/drawing/2014/main" id="{A2817E1B-E8C0-C95A-B44B-D210F404DE3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Compensation is one of the most powerful — and most misunderstood — levers in any organization.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Every business pays people. Very few businesses truly understand how or why they pay people the way they do.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This is where compensation analysis comes in.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Are we paying our people in a way that is fair, competitive, and sustainable for the business?</a:t>
            </a:r>
            <a:endParaRPr/>
          </a:p>
        </p:txBody>
      </p:sp>
      <p:sp>
        <p:nvSpPr>
          <p:cNvPr id="638" name="Google Shape;638;g3d50459c92a_0_1070:notes">
            <a:extLst>
              <a:ext uri="{FF2B5EF4-FFF2-40B4-BE49-F238E27FC236}">
                <a16:creationId xmlns:a16="http://schemas.microsoft.com/office/drawing/2014/main" id="{5251386A-26E4-C86D-0E81-EBF4611B35A2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/>
          </a:p>
        </p:txBody>
      </p:sp>
      <p:sp>
        <p:nvSpPr>
          <p:cNvPr id="639" name="Google Shape;639;g3d50459c92a_0_1070:notes">
            <a:extLst>
              <a:ext uri="{FF2B5EF4-FFF2-40B4-BE49-F238E27FC236}">
                <a16:creationId xmlns:a16="http://schemas.microsoft.com/office/drawing/2014/main" id="{3DA87CDE-7A64-3952-D760-38B7194A66D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69775055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g3dae939ee2c_0_196:notes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/>
          </a:p>
        </p:txBody>
      </p:sp>
      <p:sp>
        <p:nvSpPr>
          <p:cNvPr id="518" name="Google Shape;518;g3dae939ee2c_0_196:notes"/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519" name="Google Shape;519;g3dae939ee2c_0_196:notes"/>
          <p:cNvSpPr>
            <a:spLocks noGrp="1" noRot="1" noChangeAspect="1"/>
          </p:cNvSpPr>
          <p:nvPr>
            <p:ph type="sldImg" idx="3"/>
          </p:nvPr>
        </p:nvSpPr>
        <p:spPr>
          <a:xfrm>
            <a:off x="2290763" y="512763"/>
            <a:ext cx="4562475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0" name="Google Shape;520;g3dae939ee2c_0_196:notes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Compensation is one of the most powerful — and most misunderstood — levers in any organization.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Every business pays people. Very few businesses truly understand how or why they pay people the way they do.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This is where compensation analysis comes in.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Are we paying our people in a way that is fair, competitive, and sustainable for the business?</a:t>
            </a:r>
            <a:endParaRPr/>
          </a:p>
        </p:txBody>
      </p:sp>
      <p:sp>
        <p:nvSpPr>
          <p:cNvPr id="521" name="Google Shape;521;g3dae939ee2c_0_196:notes"/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/>
          </a:p>
        </p:txBody>
      </p:sp>
      <p:sp>
        <p:nvSpPr>
          <p:cNvPr id="522" name="Google Shape;522;g3dae939ee2c_0_196:notes"/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6">
          <a:extLst>
            <a:ext uri="{FF2B5EF4-FFF2-40B4-BE49-F238E27FC236}">
              <a16:creationId xmlns:a16="http://schemas.microsoft.com/office/drawing/2014/main" id="{C78C4556-9A98-7353-1244-714FB7F615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g3dae939ee2c_0_196:notes">
            <a:extLst>
              <a:ext uri="{FF2B5EF4-FFF2-40B4-BE49-F238E27FC236}">
                <a16:creationId xmlns:a16="http://schemas.microsoft.com/office/drawing/2014/main" id="{22D37DCB-97E0-DA6E-4219-8D0FA301D89A}"/>
              </a:ext>
            </a:extLst>
          </p:cNvPr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/>
          </a:p>
        </p:txBody>
      </p:sp>
      <p:sp>
        <p:nvSpPr>
          <p:cNvPr id="518" name="Google Shape;518;g3dae939ee2c_0_196:notes">
            <a:extLst>
              <a:ext uri="{FF2B5EF4-FFF2-40B4-BE49-F238E27FC236}">
                <a16:creationId xmlns:a16="http://schemas.microsoft.com/office/drawing/2014/main" id="{E586B5EE-6D34-4759-F19F-18F40396D794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519" name="Google Shape;519;g3dae939ee2c_0_196:notes">
            <a:extLst>
              <a:ext uri="{FF2B5EF4-FFF2-40B4-BE49-F238E27FC236}">
                <a16:creationId xmlns:a16="http://schemas.microsoft.com/office/drawing/2014/main" id="{F780CD09-FE04-D5C5-3A0B-A6D9219BB648}"/>
              </a:ext>
            </a:extLst>
          </p:cNvPr>
          <p:cNvSpPr>
            <a:spLocks noGrp="1" noRot="1" noChangeAspect="1"/>
          </p:cNvSpPr>
          <p:nvPr>
            <p:ph type="sldImg" idx="3"/>
          </p:nvPr>
        </p:nvSpPr>
        <p:spPr>
          <a:xfrm>
            <a:off x="2290763" y="512763"/>
            <a:ext cx="4562475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0" name="Google Shape;520;g3dae939ee2c_0_196:notes">
            <a:extLst>
              <a:ext uri="{FF2B5EF4-FFF2-40B4-BE49-F238E27FC236}">
                <a16:creationId xmlns:a16="http://schemas.microsoft.com/office/drawing/2014/main" id="{DD99C5B0-127D-587F-FB0B-822B0E37B37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Compensation is one of the most powerful — and most misunderstood — levers in any organization.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Every business pays people. Very few businesses truly understand how or why they pay people the way they do.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This is where compensation analysis comes in.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Are we paying our people in a way that is fair, competitive, and sustainable for the business?</a:t>
            </a:r>
            <a:endParaRPr/>
          </a:p>
        </p:txBody>
      </p:sp>
      <p:sp>
        <p:nvSpPr>
          <p:cNvPr id="521" name="Google Shape;521;g3dae939ee2c_0_196:notes">
            <a:extLst>
              <a:ext uri="{FF2B5EF4-FFF2-40B4-BE49-F238E27FC236}">
                <a16:creationId xmlns:a16="http://schemas.microsoft.com/office/drawing/2014/main" id="{AA36F340-273B-09FB-213A-DF7470780D00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/>
          </a:p>
        </p:txBody>
      </p:sp>
      <p:sp>
        <p:nvSpPr>
          <p:cNvPr id="522" name="Google Shape;522;g3dae939ee2c_0_196:notes">
            <a:extLst>
              <a:ext uri="{FF2B5EF4-FFF2-40B4-BE49-F238E27FC236}">
                <a16:creationId xmlns:a16="http://schemas.microsoft.com/office/drawing/2014/main" id="{052487CA-A11A-6896-F80F-CB3F9EDEFA1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55303729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g3dae939ee2c_0_471:notes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/>
          </a:p>
        </p:txBody>
      </p:sp>
      <p:sp>
        <p:nvSpPr>
          <p:cNvPr id="541" name="Google Shape;541;g3dae939ee2c_0_471:notes"/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542" name="Google Shape;542;g3dae939ee2c_0_471:notes"/>
          <p:cNvSpPr>
            <a:spLocks noGrp="1" noRot="1" noChangeAspect="1"/>
          </p:cNvSpPr>
          <p:nvPr>
            <p:ph type="sldImg" idx="3"/>
          </p:nvPr>
        </p:nvSpPr>
        <p:spPr>
          <a:xfrm>
            <a:off x="2290763" y="512763"/>
            <a:ext cx="4562475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43" name="Google Shape;543;g3dae939ee2c_0_471:notes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Compensation is one of the most powerful — and most misunderstood — levers in any organization.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Every business pays people. Very few businesses truly understand how or why they pay people the way they do.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This is where compensation analysis comes in.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Are we paying our people in a way that is fair, competitive, and sustainable for the business?</a:t>
            </a:r>
            <a:endParaRPr/>
          </a:p>
        </p:txBody>
      </p:sp>
      <p:sp>
        <p:nvSpPr>
          <p:cNvPr id="544" name="Google Shape;544;g3dae939ee2c_0_471:notes"/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/>
          </a:p>
        </p:txBody>
      </p:sp>
      <p:sp>
        <p:nvSpPr>
          <p:cNvPr id="545" name="Google Shape;545;g3dae939ee2c_0_471:notes"/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9">
          <a:extLst>
            <a:ext uri="{FF2B5EF4-FFF2-40B4-BE49-F238E27FC236}">
              <a16:creationId xmlns:a16="http://schemas.microsoft.com/office/drawing/2014/main" id="{19A5C7BD-9DF8-6F4D-7A20-20057C055A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g3dae939ee2c_0_471:notes">
            <a:extLst>
              <a:ext uri="{FF2B5EF4-FFF2-40B4-BE49-F238E27FC236}">
                <a16:creationId xmlns:a16="http://schemas.microsoft.com/office/drawing/2014/main" id="{8A540CAA-6651-E97F-165E-7C123D7B765B}"/>
              </a:ext>
            </a:extLst>
          </p:cNvPr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/>
          </a:p>
        </p:txBody>
      </p:sp>
      <p:sp>
        <p:nvSpPr>
          <p:cNvPr id="541" name="Google Shape;541;g3dae939ee2c_0_471:notes">
            <a:extLst>
              <a:ext uri="{FF2B5EF4-FFF2-40B4-BE49-F238E27FC236}">
                <a16:creationId xmlns:a16="http://schemas.microsoft.com/office/drawing/2014/main" id="{C8CD9F19-D4B3-1737-C47C-807FB24DBD39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542" name="Google Shape;542;g3dae939ee2c_0_471:notes">
            <a:extLst>
              <a:ext uri="{FF2B5EF4-FFF2-40B4-BE49-F238E27FC236}">
                <a16:creationId xmlns:a16="http://schemas.microsoft.com/office/drawing/2014/main" id="{8CAC991B-43A2-C18F-70E0-F335F85BAE2A}"/>
              </a:ext>
            </a:extLst>
          </p:cNvPr>
          <p:cNvSpPr>
            <a:spLocks noGrp="1" noRot="1" noChangeAspect="1"/>
          </p:cNvSpPr>
          <p:nvPr>
            <p:ph type="sldImg" idx="3"/>
          </p:nvPr>
        </p:nvSpPr>
        <p:spPr>
          <a:xfrm>
            <a:off x="2290763" y="512763"/>
            <a:ext cx="4562475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43" name="Google Shape;543;g3dae939ee2c_0_471:notes">
            <a:extLst>
              <a:ext uri="{FF2B5EF4-FFF2-40B4-BE49-F238E27FC236}">
                <a16:creationId xmlns:a16="http://schemas.microsoft.com/office/drawing/2014/main" id="{DFAB9C0D-7317-7001-EC0E-3D55EB2DCB1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Compensation is one of the most powerful — and most misunderstood — levers in any organization.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Every business pays people. Very few businesses truly understand how or why they pay people the way they do.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This is where compensation analysis comes in.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Are we paying our people in a way that is fair, competitive, and sustainable for the business?</a:t>
            </a:r>
            <a:endParaRPr/>
          </a:p>
        </p:txBody>
      </p:sp>
      <p:sp>
        <p:nvSpPr>
          <p:cNvPr id="544" name="Google Shape;544;g3dae939ee2c_0_471:notes">
            <a:extLst>
              <a:ext uri="{FF2B5EF4-FFF2-40B4-BE49-F238E27FC236}">
                <a16:creationId xmlns:a16="http://schemas.microsoft.com/office/drawing/2014/main" id="{7DBD21D4-3EBD-E904-77B4-AF8142BBE359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/>
          </a:p>
        </p:txBody>
      </p:sp>
      <p:sp>
        <p:nvSpPr>
          <p:cNvPr id="545" name="Google Shape;545;g3dae939ee2c_0_471:notes">
            <a:extLst>
              <a:ext uri="{FF2B5EF4-FFF2-40B4-BE49-F238E27FC236}">
                <a16:creationId xmlns:a16="http://schemas.microsoft.com/office/drawing/2014/main" id="{BAAEC38E-7B66-4090-011B-EF2CFD867F1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94609003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g3dae939ee2c_0_218:notes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/>
          </a:p>
        </p:txBody>
      </p:sp>
      <p:sp>
        <p:nvSpPr>
          <p:cNvPr id="564" name="Google Shape;564;g3dae939ee2c_0_218:notes"/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565" name="Google Shape;565;g3dae939ee2c_0_218:notes"/>
          <p:cNvSpPr>
            <a:spLocks noGrp="1" noRot="1" noChangeAspect="1"/>
          </p:cNvSpPr>
          <p:nvPr>
            <p:ph type="sldImg" idx="3"/>
          </p:nvPr>
        </p:nvSpPr>
        <p:spPr>
          <a:xfrm>
            <a:off x="2290763" y="512763"/>
            <a:ext cx="4562475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66" name="Google Shape;566;g3dae939ee2c_0_218:notes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Compensation is one of the most powerful — and most misunderstood — levers in any organization.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Every business pays people. Very few businesses truly understand how or why they pay people the way they do.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This is where compensation analysis comes in.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Are we paying our people in a way that is fair, competitive, and sustainable for the business?</a:t>
            </a:r>
            <a:endParaRPr/>
          </a:p>
        </p:txBody>
      </p:sp>
      <p:sp>
        <p:nvSpPr>
          <p:cNvPr id="567" name="Google Shape;567;g3dae939ee2c_0_218:notes"/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/>
          </a:p>
        </p:txBody>
      </p:sp>
      <p:sp>
        <p:nvSpPr>
          <p:cNvPr id="568" name="Google Shape;568;g3dae939ee2c_0_218:notes"/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2">
          <a:extLst>
            <a:ext uri="{FF2B5EF4-FFF2-40B4-BE49-F238E27FC236}">
              <a16:creationId xmlns:a16="http://schemas.microsoft.com/office/drawing/2014/main" id="{A36D0762-9524-8EBF-DA34-A24D07A77E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g3dae939ee2c_0_218:notes">
            <a:extLst>
              <a:ext uri="{FF2B5EF4-FFF2-40B4-BE49-F238E27FC236}">
                <a16:creationId xmlns:a16="http://schemas.microsoft.com/office/drawing/2014/main" id="{7C8B70FF-76BE-7FB6-97CC-2564EDB8000C}"/>
              </a:ext>
            </a:extLst>
          </p:cNvPr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/>
          </a:p>
        </p:txBody>
      </p:sp>
      <p:sp>
        <p:nvSpPr>
          <p:cNvPr id="564" name="Google Shape;564;g3dae939ee2c_0_218:notes">
            <a:extLst>
              <a:ext uri="{FF2B5EF4-FFF2-40B4-BE49-F238E27FC236}">
                <a16:creationId xmlns:a16="http://schemas.microsoft.com/office/drawing/2014/main" id="{FB6FD78F-6CD4-9F22-3E85-D02BF13E973F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565" name="Google Shape;565;g3dae939ee2c_0_218:notes">
            <a:extLst>
              <a:ext uri="{FF2B5EF4-FFF2-40B4-BE49-F238E27FC236}">
                <a16:creationId xmlns:a16="http://schemas.microsoft.com/office/drawing/2014/main" id="{B18ACD36-40DE-8A9C-4474-F1F3D5F99F1A}"/>
              </a:ext>
            </a:extLst>
          </p:cNvPr>
          <p:cNvSpPr>
            <a:spLocks noGrp="1" noRot="1" noChangeAspect="1"/>
          </p:cNvSpPr>
          <p:nvPr>
            <p:ph type="sldImg" idx="3"/>
          </p:nvPr>
        </p:nvSpPr>
        <p:spPr>
          <a:xfrm>
            <a:off x="2290763" y="512763"/>
            <a:ext cx="4562475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66" name="Google Shape;566;g3dae939ee2c_0_218:notes">
            <a:extLst>
              <a:ext uri="{FF2B5EF4-FFF2-40B4-BE49-F238E27FC236}">
                <a16:creationId xmlns:a16="http://schemas.microsoft.com/office/drawing/2014/main" id="{B271C927-9879-E79F-F31A-9A0240ACFD7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Compensation is one of the most powerful — and most misunderstood — levers in any organization.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Every business pays people. Very few businesses truly understand how or why they pay people the way they do.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This is where compensation analysis comes in.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Are we paying our people in a way that is fair, competitive, and sustainable for the business?</a:t>
            </a:r>
            <a:endParaRPr/>
          </a:p>
        </p:txBody>
      </p:sp>
      <p:sp>
        <p:nvSpPr>
          <p:cNvPr id="567" name="Google Shape;567;g3dae939ee2c_0_218:notes">
            <a:extLst>
              <a:ext uri="{FF2B5EF4-FFF2-40B4-BE49-F238E27FC236}">
                <a16:creationId xmlns:a16="http://schemas.microsoft.com/office/drawing/2014/main" id="{EC533024-64CD-6636-5EA9-83007D91C8F1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/>
          </a:p>
        </p:txBody>
      </p:sp>
      <p:sp>
        <p:nvSpPr>
          <p:cNvPr id="568" name="Google Shape;568;g3dae939ee2c_0_218:notes">
            <a:extLst>
              <a:ext uri="{FF2B5EF4-FFF2-40B4-BE49-F238E27FC236}">
                <a16:creationId xmlns:a16="http://schemas.microsoft.com/office/drawing/2014/main" id="{981A6606-A83C-7AB0-5D55-CA2468FEF35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92986675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g3dae939ee2c_0_240:notes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/>
          </a:p>
        </p:txBody>
      </p:sp>
      <p:sp>
        <p:nvSpPr>
          <p:cNvPr id="587" name="Google Shape;587;g3dae939ee2c_0_240:notes"/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588" name="Google Shape;588;g3dae939ee2c_0_240:notes"/>
          <p:cNvSpPr>
            <a:spLocks noGrp="1" noRot="1" noChangeAspect="1"/>
          </p:cNvSpPr>
          <p:nvPr>
            <p:ph type="sldImg" idx="3"/>
          </p:nvPr>
        </p:nvSpPr>
        <p:spPr>
          <a:xfrm>
            <a:off x="2290763" y="512763"/>
            <a:ext cx="4562475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89" name="Google Shape;589;g3dae939ee2c_0_240:notes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Compensation is one of the most powerful — and most misunderstood — levers in any organization.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Every business pays people. Very few businesses truly understand how or why they pay people the way they do.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This is where compensation analysis comes in.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Are we paying our people in a way that is fair, competitive, and sustainable for the business?</a:t>
            </a:r>
            <a:endParaRPr/>
          </a:p>
        </p:txBody>
      </p:sp>
      <p:sp>
        <p:nvSpPr>
          <p:cNvPr id="590" name="Google Shape;590;g3dae939ee2c_0_240:notes"/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/>
          </a:p>
        </p:txBody>
      </p:sp>
      <p:sp>
        <p:nvSpPr>
          <p:cNvPr id="591" name="Google Shape;591;g3dae939ee2c_0_240:notes"/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5">
          <a:extLst>
            <a:ext uri="{FF2B5EF4-FFF2-40B4-BE49-F238E27FC236}">
              <a16:creationId xmlns:a16="http://schemas.microsoft.com/office/drawing/2014/main" id="{558722BF-211C-EC2A-C390-F76F76CD23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g3dae939ee2c_0_240:notes">
            <a:extLst>
              <a:ext uri="{FF2B5EF4-FFF2-40B4-BE49-F238E27FC236}">
                <a16:creationId xmlns:a16="http://schemas.microsoft.com/office/drawing/2014/main" id="{DDA09263-AB99-25B0-57FA-157DAC0423B4}"/>
              </a:ext>
            </a:extLst>
          </p:cNvPr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/>
          </a:p>
        </p:txBody>
      </p:sp>
      <p:sp>
        <p:nvSpPr>
          <p:cNvPr id="587" name="Google Shape;587;g3dae939ee2c_0_240:notes">
            <a:extLst>
              <a:ext uri="{FF2B5EF4-FFF2-40B4-BE49-F238E27FC236}">
                <a16:creationId xmlns:a16="http://schemas.microsoft.com/office/drawing/2014/main" id="{DED14566-8E0F-ADCE-0323-F2B3489574F6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588" name="Google Shape;588;g3dae939ee2c_0_240:notes">
            <a:extLst>
              <a:ext uri="{FF2B5EF4-FFF2-40B4-BE49-F238E27FC236}">
                <a16:creationId xmlns:a16="http://schemas.microsoft.com/office/drawing/2014/main" id="{0D82A484-4B7E-D0D1-CC73-1D197FF6773A}"/>
              </a:ext>
            </a:extLst>
          </p:cNvPr>
          <p:cNvSpPr>
            <a:spLocks noGrp="1" noRot="1" noChangeAspect="1"/>
          </p:cNvSpPr>
          <p:nvPr>
            <p:ph type="sldImg" idx="3"/>
          </p:nvPr>
        </p:nvSpPr>
        <p:spPr>
          <a:xfrm>
            <a:off x="2290763" y="512763"/>
            <a:ext cx="4562475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89" name="Google Shape;589;g3dae939ee2c_0_240:notes">
            <a:extLst>
              <a:ext uri="{FF2B5EF4-FFF2-40B4-BE49-F238E27FC236}">
                <a16:creationId xmlns:a16="http://schemas.microsoft.com/office/drawing/2014/main" id="{D5BF40C5-5552-CCAA-A9E4-A204005592D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Compensation is one of the most powerful — and most misunderstood — levers in any organization.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Every business pays people. Very few businesses truly understand how or why they pay people the way they do.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This is where compensation analysis comes in.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Are we paying our people in a way that is fair, competitive, and sustainable for the business?</a:t>
            </a:r>
            <a:endParaRPr/>
          </a:p>
        </p:txBody>
      </p:sp>
      <p:sp>
        <p:nvSpPr>
          <p:cNvPr id="590" name="Google Shape;590;g3dae939ee2c_0_240:notes">
            <a:extLst>
              <a:ext uri="{FF2B5EF4-FFF2-40B4-BE49-F238E27FC236}">
                <a16:creationId xmlns:a16="http://schemas.microsoft.com/office/drawing/2014/main" id="{82F29C23-50FB-E36D-B22E-AAD7AA68EAA5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/>
          </a:p>
        </p:txBody>
      </p:sp>
      <p:sp>
        <p:nvSpPr>
          <p:cNvPr id="591" name="Google Shape;591;g3dae939ee2c_0_240:notes">
            <a:extLst>
              <a:ext uri="{FF2B5EF4-FFF2-40B4-BE49-F238E27FC236}">
                <a16:creationId xmlns:a16="http://schemas.microsoft.com/office/drawing/2014/main" id="{B95E5543-BECC-1751-B3F9-0E8E92004E0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58394761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Google Shape;634;g3d50459c92a_0_1070:notes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/>
          </a:p>
        </p:txBody>
      </p:sp>
      <p:sp>
        <p:nvSpPr>
          <p:cNvPr id="635" name="Google Shape;635;g3d50459c92a_0_1070:notes"/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636" name="Google Shape;636;g3d50459c92a_0_1070:notes"/>
          <p:cNvSpPr>
            <a:spLocks noGrp="1" noRot="1" noChangeAspect="1"/>
          </p:cNvSpPr>
          <p:nvPr>
            <p:ph type="sldImg" idx="3"/>
          </p:nvPr>
        </p:nvSpPr>
        <p:spPr>
          <a:xfrm>
            <a:off x="2290763" y="512763"/>
            <a:ext cx="4562475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37" name="Google Shape;637;g3d50459c92a_0_1070:notes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638" name="Google Shape;638;g3d50459c92a_0_1070:notes"/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/>
          </a:p>
        </p:txBody>
      </p:sp>
      <p:sp>
        <p:nvSpPr>
          <p:cNvPr id="639" name="Google Shape;639;g3d50459c92a_0_1070:notes"/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3">
          <a:extLst>
            <a:ext uri="{FF2B5EF4-FFF2-40B4-BE49-F238E27FC236}">
              <a16:creationId xmlns:a16="http://schemas.microsoft.com/office/drawing/2014/main" id="{3377F484-B065-B005-E087-81688462AC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Google Shape;634;g3d50459c92a_0_1070:notes">
            <a:extLst>
              <a:ext uri="{FF2B5EF4-FFF2-40B4-BE49-F238E27FC236}">
                <a16:creationId xmlns:a16="http://schemas.microsoft.com/office/drawing/2014/main" id="{50310351-1266-0D42-32D1-6EC130F0786B}"/>
              </a:ext>
            </a:extLst>
          </p:cNvPr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/>
          </a:p>
        </p:txBody>
      </p:sp>
      <p:sp>
        <p:nvSpPr>
          <p:cNvPr id="635" name="Google Shape;635;g3d50459c92a_0_1070:notes">
            <a:extLst>
              <a:ext uri="{FF2B5EF4-FFF2-40B4-BE49-F238E27FC236}">
                <a16:creationId xmlns:a16="http://schemas.microsoft.com/office/drawing/2014/main" id="{4129E4A9-BD7E-18DE-8C10-E297305A64BC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636" name="Google Shape;636;g3d50459c92a_0_1070:notes">
            <a:extLst>
              <a:ext uri="{FF2B5EF4-FFF2-40B4-BE49-F238E27FC236}">
                <a16:creationId xmlns:a16="http://schemas.microsoft.com/office/drawing/2014/main" id="{D32637B9-CA99-2FE4-4F74-FBE895060043}"/>
              </a:ext>
            </a:extLst>
          </p:cNvPr>
          <p:cNvSpPr>
            <a:spLocks noGrp="1" noRot="1" noChangeAspect="1"/>
          </p:cNvSpPr>
          <p:nvPr>
            <p:ph type="sldImg" idx="3"/>
          </p:nvPr>
        </p:nvSpPr>
        <p:spPr>
          <a:xfrm>
            <a:off x="2290763" y="512763"/>
            <a:ext cx="4562475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37" name="Google Shape;637;g3d50459c92a_0_1070:notes">
            <a:extLst>
              <a:ext uri="{FF2B5EF4-FFF2-40B4-BE49-F238E27FC236}">
                <a16:creationId xmlns:a16="http://schemas.microsoft.com/office/drawing/2014/main" id="{B654CFFE-2236-22F6-572C-96CFE3D4273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638" name="Google Shape;638;g3d50459c92a_0_1070:notes">
            <a:extLst>
              <a:ext uri="{FF2B5EF4-FFF2-40B4-BE49-F238E27FC236}">
                <a16:creationId xmlns:a16="http://schemas.microsoft.com/office/drawing/2014/main" id="{59F2A688-02E4-4926-37D2-A9FD91E23239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/>
          </a:p>
        </p:txBody>
      </p:sp>
      <p:sp>
        <p:nvSpPr>
          <p:cNvPr id="639" name="Google Shape;639;g3d50459c92a_0_1070:notes">
            <a:extLst>
              <a:ext uri="{FF2B5EF4-FFF2-40B4-BE49-F238E27FC236}">
                <a16:creationId xmlns:a16="http://schemas.microsoft.com/office/drawing/2014/main" id="{B9246C46-D75F-DDC0-C85C-5338275435D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1876495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3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2" name="Google Shape;22;p3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3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3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" name="Google Shape;28;p3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3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3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3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3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4" name="Google Shape;34;p3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3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3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3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40" name="Google Shape;40;p3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41" name="Google Shape;41;p3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3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3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3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3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7" name="Google Shape;47;p3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8" name="Google Shape;48;p3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9" name="Google Shape;49;p3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50" name="Google Shape;50;p3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3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3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3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3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3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3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3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3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2" name="Google Shape;62;p3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3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3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4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4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4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9" name="Google Shape;69;p4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4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4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4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4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4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4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4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4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4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4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4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4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dae939ee2c_0_40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g3dae939ee2c_0_40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g3dae939ee2c_0_40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dae939ee2c_0_405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g3dae939ee2c_0_405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97" name="Google Shape;97;g3dae939ee2c_0_40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g3dae939ee2c_0_40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g3dae939ee2c_0_40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dae939ee2c_0_4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g3dae939ee2c_0_41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3" name="Google Shape;103;g3dae939ee2c_0_4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g3dae939ee2c_0_4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g3dae939ee2c_0_4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dae939ee2c_0_417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g3dae939ee2c_0_417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09" name="Google Shape;109;g3dae939ee2c_0_41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g3dae939ee2c_0_41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g3dae939ee2c_0_41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dae939ee2c_0_42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g3dae939ee2c_0_42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115" name="Google Shape;115;g3dae939ee2c_0_423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116" name="Google Shape;116;g3dae939ee2c_0_42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g3dae939ee2c_0_42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8" name="Google Shape;118;g3dae939ee2c_0_42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dae939ee2c_0_43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1" name="Google Shape;121;g3dae939ee2c_0_430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22" name="Google Shape;122;g3dae939ee2c_0_430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123" name="Google Shape;123;g3dae939ee2c_0_430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9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24" name="Google Shape;124;g3dae939ee2c_0_430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9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125" name="Google Shape;125;g3dae939ee2c_0_43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6" name="Google Shape;126;g3dae939ee2c_0_43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7" name="Google Shape;127;g3dae939ee2c_0_43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dae939ee2c_0_43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0" name="Google Shape;130;g3dae939ee2c_0_43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1" name="Google Shape;131;g3dae939ee2c_0_43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2" name="Google Shape;132;g3dae939ee2c_0_43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dae939ee2c_0_444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400" cy="11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5" name="Google Shape;135;g3dae939ee2c_0_444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00" cy="58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136" name="Google Shape;136;g3dae939ee2c_0_444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400" cy="469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37" name="Google Shape;137;g3dae939ee2c_0_44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8" name="Google Shape;138;g3dae939ee2c_0_44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9" name="Google Shape;139;g3dae939ee2c_0_44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dae939ee2c_0_451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2" name="Google Shape;142;g3dae939ee2c_0_451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143" name="Google Shape;143;g3dae939ee2c_0_451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44" name="Google Shape;144;g3dae939ee2c_0_45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5" name="Google Shape;145;g3dae939ee2c_0_45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6" name="Google Shape;146;g3dae939ee2c_0_45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dae939ee2c_0_45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9" name="Google Shape;149;g3dae939ee2c_0_458"/>
          <p:cNvSpPr txBox="1">
            <a:spLocks noGrp="1"/>
          </p:cNvSpPr>
          <p:nvPr>
            <p:ph type="body" idx="1"/>
          </p:nvPr>
        </p:nvSpPr>
        <p:spPr>
          <a:xfrm rot="5400000">
            <a:off x="2308951" y="-251550"/>
            <a:ext cx="4526100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0" name="Google Shape;150;g3dae939ee2c_0_45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1" name="Google Shape;151;g3dae939ee2c_0_45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2" name="Google Shape;152;g3dae939ee2c_0_45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dae939ee2c_0_464"/>
          <p:cNvSpPr txBox="1">
            <a:spLocks noGrp="1"/>
          </p:cNvSpPr>
          <p:nvPr>
            <p:ph type="title"/>
          </p:nvPr>
        </p:nvSpPr>
        <p:spPr>
          <a:xfrm rot="5400000">
            <a:off x="4732351" y="2171689"/>
            <a:ext cx="5851500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5" name="Google Shape;155;g3dae939ee2c_0_464"/>
          <p:cNvSpPr txBox="1">
            <a:spLocks noGrp="1"/>
          </p:cNvSpPr>
          <p:nvPr>
            <p:ph type="body" idx="1"/>
          </p:nvPr>
        </p:nvSpPr>
        <p:spPr>
          <a:xfrm rot="5400000">
            <a:off x="541350" y="190487"/>
            <a:ext cx="5851500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6" name="Google Shape;156;g3dae939ee2c_0_46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7" name="Google Shape;157;g3dae939ee2c_0_46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8" name="Google Shape;158;g3dae939ee2c_0_46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3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3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3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3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dae939ee2c_0_39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6" name="Google Shape;86;g3dae939ee2c_0_395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7" name="Google Shape;87;g3dae939ee2c_0_39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8" name="Google Shape;88;g3dae939ee2c_0_39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9" name="Google Shape;89;g3dae939ee2c_0_39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9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EFD"/>
        </a:solidFill>
        <a:effectLst/>
      </p:bgPr>
    </p:bg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"/>
          <p:cNvSpPr/>
          <p:nvPr/>
        </p:nvSpPr>
        <p:spPr>
          <a:xfrm>
            <a:off x="252014" y="153766"/>
            <a:ext cx="17783973" cy="9979469"/>
          </a:xfrm>
          <a:custGeom>
            <a:avLst/>
            <a:gdLst/>
            <a:ahLst/>
            <a:cxnLst/>
            <a:rect l="l" t="t" r="r" b="b"/>
            <a:pathLst>
              <a:path w="17783973" h="9979469" extrusionOk="0">
                <a:moveTo>
                  <a:pt x="0" y="0"/>
                </a:moveTo>
                <a:lnTo>
                  <a:pt x="17783972" y="0"/>
                </a:lnTo>
                <a:lnTo>
                  <a:pt x="17783972" y="9979468"/>
                </a:lnTo>
                <a:lnTo>
                  <a:pt x="0" y="997946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4000"/>
            </a:blip>
            <a:stretch>
              <a:fillRect l="-2131" t="-126" b="-6515"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4" name="Google Shape;164;p1"/>
          <p:cNvSpPr/>
          <p:nvPr/>
        </p:nvSpPr>
        <p:spPr>
          <a:xfrm>
            <a:off x="7701653" y="5029171"/>
            <a:ext cx="8445916" cy="4447431"/>
          </a:xfrm>
          <a:custGeom>
            <a:avLst/>
            <a:gdLst/>
            <a:ahLst/>
            <a:cxnLst/>
            <a:rect l="l" t="t" r="r" b="b"/>
            <a:pathLst>
              <a:path w="8445916" h="4447431" extrusionOk="0">
                <a:moveTo>
                  <a:pt x="0" y="0"/>
                </a:moveTo>
                <a:lnTo>
                  <a:pt x="8445917" y="0"/>
                </a:lnTo>
                <a:lnTo>
                  <a:pt x="8445917" y="4447432"/>
                </a:lnTo>
                <a:lnTo>
                  <a:pt x="0" y="444743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l="-33425" t="-47001" r="-116988" b="-36082"/>
            </a:stretch>
          </a:blipFill>
          <a:ln w="38100" cap="rnd" cmpd="sng">
            <a:solidFill>
              <a:srgbClr val="E59568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65" name="Google Shape;165;p1"/>
          <p:cNvSpPr/>
          <p:nvPr/>
        </p:nvSpPr>
        <p:spPr>
          <a:xfrm>
            <a:off x="3049763" y="1594268"/>
            <a:ext cx="12188474" cy="7092831"/>
          </a:xfrm>
          <a:custGeom>
            <a:avLst/>
            <a:gdLst/>
            <a:ahLst/>
            <a:cxnLst/>
            <a:rect l="l" t="t" r="r" b="b"/>
            <a:pathLst>
              <a:path w="1754646" h="1021080" extrusionOk="0">
                <a:moveTo>
                  <a:pt x="965120" y="884770"/>
                </a:moveTo>
                <a:cubicBezTo>
                  <a:pt x="983327" y="864417"/>
                  <a:pt x="1009342" y="852784"/>
                  <a:pt x="1036650" y="852783"/>
                </a:cubicBezTo>
                <a:lnTo>
                  <a:pt x="1668381" y="853119"/>
                </a:lnTo>
                <a:cubicBezTo>
                  <a:pt x="1691256" y="853131"/>
                  <a:pt x="1713198" y="844053"/>
                  <a:pt x="1729377" y="827883"/>
                </a:cubicBezTo>
                <a:cubicBezTo>
                  <a:pt x="1745556" y="811712"/>
                  <a:pt x="1754646" y="789775"/>
                  <a:pt x="1754646" y="766901"/>
                </a:cubicBezTo>
                <a:lnTo>
                  <a:pt x="1754646" y="86219"/>
                </a:lnTo>
                <a:cubicBezTo>
                  <a:pt x="1754646" y="63352"/>
                  <a:pt x="1745562" y="41422"/>
                  <a:pt x="1729393" y="25253"/>
                </a:cubicBezTo>
                <a:cubicBezTo>
                  <a:pt x="1713224" y="9084"/>
                  <a:pt x="1691294" y="0"/>
                  <a:pt x="1668427" y="0"/>
                </a:cubicBezTo>
                <a:lnTo>
                  <a:pt x="303022" y="0"/>
                </a:lnTo>
                <a:cubicBezTo>
                  <a:pt x="278489" y="-1"/>
                  <a:pt x="255117" y="10450"/>
                  <a:pt x="238760" y="28735"/>
                </a:cubicBezTo>
                <a:lnTo>
                  <a:pt x="21960" y="271092"/>
                </a:lnTo>
                <a:cubicBezTo>
                  <a:pt x="7818" y="286900"/>
                  <a:pt x="0" y="307366"/>
                  <a:pt x="0" y="328576"/>
                </a:cubicBezTo>
                <a:lnTo>
                  <a:pt x="0" y="934867"/>
                </a:lnTo>
                <a:cubicBezTo>
                  <a:pt x="4" y="982482"/>
                  <a:pt x="38604" y="1021080"/>
                  <a:pt x="86219" y="1021080"/>
                </a:cubicBezTo>
                <a:lnTo>
                  <a:pt x="804624" y="1021080"/>
                </a:lnTo>
                <a:cubicBezTo>
                  <a:pt x="829157" y="1021081"/>
                  <a:pt x="852529" y="1010630"/>
                  <a:pt x="868886" y="992345"/>
                </a:cubicBezTo>
                <a:close/>
              </a:path>
            </a:pathLst>
          </a:custGeom>
          <a:solidFill>
            <a:srgbClr val="22222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1"/>
          <p:cNvSpPr/>
          <p:nvPr/>
        </p:nvSpPr>
        <p:spPr>
          <a:xfrm>
            <a:off x="3049763" y="2367106"/>
            <a:ext cx="7565098" cy="1087583"/>
          </a:xfrm>
          <a:custGeom>
            <a:avLst/>
            <a:gdLst/>
            <a:ahLst/>
            <a:cxnLst/>
            <a:rect l="l" t="t" r="r" b="b"/>
            <a:pathLst>
              <a:path w="7565098" h="1087583" extrusionOk="0">
                <a:moveTo>
                  <a:pt x="0" y="0"/>
                </a:moveTo>
                <a:lnTo>
                  <a:pt x="7565098" y="0"/>
                </a:lnTo>
                <a:lnTo>
                  <a:pt x="7565098" y="1087583"/>
                </a:lnTo>
                <a:lnTo>
                  <a:pt x="0" y="108758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l="-21827" t="-152286" r="-100712" b="-297225"/>
            </a:stretch>
          </a:blipFill>
          <a:ln w="47625" cap="rnd" cmpd="sng">
            <a:solidFill>
              <a:srgbClr val="FF7E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67" name="Google Shape;167;p1"/>
          <p:cNvSpPr/>
          <p:nvPr/>
        </p:nvSpPr>
        <p:spPr>
          <a:xfrm>
            <a:off x="-3614982" y="7423021"/>
            <a:ext cx="4643682" cy="1264113"/>
          </a:xfrm>
          <a:custGeom>
            <a:avLst/>
            <a:gdLst/>
            <a:ahLst/>
            <a:cxnLst/>
            <a:rect l="l" t="t" r="r" b="b"/>
            <a:pathLst>
              <a:path w="4643682" h="1264113" extrusionOk="0">
                <a:moveTo>
                  <a:pt x="0" y="0"/>
                </a:moveTo>
                <a:lnTo>
                  <a:pt x="4643682" y="0"/>
                </a:lnTo>
                <a:lnTo>
                  <a:pt x="4643682" y="1264113"/>
                </a:lnTo>
                <a:lnTo>
                  <a:pt x="0" y="126411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l="-41948" t="-160208" r="-35827" b="-233667"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8" name="Google Shape;168;p1"/>
          <p:cNvSpPr/>
          <p:nvPr/>
        </p:nvSpPr>
        <p:spPr>
          <a:xfrm>
            <a:off x="17259300" y="1594268"/>
            <a:ext cx="4010291" cy="1264113"/>
          </a:xfrm>
          <a:custGeom>
            <a:avLst/>
            <a:gdLst/>
            <a:ahLst/>
            <a:cxnLst/>
            <a:rect l="l" t="t" r="r" b="b"/>
            <a:pathLst>
              <a:path w="4010291" h="1264113" extrusionOk="0">
                <a:moveTo>
                  <a:pt x="0" y="0"/>
                </a:moveTo>
                <a:lnTo>
                  <a:pt x="4010291" y="0"/>
                </a:lnTo>
                <a:lnTo>
                  <a:pt x="4010291" y="1264113"/>
                </a:lnTo>
                <a:lnTo>
                  <a:pt x="0" y="126411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l="-40880" t="-201151" r="-22040" b="-195028"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9" name="Google Shape;169;p1"/>
          <p:cNvSpPr txBox="1"/>
          <p:nvPr/>
        </p:nvSpPr>
        <p:spPr>
          <a:xfrm>
            <a:off x="3331890" y="2828728"/>
            <a:ext cx="6723900" cy="25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900" b="0" i="1" u="none" strike="noStrike" cap="none">
                <a:solidFill>
                  <a:srgbClr val="343434"/>
                </a:solidFill>
                <a:latin typeface="Poppins"/>
                <a:ea typeface="Poppins"/>
                <a:cs typeface="Poppins"/>
                <a:sym typeface="Poppins"/>
              </a:rPr>
              <a:t>Automating the journey from code to production</a:t>
            </a:r>
            <a:endParaRPr sz="1700" b="0" i="1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70" name="Google Shape;170;p1"/>
          <p:cNvSpPr txBox="1"/>
          <p:nvPr/>
        </p:nvSpPr>
        <p:spPr>
          <a:xfrm>
            <a:off x="4036219" y="4175464"/>
            <a:ext cx="10706700" cy="1034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lang="en-US" sz="6000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Poppins"/>
                <a:sym typeface="Poppins"/>
              </a:rPr>
              <a:t>Kubernetes Basics</a:t>
            </a:r>
            <a:endParaRPr sz="1400" b="0" i="0" u="none" strike="noStrike" cap="none" dirty="0">
              <a:solidFill>
                <a:srgbClr val="000000"/>
              </a:solidFill>
              <a:latin typeface="Cambria" panose="02040503050406030204" pitchFamily="18" charset="0"/>
              <a:ea typeface="Cambria" panose="02040503050406030204" pitchFamily="18" charset="0"/>
              <a:sym typeface="Arial"/>
            </a:endParaRPr>
          </a:p>
        </p:txBody>
      </p:sp>
      <p:sp>
        <p:nvSpPr>
          <p:cNvPr id="171" name="Google Shape;171;p1"/>
          <p:cNvSpPr txBox="1"/>
          <p:nvPr/>
        </p:nvSpPr>
        <p:spPr>
          <a:xfrm>
            <a:off x="3712947" y="7816838"/>
            <a:ext cx="1796491" cy="423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859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98"/>
              <a:buFont typeface="Arial"/>
              <a:buNone/>
            </a:pPr>
            <a:r>
              <a:rPr lang="en-US" sz="3200" b="0" i="0" u="none" strike="noStrike" cap="none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Poppins"/>
                <a:sym typeface="Poppins"/>
              </a:rPr>
              <a:t>Facilitator</a:t>
            </a:r>
            <a:endParaRPr sz="3200" b="0" i="0" u="none" strike="noStrike" cap="none" dirty="0">
              <a:solidFill>
                <a:srgbClr val="000000"/>
              </a:solidFill>
              <a:latin typeface="Cambria" panose="02040503050406030204" pitchFamily="18" charset="0"/>
              <a:ea typeface="Cambria" panose="02040503050406030204" pitchFamily="18" charset="0"/>
              <a:sym typeface="Arial"/>
            </a:endParaRPr>
          </a:p>
        </p:txBody>
      </p:sp>
      <p:sp>
        <p:nvSpPr>
          <p:cNvPr id="172" name="Google Shape;172;p1"/>
          <p:cNvSpPr txBox="1"/>
          <p:nvPr/>
        </p:nvSpPr>
        <p:spPr>
          <a:xfrm>
            <a:off x="10614861" y="7785729"/>
            <a:ext cx="4495200" cy="311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505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60"/>
              <a:buFont typeface="Arial"/>
              <a:buNone/>
            </a:pPr>
            <a:r>
              <a:rPr lang="en-US" sz="1760" b="0" i="0" u="none" strike="noStrike" cap="none" dirty="0">
                <a:solidFill>
                  <a:srgbClr val="343434"/>
                </a:solidFill>
                <a:latin typeface="Poppins"/>
                <a:ea typeface="Poppins"/>
                <a:cs typeface="Poppins"/>
                <a:sym typeface="Poppins"/>
              </a:rPr>
              <a:t>DEVOPS ENGINEERING - </a:t>
            </a:r>
            <a:r>
              <a:rPr lang="en-US" sz="1760" b="0" i="1" u="none" strike="noStrike" cap="none" dirty="0">
                <a:solidFill>
                  <a:srgbClr val="343434"/>
                </a:solidFill>
                <a:latin typeface="Poppins"/>
                <a:ea typeface="Poppins"/>
                <a:cs typeface="Poppins"/>
                <a:sym typeface="Poppins"/>
              </a:rPr>
              <a:t>WEEK 1</a:t>
            </a:r>
            <a:r>
              <a:rPr lang="en-US" sz="1760" i="1" dirty="0">
                <a:solidFill>
                  <a:srgbClr val="343434"/>
                </a:solidFill>
                <a:latin typeface="Poppins"/>
                <a:ea typeface="Poppins"/>
                <a:cs typeface="Poppins"/>
                <a:sym typeface="Poppins"/>
              </a:rPr>
              <a:t>2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1"/>
          <p:cNvSpPr txBox="1"/>
          <p:nvPr/>
        </p:nvSpPr>
        <p:spPr>
          <a:xfrm>
            <a:off x="6028909" y="7816838"/>
            <a:ext cx="3115091" cy="423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859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98"/>
              <a:buFont typeface="Arial"/>
              <a:buNone/>
            </a:pPr>
            <a:r>
              <a:rPr lang="en-US" sz="3200" b="0" i="0" u="none" strike="noStrike" cap="none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sym typeface="Arial"/>
              </a:rPr>
              <a:t>Ojetokun Victor</a:t>
            </a:r>
            <a:endParaRPr sz="3200" b="0" i="0" u="none" strike="noStrike" cap="none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  <a:sym typeface="Arial"/>
            </a:endParaRPr>
          </a:p>
        </p:txBody>
      </p:sp>
      <p:grpSp>
        <p:nvGrpSpPr>
          <p:cNvPr id="174" name="Google Shape;174;p1"/>
          <p:cNvGrpSpPr/>
          <p:nvPr/>
        </p:nvGrpSpPr>
        <p:grpSpPr>
          <a:xfrm>
            <a:off x="150480" y="177766"/>
            <a:ext cx="4536239" cy="837990"/>
            <a:chOff x="0" y="0"/>
            <a:chExt cx="6048318" cy="1117321"/>
          </a:xfrm>
        </p:grpSpPr>
        <p:sp>
          <p:nvSpPr>
            <p:cNvPr id="175" name="Google Shape;175;p1" descr="Insights on ACTD Accreditation from a Leading Body"/>
            <p:cNvSpPr/>
            <p:nvPr/>
          </p:nvSpPr>
          <p:spPr>
            <a:xfrm>
              <a:off x="2976677" y="44434"/>
              <a:ext cx="1072887" cy="1072887"/>
            </a:xfrm>
            <a:custGeom>
              <a:avLst/>
              <a:gdLst/>
              <a:ahLst/>
              <a:cxnLst/>
              <a:rect l="l" t="t" r="r" b="b"/>
              <a:pathLst>
                <a:path w="2952750" h="2952750" extrusionOk="0">
                  <a:moveTo>
                    <a:pt x="0" y="0"/>
                  </a:moveTo>
                  <a:lnTo>
                    <a:pt x="2952750" y="0"/>
                  </a:lnTo>
                  <a:lnTo>
                    <a:pt x="2952750" y="2952750"/>
                  </a:lnTo>
                  <a:lnTo>
                    <a:pt x="0" y="295275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8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6" name="Google Shape;176;p1"/>
            <p:cNvSpPr txBox="1"/>
            <p:nvPr/>
          </p:nvSpPr>
          <p:spPr>
            <a:xfrm>
              <a:off x="4168343" y="157841"/>
              <a:ext cx="1879975" cy="50201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1992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63"/>
                <a:buFont typeface="Arial"/>
                <a:buNone/>
              </a:pPr>
              <a:r>
                <a:rPr lang="en-US" sz="763" b="0" i="0" u="none" strike="noStrike" cap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ACCREDITED BY THE AMERICAN COUNCIL OF TRAINING AND DEVELOPMENT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" name="Google Shape;177;p1"/>
            <p:cNvSpPr/>
            <p:nvPr/>
          </p:nvSpPr>
          <p:spPr>
            <a:xfrm>
              <a:off x="0" y="44434"/>
              <a:ext cx="2756281" cy="810768"/>
            </a:xfrm>
            <a:custGeom>
              <a:avLst/>
              <a:gdLst/>
              <a:ahLst/>
              <a:cxnLst/>
              <a:rect l="l" t="t" r="r" b="b"/>
              <a:pathLst>
                <a:path w="2756281" h="810768" extrusionOk="0">
                  <a:moveTo>
                    <a:pt x="0" y="0"/>
                  </a:moveTo>
                  <a:lnTo>
                    <a:pt x="2756281" y="0"/>
                  </a:lnTo>
                  <a:lnTo>
                    <a:pt x="2756281" y="810768"/>
                  </a:lnTo>
                  <a:lnTo>
                    <a:pt x="0" y="81076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9">
                <a:alphaModFix/>
              </a:blip>
              <a:stretch>
                <a:fillRect t="-32" b="-37"/>
              </a:stretch>
            </a:blip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cxnSp>
          <p:nvCxnSpPr>
            <p:cNvPr id="178" name="Google Shape;178;p1"/>
            <p:cNvCxnSpPr/>
            <p:nvPr/>
          </p:nvCxnSpPr>
          <p:spPr>
            <a:xfrm>
              <a:off x="2900823" y="0"/>
              <a:ext cx="0" cy="860053"/>
            </a:xfrm>
            <a:prstGeom prst="straightConnector1">
              <a:avLst/>
            </a:prstGeom>
            <a:noFill/>
            <a:ln w="254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d3e761798d_0_27"/>
          <p:cNvSpPr/>
          <p:nvPr/>
        </p:nvSpPr>
        <p:spPr>
          <a:xfrm>
            <a:off x="0" y="0"/>
            <a:ext cx="18273032" cy="10278853"/>
          </a:xfrm>
          <a:custGeom>
            <a:avLst/>
            <a:gdLst/>
            <a:ahLst/>
            <a:cxnLst/>
            <a:rect l="l" t="t" r="r" b="b"/>
            <a:pathLst>
              <a:path w="17783973" h="9979469" extrusionOk="0">
                <a:moveTo>
                  <a:pt x="0" y="0"/>
                </a:moveTo>
                <a:lnTo>
                  <a:pt x="17783972" y="0"/>
                </a:lnTo>
                <a:lnTo>
                  <a:pt x="17783972" y="9979468"/>
                </a:lnTo>
                <a:lnTo>
                  <a:pt x="0" y="997946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4000"/>
            </a:blip>
            <a:stretch>
              <a:fillRect l="-2130" t="-130" b="-6510"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4" name="Google Shape;184;g3d3e761798d_0_27"/>
          <p:cNvSpPr/>
          <p:nvPr/>
        </p:nvSpPr>
        <p:spPr>
          <a:xfrm>
            <a:off x="1125455" y="2541137"/>
            <a:ext cx="15993300" cy="7430100"/>
          </a:xfrm>
          <a:prstGeom prst="roundRect">
            <a:avLst>
              <a:gd name="adj" fmla="val 4358"/>
            </a:avLst>
          </a:prstGeom>
          <a:solidFill>
            <a:srgbClr val="21262D"/>
          </a:solidFill>
          <a:ln w="9525" cap="flat" cmpd="sng">
            <a:solidFill>
              <a:srgbClr val="351C7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00" tIns="83300" rIns="83300" bIns="833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6"/>
              <a:buFont typeface="Arial"/>
              <a:buNone/>
            </a:pPr>
            <a:endParaRPr sz="1276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g3d3e761798d_0_27"/>
          <p:cNvSpPr txBox="1"/>
          <p:nvPr/>
        </p:nvSpPr>
        <p:spPr>
          <a:xfrm>
            <a:off x="1442167" y="1035809"/>
            <a:ext cx="15309900" cy="9571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4975" tIns="62450" rIns="124975" bIns="6245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93"/>
              <a:buFont typeface="Arial"/>
              <a:buNone/>
            </a:pPr>
            <a:r>
              <a:rPr lang="en-US" sz="5400" dirty="0">
                <a:solidFill>
                  <a:srgbClr val="21262D"/>
                </a:solidFill>
                <a:latin typeface="Cambria" panose="02040503050406030204" pitchFamily="18" charset="0"/>
                <a:ea typeface="Cambria" panose="02040503050406030204" pitchFamily="18" charset="0"/>
                <a:cs typeface="Poppins Medium"/>
                <a:sym typeface="Poppins Medium"/>
              </a:rPr>
              <a:t>KUBERNETES BASICS</a:t>
            </a:r>
            <a:endParaRPr sz="5400" b="0" i="0" u="none" strike="noStrike" cap="none" dirty="0">
              <a:solidFill>
                <a:srgbClr val="21262D"/>
              </a:solidFill>
              <a:latin typeface="Cambria" panose="02040503050406030204" pitchFamily="18" charset="0"/>
              <a:ea typeface="Cambria" panose="02040503050406030204" pitchFamily="18" charset="0"/>
              <a:cs typeface="Poppins Medium"/>
              <a:sym typeface="Poppins Medium"/>
            </a:endParaRPr>
          </a:p>
        </p:txBody>
      </p:sp>
      <p:sp>
        <p:nvSpPr>
          <p:cNvPr id="186" name="Google Shape;186;g3d3e761798d_0_27"/>
          <p:cNvSpPr/>
          <p:nvPr/>
        </p:nvSpPr>
        <p:spPr>
          <a:xfrm>
            <a:off x="1347089" y="3325747"/>
            <a:ext cx="7452900" cy="1341000"/>
          </a:xfrm>
          <a:prstGeom prst="rect">
            <a:avLst/>
          </a:prstGeom>
          <a:solidFill>
            <a:srgbClr val="21262D"/>
          </a:solidFill>
          <a:ln w="19600" cap="flat" cmpd="sng">
            <a:solidFill>
              <a:srgbClr val="30363D"/>
            </a:solidFill>
            <a:prstDash val="solid"/>
            <a:round/>
            <a:headEnd type="none" w="sm" len="sm"/>
            <a:tailEnd type="none" w="sm" len="sm"/>
          </a:ln>
          <a:effectLst>
            <a:outerShdw blurRad="156799" dist="39200" dir="8100000" algn="bl" rotWithShape="0">
              <a:srgbClr val="000000">
                <a:alpha val="30196"/>
              </a:srgbClr>
            </a:outerShdw>
          </a:effectLst>
        </p:spPr>
        <p:txBody>
          <a:bodyPr spcFirstLastPara="1" wrap="square" lIns="141100" tIns="141100" rIns="141100" bIns="1411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6"/>
              <a:buFont typeface="Arial"/>
              <a:buNone/>
            </a:pPr>
            <a:endParaRPr sz="1276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g3d3e761798d_0_27"/>
          <p:cNvSpPr/>
          <p:nvPr/>
        </p:nvSpPr>
        <p:spPr>
          <a:xfrm>
            <a:off x="2641113" y="3687762"/>
            <a:ext cx="5814600" cy="53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2005"/>
              <a:buFont typeface="Calibri"/>
              <a:buNone/>
            </a:pPr>
            <a:r>
              <a:rPr lang="en-US" sz="2800" b="1" i="0" u="none" strike="noStrike" cap="none" dirty="0">
                <a:solidFill>
                  <a:srgbClr val="E5E5E5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  <a:sym typeface="Calibri"/>
              </a:rPr>
              <a:t>What is </a:t>
            </a:r>
            <a:r>
              <a:rPr lang="en-US" sz="2800" b="1" dirty="0">
                <a:solidFill>
                  <a:srgbClr val="E5E5E5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  <a:sym typeface="Calibri"/>
              </a:rPr>
              <a:t>Kubernetes</a:t>
            </a:r>
            <a:endParaRPr sz="2800" b="1" i="0" u="none" strike="noStrike" cap="none" dirty="0">
              <a:solidFill>
                <a:srgbClr val="E5E5E5"/>
              </a:solidFill>
              <a:latin typeface="Cambria" panose="02040503050406030204" pitchFamily="18" charset="0"/>
              <a:ea typeface="Cambria" panose="02040503050406030204" pitchFamily="18" charset="0"/>
              <a:cs typeface="Calibri"/>
              <a:sym typeface="Calibri"/>
            </a:endParaRPr>
          </a:p>
        </p:txBody>
      </p:sp>
      <p:sp>
        <p:nvSpPr>
          <p:cNvPr id="190" name="Google Shape;190;g3d3e761798d_0_27"/>
          <p:cNvSpPr/>
          <p:nvPr/>
        </p:nvSpPr>
        <p:spPr>
          <a:xfrm>
            <a:off x="1347089" y="4878055"/>
            <a:ext cx="7452900" cy="1341000"/>
          </a:xfrm>
          <a:prstGeom prst="rect">
            <a:avLst/>
          </a:prstGeom>
          <a:solidFill>
            <a:srgbClr val="21262D"/>
          </a:solidFill>
          <a:ln w="19600" cap="flat" cmpd="sng">
            <a:solidFill>
              <a:srgbClr val="30363D"/>
            </a:solidFill>
            <a:prstDash val="solid"/>
            <a:round/>
            <a:headEnd type="none" w="sm" len="sm"/>
            <a:tailEnd type="none" w="sm" len="sm"/>
          </a:ln>
          <a:effectLst>
            <a:outerShdw blurRad="156799" dist="39200" dir="8100000" algn="bl" rotWithShape="0">
              <a:srgbClr val="000000">
                <a:alpha val="30196"/>
              </a:srgbClr>
            </a:outerShdw>
          </a:effectLst>
        </p:spPr>
        <p:txBody>
          <a:bodyPr spcFirstLastPara="1" wrap="square" lIns="141100" tIns="141100" rIns="141100" bIns="1411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g3d3e761798d_0_27"/>
          <p:cNvSpPr/>
          <p:nvPr/>
        </p:nvSpPr>
        <p:spPr>
          <a:xfrm>
            <a:off x="2593055" y="5205283"/>
            <a:ext cx="5815200" cy="53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2005"/>
              <a:buFont typeface="Calibri"/>
              <a:buNone/>
            </a:pPr>
            <a:r>
              <a:rPr lang="en-US" sz="2800" b="1" i="0" u="none" strike="noStrike" cap="none" dirty="0">
                <a:solidFill>
                  <a:srgbClr val="E6EDF3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  <a:sym typeface="Calibri"/>
              </a:rPr>
              <a:t>K</a:t>
            </a:r>
            <a:r>
              <a:rPr lang="en-US" sz="2800" b="1" dirty="0">
                <a:solidFill>
                  <a:srgbClr val="E6EDF3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  <a:sym typeface="Calibri"/>
              </a:rPr>
              <a:t>ubernetes Architecture</a:t>
            </a:r>
            <a:endParaRPr sz="2800" b="0" i="0" u="none" strike="noStrike" cap="none" dirty="0">
              <a:solidFill>
                <a:schemeClr val="dk1"/>
              </a:solidFill>
              <a:latin typeface="Cambria" panose="02040503050406030204" pitchFamily="18" charset="0"/>
              <a:ea typeface="Cambria" panose="02040503050406030204" pitchFamily="18" charset="0"/>
              <a:cs typeface="Calibri"/>
              <a:sym typeface="Calibri"/>
            </a:endParaRPr>
          </a:p>
        </p:txBody>
      </p:sp>
      <p:sp>
        <p:nvSpPr>
          <p:cNvPr id="194" name="Google Shape;194;g3d3e761798d_0_27"/>
          <p:cNvSpPr/>
          <p:nvPr/>
        </p:nvSpPr>
        <p:spPr>
          <a:xfrm>
            <a:off x="1347089" y="6430361"/>
            <a:ext cx="7452900" cy="1341000"/>
          </a:xfrm>
          <a:prstGeom prst="rect">
            <a:avLst/>
          </a:prstGeom>
          <a:solidFill>
            <a:srgbClr val="21262D"/>
          </a:solidFill>
          <a:ln w="19600" cap="flat" cmpd="sng">
            <a:solidFill>
              <a:srgbClr val="30363D"/>
            </a:solidFill>
            <a:prstDash val="solid"/>
            <a:round/>
            <a:headEnd type="none" w="sm" len="sm"/>
            <a:tailEnd type="none" w="sm" len="sm"/>
          </a:ln>
          <a:effectLst>
            <a:outerShdw blurRad="156799" dist="39200" dir="8100000" algn="bl" rotWithShape="0">
              <a:srgbClr val="000000">
                <a:alpha val="30196"/>
              </a:srgbClr>
            </a:outerShdw>
          </a:effectLst>
        </p:spPr>
        <p:txBody>
          <a:bodyPr spcFirstLastPara="1" wrap="square" lIns="141100" tIns="141100" rIns="141100" bIns="1411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g3d3e761798d_0_27"/>
          <p:cNvSpPr/>
          <p:nvPr/>
        </p:nvSpPr>
        <p:spPr>
          <a:xfrm>
            <a:off x="2666184" y="6782462"/>
            <a:ext cx="5815200" cy="53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2005"/>
              <a:buFont typeface="Calibri"/>
              <a:buNone/>
            </a:pPr>
            <a:r>
              <a:rPr lang="en-US" sz="2800" b="1" dirty="0">
                <a:solidFill>
                  <a:srgbClr val="E6EDF3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  <a:sym typeface="Calibri"/>
              </a:rPr>
              <a:t>The Declarative Model</a:t>
            </a:r>
            <a:endParaRPr sz="2800" b="0" i="0" u="none" strike="noStrike" cap="none" dirty="0">
              <a:solidFill>
                <a:schemeClr val="dk1"/>
              </a:solidFill>
              <a:latin typeface="Cambria" panose="02040503050406030204" pitchFamily="18" charset="0"/>
              <a:ea typeface="Cambria" panose="02040503050406030204" pitchFamily="18" charset="0"/>
              <a:cs typeface="Calibri"/>
              <a:sym typeface="Calibri"/>
            </a:endParaRPr>
          </a:p>
        </p:txBody>
      </p:sp>
      <p:sp>
        <p:nvSpPr>
          <p:cNvPr id="198" name="Google Shape;198;g3d3e761798d_0_27"/>
          <p:cNvSpPr/>
          <p:nvPr/>
        </p:nvSpPr>
        <p:spPr>
          <a:xfrm>
            <a:off x="5147578" y="8368441"/>
            <a:ext cx="7452900" cy="1341000"/>
          </a:xfrm>
          <a:prstGeom prst="rect">
            <a:avLst/>
          </a:prstGeom>
          <a:solidFill>
            <a:srgbClr val="21262D"/>
          </a:solidFill>
          <a:ln w="19600" cap="flat" cmpd="sng">
            <a:solidFill>
              <a:srgbClr val="30363D"/>
            </a:solidFill>
            <a:prstDash val="solid"/>
            <a:round/>
            <a:headEnd type="none" w="sm" len="sm"/>
            <a:tailEnd type="none" w="sm" len="sm"/>
          </a:ln>
          <a:effectLst>
            <a:outerShdw blurRad="156799" dist="39200" dir="8100000" algn="bl" rotWithShape="0">
              <a:srgbClr val="000000">
                <a:alpha val="30196"/>
              </a:srgbClr>
            </a:outerShdw>
          </a:effectLst>
        </p:spPr>
        <p:txBody>
          <a:bodyPr spcFirstLastPara="1" wrap="square" lIns="141100" tIns="141100" rIns="141100" bIns="1411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g3d3e761798d_0_27"/>
          <p:cNvSpPr/>
          <p:nvPr/>
        </p:nvSpPr>
        <p:spPr>
          <a:xfrm>
            <a:off x="5453943" y="8877765"/>
            <a:ext cx="6984291" cy="53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458"/>
              <a:buFont typeface="Calibri"/>
              <a:buNone/>
            </a:pPr>
            <a:r>
              <a:rPr lang="en-US" sz="2800" b="1" dirty="0">
                <a:solidFill>
                  <a:srgbClr val="EFEFEF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  <a:sym typeface="Calibri"/>
              </a:rPr>
              <a:t>Key features and Use cases for Kubernetes</a:t>
            </a:r>
            <a:endParaRPr sz="2800" b="1" i="0" u="none" strike="noStrike" cap="none" dirty="0">
              <a:solidFill>
                <a:srgbClr val="EFEFEF"/>
              </a:solidFill>
              <a:latin typeface="Cambria" panose="02040503050406030204" pitchFamily="18" charset="0"/>
              <a:ea typeface="Cambria" panose="02040503050406030204" pitchFamily="18" charset="0"/>
              <a:cs typeface="Calibri"/>
              <a:sym typeface="Calibri"/>
            </a:endParaRPr>
          </a:p>
        </p:txBody>
      </p:sp>
      <p:sp>
        <p:nvSpPr>
          <p:cNvPr id="202" name="Google Shape;202;g3d3e761798d_0_27"/>
          <p:cNvSpPr/>
          <p:nvPr/>
        </p:nvSpPr>
        <p:spPr>
          <a:xfrm>
            <a:off x="9293906" y="3325747"/>
            <a:ext cx="7596300" cy="1341000"/>
          </a:xfrm>
          <a:prstGeom prst="rect">
            <a:avLst/>
          </a:prstGeom>
          <a:solidFill>
            <a:srgbClr val="21262D"/>
          </a:solidFill>
          <a:ln w="19600" cap="flat" cmpd="sng">
            <a:solidFill>
              <a:srgbClr val="30363D"/>
            </a:solidFill>
            <a:prstDash val="solid"/>
            <a:round/>
            <a:headEnd type="none" w="sm" len="sm"/>
            <a:tailEnd type="none" w="sm" len="sm"/>
          </a:ln>
          <a:effectLst>
            <a:outerShdw blurRad="156799" dist="39200" dir="8100000" algn="bl" rotWithShape="0">
              <a:srgbClr val="000000">
                <a:alpha val="30196"/>
              </a:srgbClr>
            </a:outerShdw>
          </a:effectLst>
        </p:spPr>
        <p:txBody>
          <a:bodyPr spcFirstLastPara="1" wrap="square" lIns="141100" tIns="141100" rIns="141100" bIns="1411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g3d3e761798d_0_27"/>
          <p:cNvSpPr/>
          <p:nvPr/>
        </p:nvSpPr>
        <p:spPr>
          <a:xfrm>
            <a:off x="10817849" y="3769836"/>
            <a:ext cx="2298076" cy="53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2005"/>
              <a:buFont typeface="Calibri"/>
              <a:buNone/>
            </a:pPr>
            <a:r>
              <a:rPr lang="en-US" sz="2800" b="1" dirty="0">
                <a:solidFill>
                  <a:srgbClr val="E6EDF3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  <a:sym typeface="Calibri"/>
              </a:rPr>
              <a:t>Pods</a:t>
            </a:r>
            <a:endParaRPr sz="2800" b="1" i="0" u="none" strike="noStrike" cap="none" dirty="0">
              <a:solidFill>
                <a:srgbClr val="E6EDF3"/>
              </a:solidFill>
              <a:latin typeface="Cambria" panose="02040503050406030204" pitchFamily="18" charset="0"/>
              <a:ea typeface="Cambria" panose="02040503050406030204" pitchFamily="18" charset="0"/>
              <a:cs typeface="Calibri"/>
              <a:sym typeface="Calibri"/>
            </a:endParaRPr>
          </a:p>
        </p:txBody>
      </p:sp>
      <p:sp>
        <p:nvSpPr>
          <p:cNvPr id="206" name="Google Shape;206;g3d3e761798d_0_27"/>
          <p:cNvSpPr/>
          <p:nvPr/>
        </p:nvSpPr>
        <p:spPr>
          <a:xfrm>
            <a:off x="9293906" y="4878054"/>
            <a:ext cx="7596300" cy="1341000"/>
          </a:xfrm>
          <a:prstGeom prst="rect">
            <a:avLst/>
          </a:prstGeom>
          <a:solidFill>
            <a:srgbClr val="21262D"/>
          </a:solidFill>
          <a:ln w="19600" cap="flat" cmpd="sng">
            <a:solidFill>
              <a:srgbClr val="30363D"/>
            </a:solidFill>
            <a:prstDash val="solid"/>
            <a:round/>
            <a:headEnd type="none" w="sm" len="sm"/>
            <a:tailEnd type="none" w="sm" len="sm"/>
          </a:ln>
          <a:effectLst>
            <a:outerShdw blurRad="156799" dist="39200" dir="8100000" algn="bl" rotWithShape="0">
              <a:srgbClr val="000000">
                <a:alpha val="30196"/>
              </a:srgbClr>
            </a:outerShdw>
          </a:effectLst>
        </p:spPr>
        <p:txBody>
          <a:bodyPr spcFirstLastPara="1" wrap="square" lIns="141100" tIns="141100" rIns="141100" bIns="1411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g3d3e761798d_0_27"/>
          <p:cNvSpPr/>
          <p:nvPr/>
        </p:nvSpPr>
        <p:spPr>
          <a:xfrm>
            <a:off x="10817104" y="5359287"/>
            <a:ext cx="5926500" cy="53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2005"/>
              <a:buFont typeface="Calibri"/>
              <a:buNone/>
            </a:pPr>
            <a:r>
              <a:rPr lang="en-US" sz="2800" b="1" dirty="0">
                <a:solidFill>
                  <a:srgbClr val="E6EDF3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  <a:sym typeface="Calibri"/>
              </a:rPr>
              <a:t>Deployments</a:t>
            </a:r>
            <a:endParaRPr sz="2800" b="0" i="0" u="none" strike="noStrike" cap="none" dirty="0">
              <a:solidFill>
                <a:schemeClr val="dk1"/>
              </a:solidFill>
              <a:latin typeface="Cambria" panose="02040503050406030204" pitchFamily="18" charset="0"/>
              <a:ea typeface="Cambria" panose="02040503050406030204" pitchFamily="18" charset="0"/>
              <a:cs typeface="Calibri"/>
              <a:sym typeface="Calibri"/>
            </a:endParaRPr>
          </a:p>
        </p:txBody>
      </p:sp>
      <p:sp>
        <p:nvSpPr>
          <p:cNvPr id="210" name="Google Shape;210;g3d3e761798d_0_27"/>
          <p:cNvSpPr/>
          <p:nvPr/>
        </p:nvSpPr>
        <p:spPr>
          <a:xfrm>
            <a:off x="9293906" y="6430361"/>
            <a:ext cx="7596300" cy="1341000"/>
          </a:xfrm>
          <a:prstGeom prst="rect">
            <a:avLst/>
          </a:prstGeom>
          <a:solidFill>
            <a:srgbClr val="21262D"/>
          </a:solidFill>
          <a:ln w="19600" cap="flat" cmpd="sng">
            <a:solidFill>
              <a:srgbClr val="30363D"/>
            </a:solidFill>
            <a:prstDash val="solid"/>
            <a:round/>
            <a:headEnd type="none" w="sm" len="sm"/>
            <a:tailEnd type="none" w="sm" len="sm"/>
          </a:ln>
          <a:effectLst>
            <a:outerShdw blurRad="156799" dist="39200" dir="8100000" algn="bl" rotWithShape="0">
              <a:srgbClr val="000000">
                <a:alpha val="30196"/>
              </a:srgbClr>
            </a:outerShdw>
          </a:effectLst>
        </p:spPr>
        <p:txBody>
          <a:bodyPr spcFirstLastPara="1" wrap="square" lIns="141100" tIns="141100" rIns="141100" bIns="1411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g3d3e761798d_0_27"/>
          <p:cNvSpPr/>
          <p:nvPr/>
        </p:nvSpPr>
        <p:spPr>
          <a:xfrm>
            <a:off x="10817104" y="6725846"/>
            <a:ext cx="2253031" cy="53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2005"/>
              <a:buFont typeface="Calibri"/>
              <a:buNone/>
            </a:pPr>
            <a:r>
              <a:rPr lang="en-US" sz="2800" b="1" dirty="0">
                <a:solidFill>
                  <a:srgbClr val="E6EDF3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  <a:sym typeface="Calibri"/>
              </a:rPr>
              <a:t>Services</a:t>
            </a:r>
            <a:endParaRPr sz="2800" b="0" i="0" u="none" strike="noStrike" cap="none" dirty="0">
              <a:solidFill>
                <a:schemeClr val="dk1"/>
              </a:solidFill>
              <a:latin typeface="Cambria" panose="02040503050406030204" pitchFamily="18" charset="0"/>
              <a:ea typeface="Cambria" panose="02040503050406030204" pitchFamily="18" charset="0"/>
              <a:cs typeface="Calibri"/>
              <a:sym typeface="Calibri"/>
            </a:endParaRPr>
          </a:p>
        </p:txBody>
      </p:sp>
      <p:sp>
        <p:nvSpPr>
          <p:cNvPr id="218" name="Google Shape;218;g3d3e761798d_0_27"/>
          <p:cNvSpPr txBox="1"/>
          <p:nvPr/>
        </p:nvSpPr>
        <p:spPr>
          <a:xfrm>
            <a:off x="4486880" y="1893146"/>
            <a:ext cx="8779200" cy="56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3300" tIns="83300" rIns="83300" bIns="833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551" b="1" i="0" u="none" strike="noStrike" cap="none" dirty="0">
                <a:solidFill>
                  <a:srgbClr val="21262D"/>
                </a:solidFill>
                <a:latin typeface="Cambria" panose="02040503050406030204" pitchFamily="18" charset="0"/>
                <a:ea typeface="Cambria" panose="02040503050406030204" pitchFamily="18" charset="0"/>
                <a:cs typeface="Georgia"/>
                <a:sym typeface="Georgia"/>
              </a:rPr>
              <a:t>Learning Objectives</a:t>
            </a:r>
            <a:endParaRPr sz="2916" b="1" i="0" u="none" strike="noStrike" cap="none" dirty="0">
              <a:solidFill>
                <a:srgbClr val="21262D"/>
              </a:solidFill>
              <a:latin typeface="Cambria" panose="02040503050406030204" pitchFamily="18" charset="0"/>
              <a:ea typeface="Cambria" panose="02040503050406030204" pitchFamily="18" charset="0"/>
              <a:cs typeface="Calibri"/>
              <a:sym typeface="Calibri"/>
            </a:endParaRPr>
          </a:p>
        </p:txBody>
      </p:sp>
      <p:grpSp>
        <p:nvGrpSpPr>
          <p:cNvPr id="219" name="Google Shape;219;g3d3e761798d_0_27"/>
          <p:cNvGrpSpPr/>
          <p:nvPr/>
        </p:nvGrpSpPr>
        <p:grpSpPr>
          <a:xfrm>
            <a:off x="17474074" y="1351950"/>
            <a:ext cx="2606200" cy="1158719"/>
            <a:chOff x="0" y="0"/>
            <a:chExt cx="3794700" cy="305175"/>
          </a:xfrm>
        </p:grpSpPr>
        <p:sp>
          <p:nvSpPr>
            <p:cNvPr id="220" name="Google Shape;220;g3d3e761798d_0_27"/>
            <p:cNvSpPr/>
            <p:nvPr/>
          </p:nvSpPr>
          <p:spPr>
            <a:xfrm>
              <a:off x="0" y="0"/>
              <a:ext cx="3794677" cy="305133"/>
            </a:xfrm>
            <a:custGeom>
              <a:avLst/>
              <a:gdLst/>
              <a:ahLst/>
              <a:cxnLst/>
              <a:rect l="l" t="t" r="r" b="b"/>
              <a:pathLst>
                <a:path w="3794677" h="305133" extrusionOk="0">
                  <a:moveTo>
                    <a:pt x="24718" y="0"/>
                  </a:moveTo>
                  <a:lnTo>
                    <a:pt x="3769959" y="0"/>
                  </a:lnTo>
                  <a:cubicBezTo>
                    <a:pt x="3776515" y="0"/>
                    <a:pt x="3782802" y="2604"/>
                    <a:pt x="3787437" y="7240"/>
                  </a:cubicBezTo>
                  <a:cubicBezTo>
                    <a:pt x="3792073" y="11875"/>
                    <a:pt x="3794677" y="18162"/>
                    <a:pt x="3794677" y="24718"/>
                  </a:cubicBezTo>
                  <a:lnTo>
                    <a:pt x="3794677" y="280415"/>
                  </a:lnTo>
                  <a:cubicBezTo>
                    <a:pt x="3794677" y="286971"/>
                    <a:pt x="3792073" y="293258"/>
                    <a:pt x="3787437" y="297893"/>
                  </a:cubicBezTo>
                  <a:cubicBezTo>
                    <a:pt x="3782802" y="302529"/>
                    <a:pt x="3776515" y="305133"/>
                    <a:pt x="3769959" y="305133"/>
                  </a:cubicBezTo>
                  <a:lnTo>
                    <a:pt x="24718" y="305133"/>
                  </a:lnTo>
                  <a:cubicBezTo>
                    <a:pt x="18162" y="305133"/>
                    <a:pt x="11875" y="302529"/>
                    <a:pt x="7240" y="297893"/>
                  </a:cubicBezTo>
                  <a:cubicBezTo>
                    <a:pt x="2604" y="293258"/>
                    <a:pt x="0" y="286971"/>
                    <a:pt x="0" y="280415"/>
                  </a:cubicBezTo>
                  <a:lnTo>
                    <a:pt x="0" y="24718"/>
                  </a:lnTo>
                  <a:cubicBezTo>
                    <a:pt x="0" y="18162"/>
                    <a:pt x="2604" y="11875"/>
                    <a:pt x="7240" y="7240"/>
                  </a:cubicBezTo>
                  <a:cubicBezTo>
                    <a:pt x="11875" y="2604"/>
                    <a:pt x="18162" y="0"/>
                    <a:pt x="24718" y="0"/>
                  </a:cubicBezTo>
                  <a:close/>
                </a:path>
              </a:pathLst>
            </a:custGeom>
            <a:noFill/>
            <a:ln w="38100" cap="rnd" cmpd="sng">
              <a:solidFill>
                <a:srgbClr val="E5956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" name="Google Shape;221;g3d3e761798d_0_27"/>
            <p:cNvSpPr txBox="1"/>
            <p:nvPr/>
          </p:nvSpPr>
          <p:spPr>
            <a:xfrm>
              <a:off x="0" y="66675"/>
              <a:ext cx="3794700" cy="238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242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22" name="Google Shape;222;g3d3e761798d_0_27"/>
          <p:cNvGrpSpPr/>
          <p:nvPr/>
        </p:nvGrpSpPr>
        <p:grpSpPr>
          <a:xfrm>
            <a:off x="-2408849" y="9065025"/>
            <a:ext cx="3178820" cy="1158688"/>
            <a:chOff x="0" y="0"/>
            <a:chExt cx="3794700" cy="305175"/>
          </a:xfrm>
        </p:grpSpPr>
        <p:sp>
          <p:nvSpPr>
            <p:cNvPr id="223" name="Google Shape;223;g3d3e761798d_0_27"/>
            <p:cNvSpPr/>
            <p:nvPr/>
          </p:nvSpPr>
          <p:spPr>
            <a:xfrm>
              <a:off x="0" y="0"/>
              <a:ext cx="3794677" cy="305133"/>
            </a:xfrm>
            <a:custGeom>
              <a:avLst/>
              <a:gdLst/>
              <a:ahLst/>
              <a:cxnLst/>
              <a:rect l="l" t="t" r="r" b="b"/>
              <a:pathLst>
                <a:path w="3794677" h="305133" extrusionOk="0">
                  <a:moveTo>
                    <a:pt x="24718" y="0"/>
                  </a:moveTo>
                  <a:lnTo>
                    <a:pt x="3769959" y="0"/>
                  </a:lnTo>
                  <a:cubicBezTo>
                    <a:pt x="3776515" y="0"/>
                    <a:pt x="3782802" y="2604"/>
                    <a:pt x="3787437" y="7240"/>
                  </a:cubicBezTo>
                  <a:cubicBezTo>
                    <a:pt x="3792073" y="11875"/>
                    <a:pt x="3794677" y="18162"/>
                    <a:pt x="3794677" y="24718"/>
                  </a:cubicBezTo>
                  <a:lnTo>
                    <a:pt x="3794677" y="280415"/>
                  </a:lnTo>
                  <a:cubicBezTo>
                    <a:pt x="3794677" y="286971"/>
                    <a:pt x="3792073" y="293258"/>
                    <a:pt x="3787437" y="297893"/>
                  </a:cubicBezTo>
                  <a:cubicBezTo>
                    <a:pt x="3782802" y="302529"/>
                    <a:pt x="3776515" y="305133"/>
                    <a:pt x="3769959" y="305133"/>
                  </a:cubicBezTo>
                  <a:lnTo>
                    <a:pt x="24718" y="305133"/>
                  </a:lnTo>
                  <a:cubicBezTo>
                    <a:pt x="18162" y="305133"/>
                    <a:pt x="11875" y="302529"/>
                    <a:pt x="7240" y="297893"/>
                  </a:cubicBezTo>
                  <a:cubicBezTo>
                    <a:pt x="2604" y="293258"/>
                    <a:pt x="0" y="286971"/>
                    <a:pt x="0" y="280415"/>
                  </a:cubicBezTo>
                  <a:lnTo>
                    <a:pt x="0" y="24718"/>
                  </a:lnTo>
                  <a:cubicBezTo>
                    <a:pt x="0" y="18162"/>
                    <a:pt x="2604" y="11875"/>
                    <a:pt x="7240" y="7240"/>
                  </a:cubicBezTo>
                  <a:cubicBezTo>
                    <a:pt x="11875" y="2604"/>
                    <a:pt x="18162" y="0"/>
                    <a:pt x="24718" y="0"/>
                  </a:cubicBezTo>
                  <a:close/>
                </a:path>
              </a:pathLst>
            </a:custGeom>
            <a:noFill/>
            <a:ln w="38100" cap="rnd" cmpd="sng">
              <a:solidFill>
                <a:srgbClr val="E5956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4" name="Google Shape;224;g3d3e761798d_0_27"/>
            <p:cNvSpPr txBox="1"/>
            <p:nvPr/>
          </p:nvSpPr>
          <p:spPr>
            <a:xfrm>
              <a:off x="0" y="66675"/>
              <a:ext cx="3794700" cy="238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242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25" name="Google Shape;225;g3d3e761798d_0_27"/>
          <p:cNvGrpSpPr/>
          <p:nvPr/>
        </p:nvGrpSpPr>
        <p:grpSpPr>
          <a:xfrm>
            <a:off x="234432" y="158347"/>
            <a:ext cx="4536332" cy="836104"/>
            <a:chOff x="0" y="0"/>
            <a:chExt cx="6048443" cy="1114806"/>
          </a:xfrm>
        </p:grpSpPr>
        <p:sp>
          <p:nvSpPr>
            <p:cNvPr id="226" name="Google Shape;226;g3d3e761798d_0_27" descr="Insights on ACTD Accreditation from a Leading Body"/>
            <p:cNvSpPr/>
            <p:nvPr/>
          </p:nvSpPr>
          <p:spPr>
            <a:xfrm>
              <a:off x="2976677" y="44434"/>
              <a:ext cx="1070372" cy="1070372"/>
            </a:xfrm>
            <a:custGeom>
              <a:avLst/>
              <a:gdLst/>
              <a:ahLst/>
              <a:cxnLst/>
              <a:rect l="l" t="t" r="r" b="b"/>
              <a:pathLst>
                <a:path w="2952750" h="2952750" extrusionOk="0">
                  <a:moveTo>
                    <a:pt x="0" y="0"/>
                  </a:moveTo>
                  <a:lnTo>
                    <a:pt x="2952750" y="0"/>
                  </a:lnTo>
                  <a:lnTo>
                    <a:pt x="2952750" y="2952750"/>
                  </a:lnTo>
                  <a:lnTo>
                    <a:pt x="0" y="295275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7" name="Google Shape;227;g3d3e761798d_0_27"/>
            <p:cNvSpPr txBox="1"/>
            <p:nvPr/>
          </p:nvSpPr>
          <p:spPr>
            <a:xfrm>
              <a:off x="4168343" y="157841"/>
              <a:ext cx="1880100" cy="532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1992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63"/>
                <a:buFont typeface="Arial"/>
                <a:buNone/>
              </a:pPr>
              <a:r>
                <a:rPr lang="en-US" sz="763" b="0" i="0" u="none" strike="noStrike" cap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ACCREDITED BY THE AMERICAN COUNCIL OF TRAINING AND DEVELOPMENT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8" name="Google Shape;228;g3d3e761798d_0_27"/>
            <p:cNvSpPr/>
            <p:nvPr/>
          </p:nvSpPr>
          <p:spPr>
            <a:xfrm>
              <a:off x="0" y="44434"/>
              <a:ext cx="2756281" cy="810768"/>
            </a:xfrm>
            <a:custGeom>
              <a:avLst/>
              <a:gdLst/>
              <a:ahLst/>
              <a:cxnLst/>
              <a:rect l="l" t="t" r="r" b="b"/>
              <a:pathLst>
                <a:path w="2756281" h="810768" extrusionOk="0">
                  <a:moveTo>
                    <a:pt x="0" y="0"/>
                  </a:moveTo>
                  <a:lnTo>
                    <a:pt x="2756281" y="0"/>
                  </a:lnTo>
                  <a:lnTo>
                    <a:pt x="2756281" y="810768"/>
                  </a:lnTo>
                  <a:lnTo>
                    <a:pt x="0" y="81076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 t="-30" b="-40"/>
              </a:stretch>
            </a:blip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cxnSp>
          <p:nvCxnSpPr>
            <p:cNvPr id="229" name="Google Shape;229;g3d3e761798d_0_27"/>
            <p:cNvCxnSpPr/>
            <p:nvPr/>
          </p:nvCxnSpPr>
          <p:spPr>
            <a:xfrm>
              <a:off x="2900823" y="0"/>
              <a:ext cx="0" cy="860100"/>
            </a:xfrm>
            <a:prstGeom prst="straightConnector1">
              <a:avLst/>
            </a:prstGeom>
            <a:noFill/>
            <a:ln w="254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230" name="Google Shape;230;g3d3e761798d_0_27"/>
          <p:cNvSpPr/>
          <p:nvPr/>
        </p:nvSpPr>
        <p:spPr>
          <a:xfrm>
            <a:off x="1653454" y="3428063"/>
            <a:ext cx="918300" cy="1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903"/>
              <a:buFont typeface="Calibri"/>
              <a:buNone/>
            </a:pPr>
            <a:endParaRPr sz="5903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g3d3e761798d_0_27"/>
          <p:cNvSpPr/>
          <p:nvPr/>
        </p:nvSpPr>
        <p:spPr>
          <a:xfrm>
            <a:off x="1543650" y="6682812"/>
            <a:ext cx="900900" cy="83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11"/>
              <a:buFont typeface="Calibri"/>
              <a:buNone/>
            </a:pPr>
            <a:endParaRPr sz="5411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g3d3e761798d_0_27"/>
          <p:cNvSpPr/>
          <p:nvPr/>
        </p:nvSpPr>
        <p:spPr>
          <a:xfrm>
            <a:off x="1543651" y="3499370"/>
            <a:ext cx="900900" cy="70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Calibri"/>
              <a:buNone/>
            </a:pPr>
            <a:endParaRPr sz="66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g3d3e761798d_0_27"/>
          <p:cNvSpPr/>
          <p:nvPr/>
        </p:nvSpPr>
        <p:spPr>
          <a:xfrm>
            <a:off x="9702761" y="6725846"/>
            <a:ext cx="918300" cy="70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48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7">
          <a:extLst>
            <a:ext uri="{FF2B5EF4-FFF2-40B4-BE49-F238E27FC236}">
              <a16:creationId xmlns:a16="http://schemas.microsoft.com/office/drawing/2014/main" id="{86DCDFD4-66B4-98F5-7151-1CF6AB2190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3d50459c92a_0_1122">
            <a:extLst>
              <a:ext uri="{FF2B5EF4-FFF2-40B4-BE49-F238E27FC236}">
                <a16:creationId xmlns:a16="http://schemas.microsoft.com/office/drawing/2014/main" id="{E800EC13-0514-BFB2-E487-9E5278D57323}"/>
              </a:ext>
            </a:extLst>
          </p:cNvPr>
          <p:cNvSpPr/>
          <p:nvPr/>
        </p:nvSpPr>
        <p:spPr>
          <a:xfrm>
            <a:off x="252014" y="153766"/>
            <a:ext cx="17783973" cy="9979469"/>
          </a:xfrm>
          <a:custGeom>
            <a:avLst/>
            <a:gdLst/>
            <a:ahLst/>
            <a:cxnLst/>
            <a:rect l="l" t="t" r="r" b="b"/>
            <a:pathLst>
              <a:path w="17783973" h="9979469" extrusionOk="0">
                <a:moveTo>
                  <a:pt x="0" y="0"/>
                </a:moveTo>
                <a:lnTo>
                  <a:pt x="17783972" y="0"/>
                </a:lnTo>
                <a:lnTo>
                  <a:pt x="17783972" y="9979468"/>
                </a:lnTo>
                <a:lnTo>
                  <a:pt x="0" y="997946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4000"/>
            </a:blip>
            <a:stretch>
              <a:fillRect l="-2130" t="-130" b="-6510"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grpSp>
        <p:nvGrpSpPr>
          <p:cNvPr id="249" name="Google Shape;249;g3d50459c92a_0_1122">
            <a:extLst>
              <a:ext uri="{FF2B5EF4-FFF2-40B4-BE49-F238E27FC236}">
                <a16:creationId xmlns:a16="http://schemas.microsoft.com/office/drawing/2014/main" id="{C35E6594-BEF9-C216-369D-32681A17A9CA}"/>
              </a:ext>
            </a:extLst>
          </p:cNvPr>
          <p:cNvGrpSpPr/>
          <p:nvPr/>
        </p:nvGrpSpPr>
        <p:grpSpPr>
          <a:xfrm>
            <a:off x="530603" y="553241"/>
            <a:ext cx="4536332" cy="836104"/>
            <a:chOff x="0" y="0"/>
            <a:chExt cx="6048443" cy="1114806"/>
          </a:xfrm>
        </p:grpSpPr>
        <p:sp>
          <p:nvSpPr>
            <p:cNvPr id="250" name="Google Shape;250;g3d50459c92a_0_1122" descr="Insights on ACTD Accreditation from a Leading Body">
              <a:extLst>
                <a:ext uri="{FF2B5EF4-FFF2-40B4-BE49-F238E27FC236}">
                  <a16:creationId xmlns:a16="http://schemas.microsoft.com/office/drawing/2014/main" id="{E61245B7-80F1-08B8-4EA3-8349A0F83547}"/>
                </a:ext>
              </a:extLst>
            </p:cNvPr>
            <p:cNvSpPr/>
            <p:nvPr/>
          </p:nvSpPr>
          <p:spPr>
            <a:xfrm>
              <a:off x="2976677" y="44434"/>
              <a:ext cx="1070372" cy="1070372"/>
            </a:xfrm>
            <a:custGeom>
              <a:avLst/>
              <a:gdLst/>
              <a:ahLst/>
              <a:cxnLst/>
              <a:rect l="l" t="t" r="r" b="b"/>
              <a:pathLst>
                <a:path w="2952750" h="2952750" extrusionOk="0">
                  <a:moveTo>
                    <a:pt x="0" y="0"/>
                  </a:moveTo>
                  <a:lnTo>
                    <a:pt x="2952750" y="0"/>
                  </a:lnTo>
                  <a:lnTo>
                    <a:pt x="2952750" y="2952750"/>
                  </a:lnTo>
                  <a:lnTo>
                    <a:pt x="0" y="295275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1" name="Google Shape;251;g3d50459c92a_0_1122">
              <a:extLst>
                <a:ext uri="{FF2B5EF4-FFF2-40B4-BE49-F238E27FC236}">
                  <a16:creationId xmlns:a16="http://schemas.microsoft.com/office/drawing/2014/main" id="{A37D9BE3-CD2C-2F12-AC3D-C883B9DA5DC1}"/>
                </a:ext>
              </a:extLst>
            </p:cNvPr>
            <p:cNvSpPr txBox="1"/>
            <p:nvPr/>
          </p:nvSpPr>
          <p:spPr>
            <a:xfrm>
              <a:off x="4168343" y="157841"/>
              <a:ext cx="1880100" cy="532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1992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63"/>
                <a:buFont typeface="Arial"/>
                <a:buNone/>
              </a:pPr>
              <a:r>
                <a:rPr lang="en-US" sz="763" b="0" i="0" u="none" strike="noStrike" cap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ACCREDITED BY THE AMERICAN COUNCIL OF TRAINING AND DEVELOPMENT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2" name="Google Shape;252;g3d50459c92a_0_1122">
              <a:extLst>
                <a:ext uri="{FF2B5EF4-FFF2-40B4-BE49-F238E27FC236}">
                  <a16:creationId xmlns:a16="http://schemas.microsoft.com/office/drawing/2014/main" id="{A7071C0F-6B5B-456E-A925-FCBB4CA2955D}"/>
                </a:ext>
              </a:extLst>
            </p:cNvPr>
            <p:cNvSpPr/>
            <p:nvPr/>
          </p:nvSpPr>
          <p:spPr>
            <a:xfrm>
              <a:off x="0" y="44434"/>
              <a:ext cx="2756281" cy="810768"/>
            </a:xfrm>
            <a:custGeom>
              <a:avLst/>
              <a:gdLst/>
              <a:ahLst/>
              <a:cxnLst/>
              <a:rect l="l" t="t" r="r" b="b"/>
              <a:pathLst>
                <a:path w="2756281" h="810768" extrusionOk="0">
                  <a:moveTo>
                    <a:pt x="0" y="0"/>
                  </a:moveTo>
                  <a:lnTo>
                    <a:pt x="2756281" y="0"/>
                  </a:lnTo>
                  <a:lnTo>
                    <a:pt x="2756281" y="810768"/>
                  </a:lnTo>
                  <a:lnTo>
                    <a:pt x="0" y="81076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 t="-30" b="-40"/>
              </a:stretch>
            </a:blip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cxnSp>
          <p:nvCxnSpPr>
            <p:cNvPr id="253" name="Google Shape;253;g3d50459c92a_0_1122">
              <a:extLst>
                <a:ext uri="{FF2B5EF4-FFF2-40B4-BE49-F238E27FC236}">
                  <a16:creationId xmlns:a16="http://schemas.microsoft.com/office/drawing/2014/main" id="{6BFC1636-A1F3-3C76-6058-570130A411BD}"/>
                </a:ext>
              </a:extLst>
            </p:cNvPr>
            <p:cNvCxnSpPr/>
            <p:nvPr/>
          </p:nvCxnSpPr>
          <p:spPr>
            <a:xfrm>
              <a:off x="2900823" y="0"/>
              <a:ext cx="0" cy="860100"/>
            </a:xfrm>
            <a:prstGeom prst="straightConnector1">
              <a:avLst/>
            </a:prstGeom>
            <a:noFill/>
            <a:ln w="254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254" name="Google Shape;254;g3d50459c92a_0_1122">
            <a:extLst>
              <a:ext uri="{FF2B5EF4-FFF2-40B4-BE49-F238E27FC236}">
                <a16:creationId xmlns:a16="http://schemas.microsoft.com/office/drawing/2014/main" id="{3BFA6ED5-66A8-26CD-9A60-03E29547811D}"/>
              </a:ext>
            </a:extLst>
          </p:cNvPr>
          <p:cNvSpPr/>
          <p:nvPr/>
        </p:nvSpPr>
        <p:spPr>
          <a:xfrm>
            <a:off x="5984929" y="408489"/>
            <a:ext cx="8772350" cy="578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8F8"/>
              </a:buClr>
              <a:buSzPts val="5832"/>
              <a:buFont typeface="Trebuchet MS"/>
              <a:buNone/>
            </a:pPr>
            <a:r>
              <a:rPr lang="en-US" sz="4800" dirty="0">
                <a:solidFill>
                  <a:srgbClr val="434343"/>
                </a:solidFill>
                <a:latin typeface="Cambria" panose="02040503050406030204" pitchFamily="18" charset="0"/>
                <a:ea typeface="Cambria" panose="02040503050406030204" pitchFamily="18" charset="0"/>
                <a:cs typeface="Poppins"/>
                <a:sym typeface="Poppins"/>
              </a:rPr>
              <a:t>Kubernetes : The Orchestrator</a:t>
            </a:r>
            <a:endParaRPr sz="4800" dirty="0">
              <a:solidFill>
                <a:srgbClr val="434343"/>
              </a:solidFill>
              <a:latin typeface="Cambria" panose="02040503050406030204" pitchFamily="18" charset="0"/>
              <a:ea typeface="Cambria" panose="02040503050406030204" pitchFamily="18" charset="0"/>
              <a:cs typeface="Poppins"/>
              <a:sym typeface="Poppins"/>
            </a:endParaRPr>
          </a:p>
        </p:txBody>
      </p:sp>
      <p:sp>
        <p:nvSpPr>
          <p:cNvPr id="256" name="Google Shape;256;g3d50459c92a_0_1122">
            <a:extLst>
              <a:ext uri="{FF2B5EF4-FFF2-40B4-BE49-F238E27FC236}">
                <a16:creationId xmlns:a16="http://schemas.microsoft.com/office/drawing/2014/main" id="{D875F1AA-0D10-8BFB-2F94-4CF2FC7FEB63}"/>
              </a:ext>
            </a:extLst>
          </p:cNvPr>
          <p:cNvSpPr/>
          <p:nvPr/>
        </p:nvSpPr>
        <p:spPr>
          <a:xfrm>
            <a:off x="1" y="1318512"/>
            <a:ext cx="18287998" cy="8938593"/>
          </a:xfrm>
          <a:prstGeom prst="roundRect">
            <a:avLst>
              <a:gd name="adj" fmla="val 8602"/>
            </a:avLst>
          </a:prstGeom>
          <a:solidFill>
            <a:srgbClr val="343434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EEE3CD5-1251-EF56-B6CC-B339678F1A92}"/>
              </a:ext>
            </a:extLst>
          </p:cNvPr>
          <p:cNvSpPr txBox="1"/>
          <p:nvPr/>
        </p:nvSpPr>
        <p:spPr>
          <a:xfrm>
            <a:off x="252013" y="1233018"/>
            <a:ext cx="17783973" cy="107805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400" b="1" dirty="0">
                <a:solidFill>
                  <a:schemeClr val="accent6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Kubernetes</a:t>
            </a:r>
            <a:r>
              <a:rPr lang="en-US" sz="24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(K8s)</a:t>
            </a:r>
            <a:r>
              <a:rPr lang="en-US" sz="24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is an open-source </a:t>
            </a:r>
            <a:r>
              <a:rPr lang="en-US" sz="24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container orchestration platform</a:t>
            </a:r>
            <a:r>
              <a:rPr lang="en-US" sz="24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originally developed by Google and now maintained as part of the </a:t>
            </a:r>
            <a:r>
              <a:rPr lang="en-US" sz="24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Cloud Native Computing Foundation (CNCF)</a:t>
            </a:r>
            <a:r>
              <a:rPr lang="en-US" sz="24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  <a:p>
            <a:pPr algn="just">
              <a:lnSpc>
                <a:spcPct val="150000"/>
              </a:lnSpc>
            </a:pPr>
            <a:r>
              <a:rPr lang="en-US" sz="24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Kubernetes helps you </a:t>
            </a:r>
            <a:r>
              <a:rPr lang="en-US" sz="24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deploy, manage, scale, and maintain containerized applications</a:t>
            </a:r>
            <a:r>
              <a:rPr lang="en-US" sz="24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across multiple machines.</a:t>
            </a:r>
          </a:p>
          <a:p>
            <a:pPr>
              <a:lnSpc>
                <a:spcPct val="150000"/>
              </a:lnSpc>
            </a:pPr>
            <a:r>
              <a:rPr lang="en-US" sz="2600" b="1" dirty="0">
                <a:solidFill>
                  <a:schemeClr val="accent6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Think of Kubernetes as a Manager for Containers</a:t>
            </a:r>
          </a:p>
          <a:p>
            <a:pPr algn="just">
              <a:lnSpc>
                <a:spcPct val="150000"/>
              </a:lnSpc>
            </a:pPr>
            <a:r>
              <a:rPr lang="en-US" sz="24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Instead of manually managing containers on different servers, Kubernetes manages them for you.</a:t>
            </a:r>
          </a:p>
          <a:p>
            <a:pPr algn="just">
              <a:lnSpc>
                <a:spcPct val="150000"/>
              </a:lnSpc>
            </a:pPr>
            <a:r>
              <a:rPr lang="en-US" sz="24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 </a:t>
            </a:r>
            <a:r>
              <a:rPr lang="en-US" sz="24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Kubernetes cluster</a:t>
            </a:r>
            <a:r>
              <a:rPr lang="en-US" sz="24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is a group of machines called </a:t>
            </a:r>
            <a:r>
              <a:rPr lang="en-US" sz="24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nodes</a:t>
            </a:r>
            <a:r>
              <a:rPr lang="en-US" sz="24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that work together to run containerized applications. Kubernetes makes it possible to manage these machines and applications as one coordinated system.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chemeClr val="accent6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Key Features of Kubernetes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chemeClr val="accent6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1. Self-Healing</a:t>
            </a:r>
          </a:p>
          <a:p>
            <a:pPr algn="just">
              <a:lnSpc>
                <a:spcPct val="150000"/>
              </a:lnSpc>
            </a:pPr>
            <a:r>
              <a:rPr lang="en-US" sz="24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Kubernetes continuously monitors the applications running in the cluster. </a:t>
            </a:r>
          </a:p>
          <a:p>
            <a:pPr algn="just"/>
            <a:r>
              <a:rPr lang="en-US" sz="24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If a </a:t>
            </a:r>
            <a:r>
              <a:rPr lang="en-US" sz="24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Pod</a:t>
            </a:r>
            <a:r>
              <a:rPr lang="en-US" sz="24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crashes or stops working, Kubernetes can automatically restart or replace it to maintain the desired number of running instances.</a:t>
            </a:r>
          </a:p>
          <a:p>
            <a:endParaRPr lang="en-US" sz="2400" b="1" dirty="0">
              <a:solidFill>
                <a:schemeClr val="accent6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sz="2400" b="1" dirty="0">
                <a:solidFill>
                  <a:schemeClr val="accent6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2. Auto-Scaling</a:t>
            </a:r>
          </a:p>
          <a:p>
            <a:pPr algn="just"/>
            <a:r>
              <a:rPr lang="en-US" sz="24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Kubernetes can automatically increase or decrease the number of Pods based on resource usage or other defined metrics.</a:t>
            </a:r>
          </a:p>
          <a:p>
            <a:pPr algn="just"/>
            <a:r>
              <a:rPr lang="en-US" sz="24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For example, the </a:t>
            </a:r>
            <a:r>
              <a:rPr lang="en-US" sz="24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Horizontal Pod </a:t>
            </a:r>
            <a:r>
              <a:rPr lang="en-US" sz="2400" b="1" dirty="0" err="1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Autoscaler</a:t>
            </a:r>
            <a:r>
              <a:rPr lang="en-US" sz="24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(HPA)</a:t>
            </a:r>
            <a:r>
              <a:rPr lang="en-US" sz="24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can scale an application based on:</a:t>
            </a:r>
          </a:p>
          <a:p>
            <a:pPr marL="342900" lvl="0" indent="-342900">
              <a:buClr>
                <a:schemeClr val="accent6"/>
              </a:buCl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CPU utilization</a:t>
            </a:r>
          </a:p>
          <a:p>
            <a:pPr marL="342900" lvl="0" indent="-342900">
              <a:buClr>
                <a:schemeClr val="accent6"/>
              </a:buCl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Memory utilization</a:t>
            </a:r>
          </a:p>
          <a:p>
            <a:pPr marL="342900" lvl="0" indent="-342900">
              <a:buClr>
                <a:schemeClr val="accent6"/>
              </a:buCl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Custom or application metrics</a:t>
            </a:r>
          </a:p>
          <a:p>
            <a:endParaRPr lang="en-US" sz="2400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en-US" sz="2400" dirty="0"/>
          </a:p>
          <a:p>
            <a:pPr>
              <a:lnSpc>
                <a:spcPct val="150000"/>
              </a:lnSpc>
            </a:pPr>
            <a:endParaRPr lang="en-US" sz="2400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lnSpc>
                <a:spcPct val="150000"/>
              </a:lnSpc>
            </a:pPr>
            <a:endParaRPr lang="en-US" sz="2400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2611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3d50459c92a_0_1122"/>
          <p:cNvSpPr/>
          <p:nvPr/>
        </p:nvSpPr>
        <p:spPr>
          <a:xfrm>
            <a:off x="252014" y="153766"/>
            <a:ext cx="17783973" cy="9979469"/>
          </a:xfrm>
          <a:custGeom>
            <a:avLst/>
            <a:gdLst/>
            <a:ahLst/>
            <a:cxnLst/>
            <a:rect l="l" t="t" r="r" b="b"/>
            <a:pathLst>
              <a:path w="17783973" h="9979469" extrusionOk="0">
                <a:moveTo>
                  <a:pt x="0" y="0"/>
                </a:moveTo>
                <a:lnTo>
                  <a:pt x="17783972" y="0"/>
                </a:lnTo>
                <a:lnTo>
                  <a:pt x="17783972" y="9979468"/>
                </a:lnTo>
                <a:lnTo>
                  <a:pt x="0" y="997946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4000"/>
            </a:blip>
            <a:stretch>
              <a:fillRect l="-2130" t="-130" b="-6510"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grpSp>
        <p:nvGrpSpPr>
          <p:cNvPr id="249" name="Google Shape;249;g3d50459c92a_0_1122"/>
          <p:cNvGrpSpPr/>
          <p:nvPr/>
        </p:nvGrpSpPr>
        <p:grpSpPr>
          <a:xfrm>
            <a:off x="530603" y="553241"/>
            <a:ext cx="4536332" cy="836104"/>
            <a:chOff x="0" y="0"/>
            <a:chExt cx="6048443" cy="1114806"/>
          </a:xfrm>
        </p:grpSpPr>
        <p:sp>
          <p:nvSpPr>
            <p:cNvPr id="250" name="Google Shape;250;g3d50459c92a_0_1122" descr="Insights on ACTD Accreditation from a Leading Body"/>
            <p:cNvSpPr/>
            <p:nvPr/>
          </p:nvSpPr>
          <p:spPr>
            <a:xfrm>
              <a:off x="2976677" y="44434"/>
              <a:ext cx="1070372" cy="1070372"/>
            </a:xfrm>
            <a:custGeom>
              <a:avLst/>
              <a:gdLst/>
              <a:ahLst/>
              <a:cxnLst/>
              <a:rect l="l" t="t" r="r" b="b"/>
              <a:pathLst>
                <a:path w="2952750" h="2952750" extrusionOk="0">
                  <a:moveTo>
                    <a:pt x="0" y="0"/>
                  </a:moveTo>
                  <a:lnTo>
                    <a:pt x="2952750" y="0"/>
                  </a:lnTo>
                  <a:lnTo>
                    <a:pt x="2952750" y="2952750"/>
                  </a:lnTo>
                  <a:lnTo>
                    <a:pt x="0" y="295275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1" name="Google Shape;251;g3d50459c92a_0_1122"/>
            <p:cNvSpPr txBox="1"/>
            <p:nvPr/>
          </p:nvSpPr>
          <p:spPr>
            <a:xfrm>
              <a:off x="4168343" y="157841"/>
              <a:ext cx="1880100" cy="532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1992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63"/>
                <a:buFont typeface="Arial"/>
                <a:buNone/>
              </a:pPr>
              <a:r>
                <a:rPr lang="en-US" sz="763" b="0" i="0" u="none" strike="noStrike" cap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ACCREDITED BY THE AMERICAN COUNCIL OF TRAINING AND DEVELOPMENT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2" name="Google Shape;252;g3d50459c92a_0_1122"/>
            <p:cNvSpPr/>
            <p:nvPr/>
          </p:nvSpPr>
          <p:spPr>
            <a:xfrm>
              <a:off x="0" y="44434"/>
              <a:ext cx="2756281" cy="810768"/>
            </a:xfrm>
            <a:custGeom>
              <a:avLst/>
              <a:gdLst/>
              <a:ahLst/>
              <a:cxnLst/>
              <a:rect l="l" t="t" r="r" b="b"/>
              <a:pathLst>
                <a:path w="2756281" h="810768" extrusionOk="0">
                  <a:moveTo>
                    <a:pt x="0" y="0"/>
                  </a:moveTo>
                  <a:lnTo>
                    <a:pt x="2756281" y="0"/>
                  </a:lnTo>
                  <a:lnTo>
                    <a:pt x="2756281" y="810768"/>
                  </a:lnTo>
                  <a:lnTo>
                    <a:pt x="0" y="81076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 t="-30" b="-40"/>
              </a:stretch>
            </a:blip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cxnSp>
          <p:nvCxnSpPr>
            <p:cNvPr id="253" name="Google Shape;253;g3d50459c92a_0_1122"/>
            <p:cNvCxnSpPr/>
            <p:nvPr/>
          </p:nvCxnSpPr>
          <p:spPr>
            <a:xfrm>
              <a:off x="2900823" y="0"/>
              <a:ext cx="0" cy="860100"/>
            </a:xfrm>
            <a:prstGeom prst="straightConnector1">
              <a:avLst/>
            </a:prstGeom>
            <a:noFill/>
            <a:ln w="254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254" name="Google Shape;254;g3d50459c92a_0_1122"/>
          <p:cNvSpPr/>
          <p:nvPr/>
        </p:nvSpPr>
        <p:spPr>
          <a:xfrm>
            <a:off x="5984929" y="693269"/>
            <a:ext cx="8772350" cy="399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8F8"/>
              </a:buClr>
              <a:buSzPts val="5832"/>
              <a:buFont typeface="Trebuchet MS"/>
              <a:buNone/>
            </a:pPr>
            <a:r>
              <a:rPr lang="en-US" sz="4800" dirty="0">
                <a:solidFill>
                  <a:srgbClr val="434343"/>
                </a:solidFill>
                <a:latin typeface="Cambria" panose="02040503050406030204" pitchFamily="18" charset="0"/>
                <a:ea typeface="Cambria" panose="02040503050406030204" pitchFamily="18" charset="0"/>
                <a:cs typeface="Poppins"/>
                <a:sym typeface="Poppins"/>
              </a:rPr>
              <a:t>Kubernetes : The Orchestrator</a:t>
            </a:r>
            <a:endParaRPr sz="4800" dirty="0">
              <a:solidFill>
                <a:srgbClr val="434343"/>
              </a:solidFill>
              <a:latin typeface="Cambria" panose="02040503050406030204" pitchFamily="18" charset="0"/>
              <a:ea typeface="Cambria" panose="02040503050406030204" pitchFamily="18" charset="0"/>
              <a:cs typeface="Poppins"/>
              <a:sym typeface="Poppins"/>
            </a:endParaRPr>
          </a:p>
        </p:txBody>
      </p:sp>
      <p:sp>
        <p:nvSpPr>
          <p:cNvPr id="256" name="Google Shape;256;g3d50459c92a_0_1122"/>
          <p:cNvSpPr/>
          <p:nvPr/>
        </p:nvSpPr>
        <p:spPr>
          <a:xfrm>
            <a:off x="108250" y="1389345"/>
            <a:ext cx="18032266" cy="8788830"/>
          </a:xfrm>
          <a:prstGeom prst="roundRect">
            <a:avLst>
              <a:gd name="adj" fmla="val 8602"/>
            </a:avLst>
          </a:prstGeom>
          <a:solidFill>
            <a:srgbClr val="343434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75BC02C-A987-115D-8C10-15DDBDA49DC6}"/>
              </a:ext>
            </a:extLst>
          </p:cNvPr>
          <p:cNvSpPr txBox="1"/>
          <p:nvPr/>
        </p:nvSpPr>
        <p:spPr>
          <a:xfrm>
            <a:off x="252013" y="1627442"/>
            <a:ext cx="10248839" cy="83337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chemeClr val="accent6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3. Rolling Updates</a:t>
            </a:r>
          </a:p>
          <a:p>
            <a:pPr algn="just">
              <a:lnSpc>
                <a:spcPct val="150000"/>
              </a:lnSpc>
            </a:pPr>
            <a:r>
              <a:rPr lang="en-US" sz="24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Kubernetes can update an application gradually instead of stopping all existing Pods at once.</a:t>
            </a:r>
          </a:p>
          <a:p>
            <a:pPr algn="just">
              <a:lnSpc>
                <a:spcPct val="150000"/>
              </a:lnSpc>
            </a:pPr>
            <a:r>
              <a:rPr lang="en-US" sz="24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During a </a:t>
            </a:r>
            <a:r>
              <a:rPr lang="en-US" sz="24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rolling update</a:t>
            </a:r>
            <a:r>
              <a:rPr lang="en-US" sz="24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, old Pods are progressively replaced with new Pods.</a:t>
            </a:r>
          </a:p>
          <a:p>
            <a:pPr algn="just">
              <a:lnSpc>
                <a:spcPct val="150000"/>
              </a:lnSpc>
            </a:pPr>
            <a:endParaRPr lang="en-US" sz="2400" b="1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chemeClr val="accent6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4. Intelligent Scheduling</a:t>
            </a:r>
          </a:p>
          <a:p>
            <a:pPr algn="just">
              <a:lnSpc>
                <a:spcPct val="150000"/>
              </a:lnSpc>
            </a:pPr>
            <a:r>
              <a:rPr lang="en-US" sz="24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Kubernetes has a component called the </a:t>
            </a:r>
            <a:r>
              <a:rPr lang="en-US" sz="24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Scheduler</a:t>
            </a:r>
            <a:r>
              <a:rPr lang="en-US" sz="24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  <a:p>
            <a:pPr algn="just">
              <a:lnSpc>
                <a:spcPct val="150000"/>
              </a:lnSpc>
            </a:pPr>
            <a:r>
              <a:rPr lang="en-US" sz="24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The Scheduler decides which node should run a Pod based on factors such as:</a:t>
            </a:r>
          </a:p>
          <a:p>
            <a:pPr marL="342900" lvl="0" indent="-342900" algn="just">
              <a:lnSpc>
                <a:spcPct val="150000"/>
              </a:lnSpc>
              <a:buClr>
                <a:schemeClr val="accent6"/>
              </a:buCl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Available CPU and memory</a:t>
            </a:r>
          </a:p>
          <a:p>
            <a:pPr marL="342900" lvl="0" indent="-342900" algn="just">
              <a:lnSpc>
                <a:spcPct val="150000"/>
              </a:lnSpc>
              <a:buClr>
                <a:schemeClr val="accent6"/>
              </a:buCl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Resource requests and limits</a:t>
            </a:r>
          </a:p>
          <a:p>
            <a:pPr marL="342900" lvl="0" indent="-342900" algn="just">
              <a:lnSpc>
                <a:spcPct val="150000"/>
              </a:lnSpc>
              <a:buClr>
                <a:schemeClr val="accent6"/>
              </a:buCl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Node constraints</a:t>
            </a:r>
          </a:p>
          <a:p>
            <a:pPr marL="342900" lvl="0" indent="-342900" algn="just">
              <a:lnSpc>
                <a:spcPct val="150000"/>
              </a:lnSpc>
              <a:buClr>
                <a:schemeClr val="accent6"/>
              </a:buCl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Affinity and anti-affinity rules</a:t>
            </a:r>
          </a:p>
          <a:p>
            <a:pPr marL="342900" lvl="0" indent="-342900" algn="just">
              <a:lnSpc>
                <a:spcPct val="150000"/>
              </a:lnSpc>
              <a:buClr>
                <a:schemeClr val="accent6"/>
              </a:buCl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Taints and tolerations</a:t>
            </a:r>
          </a:p>
          <a:p>
            <a:pPr algn="just">
              <a:lnSpc>
                <a:spcPct val="150000"/>
              </a:lnSpc>
            </a:pPr>
            <a:r>
              <a:rPr lang="en-US" sz="24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Instead of manually deciding where every container should run, Kubernetes makes the scheduling decision based on the rules you provide.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C389780-E6AB-5E20-CB67-DD6C409190BC}"/>
              </a:ext>
            </a:extLst>
          </p:cNvPr>
          <p:cNvSpPr txBox="1"/>
          <p:nvPr/>
        </p:nvSpPr>
        <p:spPr>
          <a:xfrm>
            <a:off x="10500852" y="2094271"/>
            <a:ext cx="7535134" cy="27937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chemeClr val="accent6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5. Service Discovery and Load Balancing</a:t>
            </a:r>
          </a:p>
          <a:p>
            <a:pPr algn="just">
              <a:lnSpc>
                <a:spcPct val="150000"/>
              </a:lnSpc>
            </a:pPr>
            <a:r>
              <a:rPr lang="en-US" sz="24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Kubernetes </a:t>
            </a:r>
            <a:r>
              <a:rPr lang="en-US" sz="24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Services</a:t>
            </a:r>
            <a:r>
              <a:rPr lang="en-US" sz="24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provide a stable way for applications to communicate with Pods.</a:t>
            </a:r>
          </a:p>
          <a:p>
            <a:pPr algn="just">
              <a:lnSpc>
                <a:spcPct val="150000"/>
              </a:lnSpc>
            </a:pPr>
            <a:r>
              <a:rPr lang="en-US" sz="24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 Service can distribute network traffic across multiple healthy Pods running the same application.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39783d9389a_0_1"/>
          <p:cNvSpPr/>
          <p:nvPr/>
        </p:nvSpPr>
        <p:spPr>
          <a:xfrm>
            <a:off x="252014" y="153766"/>
            <a:ext cx="17783973" cy="9979469"/>
          </a:xfrm>
          <a:custGeom>
            <a:avLst/>
            <a:gdLst/>
            <a:ahLst/>
            <a:cxnLst/>
            <a:rect l="l" t="t" r="r" b="b"/>
            <a:pathLst>
              <a:path w="17783973" h="9979469" extrusionOk="0">
                <a:moveTo>
                  <a:pt x="0" y="0"/>
                </a:moveTo>
                <a:lnTo>
                  <a:pt x="17783972" y="0"/>
                </a:lnTo>
                <a:lnTo>
                  <a:pt x="17783972" y="9979468"/>
                </a:lnTo>
                <a:lnTo>
                  <a:pt x="0" y="997946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4000"/>
            </a:blip>
            <a:stretch>
              <a:fillRect l="-2130" t="-130" b="-6510"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grpSp>
        <p:nvGrpSpPr>
          <p:cNvPr id="270" name="Google Shape;270;g39783d9389a_0_1"/>
          <p:cNvGrpSpPr/>
          <p:nvPr/>
        </p:nvGrpSpPr>
        <p:grpSpPr>
          <a:xfrm>
            <a:off x="530603" y="553241"/>
            <a:ext cx="4536332" cy="836104"/>
            <a:chOff x="0" y="0"/>
            <a:chExt cx="6048443" cy="1114806"/>
          </a:xfrm>
        </p:grpSpPr>
        <p:sp>
          <p:nvSpPr>
            <p:cNvPr id="271" name="Google Shape;271;g39783d9389a_0_1" descr="Insights on ACTD Accreditation from a Leading Body"/>
            <p:cNvSpPr/>
            <p:nvPr/>
          </p:nvSpPr>
          <p:spPr>
            <a:xfrm>
              <a:off x="2976677" y="44434"/>
              <a:ext cx="1070372" cy="1070372"/>
            </a:xfrm>
            <a:custGeom>
              <a:avLst/>
              <a:gdLst/>
              <a:ahLst/>
              <a:cxnLst/>
              <a:rect l="l" t="t" r="r" b="b"/>
              <a:pathLst>
                <a:path w="2952750" h="2952750" extrusionOk="0">
                  <a:moveTo>
                    <a:pt x="0" y="0"/>
                  </a:moveTo>
                  <a:lnTo>
                    <a:pt x="2952750" y="0"/>
                  </a:lnTo>
                  <a:lnTo>
                    <a:pt x="2952750" y="2952750"/>
                  </a:lnTo>
                  <a:lnTo>
                    <a:pt x="0" y="295275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2" name="Google Shape;272;g39783d9389a_0_1"/>
            <p:cNvSpPr txBox="1"/>
            <p:nvPr/>
          </p:nvSpPr>
          <p:spPr>
            <a:xfrm>
              <a:off x="4168343" y="157841"/>
              <a:ext cx="1880100" cy="532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1992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63"/>
                <a:buFont typeface="Arial"/>
                <a:buNone/>
              </a:pPr>
              <a:r>
                <a:rPr lang="en-US" sz="763" b="0" i="0" u="none" strike="noStrike" cap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ACCREDITED BY THE AMERICAN COUNCIL OF TRAINING AND DEVELOPMENT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3" name="Google Shape;273;g39783d9389a_0_1"/>
            <p:cNvSpPr/>
            <p:nvPr/>
          </p:nvSpPr>
          <p:spPr>
            <a:xfrm>
              <a:off x="0" y="44434"/>
              <a:ext cx="2756281" cy="810768"/>
            </a:xfrm>
            <a:custGeom>
              <a:avLst/>
              <a:gdLst/>
              <a:ahLst/>
              <a:cxnLst/>
              <a:rect l="l" t="t" r="r" b="b"/>
              <a:pathLst>
                <a:path w="2756281" h="810768" extrusionOk="0">
                  <a:moveTo>
                    <a:pt x="0" y="0"/>
                  </a:moveTo>
                  <a:lnTo>
                    <a:pt x="2756281" y="0"/>
                  </a:lnTo>
                  <a:lnTo>
                    <a:pt x="2756281" y="810768"/>
                  </a:lnTo>
                  <a:lnTo>
                    <a:pt x="0" y="81076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 t="-30" b="-40"/>
              </a:stretch>
            </a:blip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cxnSp>
          <p:nvCxnSpPr>
            <p:cNvPr id="274" name="Google Shape;274;g39783d9389a_0_1"/>
            <p:cNvCxnSpPr/>
            <p:nvPr/>
          </p:nvCxnSpPr>
          <p:spPr>
            <a:xfrm>
              <a:off x="2900823" y="0"/>
              <a:ext cx="0" cy="860100"/>
            </a:xfrm>
            <a:prstGeom prst="straightConnector1">
              <a:avLst/>
            </a:prstGeom>
            <a:noFill/>
            <a:ln w="254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275" name="Google Shape;275;g39783d9389a_0_1"/>
          <p:cNvSpPr/>
          <p:nvPr/>
        </p:nvSpPr>
        <p:spPr>
          <a:xfrm>
            <a:off x="5953080" y="544495"/>
            <a:ext cx="8678060" cy="8298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8F8"/>
              </a:buClr>
              <a:buSzPts val="5832"/>
              <a:buFont typeface="Trebuchet MS"/>
              <a:buNone/>
            </a:pPr>
            <a:r>
              <a:rPr lang="en-US" sz="4800" dirty="0">
                <a:solidFill>
                  <a:srgbClr val="434343"/>
                </a:solidFill>
                <a:latin typeface="Cambria" panose="02040503050406030204" pitchFamily="18" charset="0"/>
                <a:ea typeface="Cambria" panose="02040503050406030204" pitchFamily="18" charset="0"/>
                <a:cs typeface="Poppins"/>
                <a:sym typeface="Poppins"/>
              </a:rPr>
              <a:t>Container Orchestration Problem</a:t>
            </a:r>
            <a:endParaRPr sz="4800" dirty="0">
              <a:solidFill>
                <a:srgbClr val="434343"/>
              </a:solidFill>
              <a:latin typeface="Cambria" panose="02040503050406030204" pitchFamily="18" charset="0"/>
              <a:ea typeface="Cambria" panose="02040503050406030204" pitchFamily="18" charset="0"/>
              <a:cs typeface="Poppins"/>
              <a:sym typeface="Poppins"/>
            </a:endParaRPr>
          </a:p>
        </p:txBody>
      </p:sp>
      <p:sp>
        <p:nvSpPr>
          <p:cNvPr id="277" name="Google Shape;277;g39783d9389a_0_1"/>
          <p:cNvSpPr/>
          <p:nvPr/>
        </p:nvSpPr>
        <p:spPr>
          <a:xfrm>
            <a:off x="108249" y="1337306"/>
            <a:ext cx="18179749" cy="8767129"/>
          </a:xfrm>
          <a:prstGeom prst="roundRect">
            <a:avLst>
              <a:gd name="adj" fmla="val 8602"/>
            </a:avLst>
          </a:prstGeom>
          <a:solidFill>
            <a:srgbClr val="343434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A3848F3-7F58-BBF1-8628-DE43C77782EC}"/>
              </a:ext>
            </a:extLst>
          </p:cNvPr>
          <p:cNvSpPr txBox="1"/>
          <p:nvPr/>
        </p:nvSpPr>
        <p:spPr>
          <a:xfrm>
            <a:off x="383457" y="1276993"/>
            <a:ext cx="17652525" cy="8887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chemeClr val="accent6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The Container Orchestration Problem</a:t>
            </a:r>
          </a:p>
          <a:p>
            <a:pPr algn="just">
              <a:lnSpc>
                <a:spcPct val="150000"/>
              </a:lnSpc>
            </a:pPr>
            <a:r>
              <a:rPr lang="en-US" sz="24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Docker makes it easy to </a:t>
            </a:r>
            <a:r>
              <a:rPr lang="en-US" sz="24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build, package, and run containers</a:t>
            </a:r>
            <a:r>
              <a:rPr lang="en-US" sz="24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, but managing containers at scale becomes difficult.</a:t>
            </a:r>
          </a:p>
          <a:p>
            <a:pPr algn="just">
              <a:lnSpc>
                <a:spcPct val="150000"/>
              </a:lnSpc>
            </a:pPr>
            <a:r>
              <a:rPr lang="en-US" sz="24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Running a few containers manually is manageable. But imagine running </a:t>
            </a:r>
            <a:r>
              <a:rPr lang="en-US" sz="24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1,000 containers across 50 servers: </a:t>
            </a:r>
            <a:r>
              <a:rPr lang="en-US" sz="24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manual management quickly becomes inefficient, error-prone, and difficult to maintain.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chemeClr val="accent6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Limitations of Managing Docker Manually</a:t>
            </a:r>
          </a:p>
          <a:p>
            <a:pPr marL="342900" lvl="0" indent="-342900" algn="just">
              <a:lnSpc>
                <a:spcPct val="150000"/>
              </a:lnSpc>
              <a:buClr>
                <a:schemeClr val="accent6"/>
              </a:buClr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No Automatic Self-Healing:</a:t>
            </a:r>
            <a:r>
              <a:rPr lang="en-US" sz="24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A crashed container may remain down unless someone restarts it.</a:t>
            </a:r>
          </a:p>
          <a:p>
            <a:pPr marL="342900" lvl="0" indent="-342900" algn="just">
              <a:lnSpc>
                <a:spcPct val="150000"/>
              </a:lnSpc>
              <a:buClr>
                <a:schemeClr val="accent6"/>
              </a:buClr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Manual Scaling:</a:t>
            </a:r>
            <a:r>
              <a:rPr lang="en-US" sz="24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Increasing capacity requires manually starting additional containers.</a:t>
            </a:r>
          </a:p>
          <a:p>
            <a:pPr marL="342900" lvl="0" indent="-342900" algn="just">
              <a:lnSpc>
                <a:spcPct val="150000"/>
              </a:lnSpc>
              <a:buClr>
                <a:schemeClr val="accent6"/>
              </a:buClr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Deployment Challenges:</a:t>
            </a:r>
            <a:r>
              <a:rPr lang="en-US" sz="24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Updating hundreds of containers can cause service disruption if not carefully managed.</a:t>
            </a:r>
          </a:p>
          <a:p>
            <a:pPr marL="342900" lvl="0" indent="-342900" algn="just">
              <a:lnSpc>
                <a:spcPct val="150000"/>
              </a:lnSpc>
              <a:buClr>
                <a:schemeClr val="accent6"/>
              </a:buClr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Traffic Management:</a:t>
            </a:r>
            <a:r>
              <a:rPr lang="en-US" sz="24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Docker alone does not provide cluster-wide service discovery and load balancing.</a:t>
            </a:r>
          </a:p>
          <a:p>
            <a:pPr marL="342900" lvl="0" indent="-342900" algn="just">
              <a:lnSpc>
                <a:spcPct val="150000"/>
              </a:lnSpc>
              <a:buClr>
                <a:schemeClr val="accent6"/>
              </a:buClr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Resource Management:</a:t>
            </a:r>
            <a:r>
              <a:rPr lang="en-US" sz="24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Containers may be poorly distributed, leaving some servers overloaded while others remain underutilized.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chemeClr val="accent6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The Solution: Container Orchestration</a:t>
            </a:r>
          </a:p>
          <a:p>
            <a:pPr algn="just">
              <a:lnSpc>
                <a:spcPct val="150000"/>
              </a:lnSpc>
            </a:pPr>
            <a:r>
              <a:rPr lang="en-US" sz="24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As containerized applications grew larger, organizations needed a system that could </a:t>
            </a:r>
            <a:r>
              <a:rPr lang="en-US" sz="24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automatically deploy, scale, schedule, monitor, and recover containers across multiple servers</a:t>
            </a:r>
            <a:r>
              <a:rPr lang="en-US" sz="24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. </a:t>
            </a:r>
          </a:p>
          <a:p>
            <a:pPr algn="just">
              <a:lnSpc>
                <a:spcPct val="150000"/>
              </a:lnSpc>
            </a:pPr>
            <a:r>
              <a:rPr lang="en-US" sz="24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This need led to container orchestration platforms such as Kubernetes, Docker runs containers. Kubernetes manages containers at scale.</a:t>
            </a:r>
            <a:endParaRPr lang="en-US" sz="2400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8">
          <a:extLst>
            <a:ext uri="{FF2B5EF4-FFF2-40B4-BE49-F238E27FC236}">
              <a16:creationId xmlns:a16="http://schemas.microsoft.com/office/drawing/2014/main" id="{2044AA5F-325D-23EB-B0F3-F74A8C5EC6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39783d9389a_0_1">
            <a:extLst>
              <a:ext uri="{FF2B5EF4-FFF2-40B4-BE49-F238E27FC236}">
                <a16:creationId xmlns:a16="http://schemas.microsoft.com/office/drawing/2014/main" id="{77708B43-A503-E8D6-1EFE-6927FC25783A}"/>
              </a:ext>
            </a:extLst>
          </p:cNvPr>
          <p:cNvSpPr/>
          <p:nvPr/>
        </p:nvSpPr>
        <p:spPr>
          <a:xfrm>
            <a:off x="252014" y="153766"/>
            <a:ext cx="17783973" cy="9979469"/>
          </a:xfrm>
          <a:custGeom>
            <a:avLst/>
            <a:gdLst/>
            <a:ahLst/>
            <a:cxnLst/>
            <a:rect l="l" t="t" r="r" b="b"/>
            <a:pathLst>
              <a:path w="17783973" h="9979469" extrusionOk="0">
                <a:moveTo>
                  <a:pt x="0" y="0"/>
                </a:moveTo>
                <a:lnTo>
                  <a:pt x="17783972" y="0"/>
                </a:lnTo>
                <a:lnTo>
                  <a:pt x="17783972" y="9979468"/>
                </a:lnTo>
                <a:lnTo>
                  <a:pt x="0" y="997946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4000"/>
            </a:blip>
            <a:stretch>
              <a:fillRect l="-2130" t="-130" b="-6510"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grpSp>
        <p:nvGrpSpPr>
          <p:cNvPr id="270" name="Google Shape;270;g39783d9389a_0_1">
            <a:extLst>
              <a:ext uri="{FF2B5EF4-FFF2-40B4-BE49-F238E27FC236}">
                <a16:creationId xmlns:a16="http://schemas.microsoft.com/office/drawing/2014/main" id="{4537B130-B26D-433E-2A5E-B46C9C3387BE}"/>
              </a:ext>
            </a:extLst>
          </p:cNvPr>
          <p:cNvGrpSpPr/>
          <p:nvPr/>
        </p:nvGrpSpPr>
        <p:grpSpPr>
          <a:xfrm>
            <a:off x="530603" y="553241"/>
            <a:ext cx="4536332" cy="836104"/>
            <a:chOff x="0" y="0"/>
            <a:chExt cx="6048443" cy="1114806"/>
          </a:xfrm>
        </p:grpSpPr>
        <p:sp>
          <p:nvSpPr>
            <p:cNvPr id="271" name="Google Shape;271;g39783d9389a_0_1" descr="Insights on ACTD Accreditation from a Leading Body">
              <a:extLst>
                <a:ext uri="{FF2B5EF4-FFF2-40B4-BE49-F238E27FC236}">
                  <a16:creationId xmlns:a16="http://schemas.microsoft.com/office/drawing/2014/main" id="{E2BD05A4-5A67-1ADF-9151-FC0F232B06EB}"/>
                </a:ext>
              </a:extLst>
            </p:cNvPr>
            <p:cNvSpPr/>
            <p:nvPr/>
          </p:nvSpPr>
          <p:spPr>
            <a:xfrm>
              <a:off x="2976677" y="44434"/>
              <a:ext cx="1070372" cy="1070372"/>
            </a:xfrm>
            <a:custGeom>
              <a:avLst/>
              <a:gdLst/>
              <a:ahLst/>
              <a:cxnLst/>
              <a:rect l="l" t="t" r="r" b="b"/>
              <a:pathLst>
                <a:path w="2952750" h="2952750" extrusionOk="0">
                  <a:moveTo>
                    <a:pt x="0" y="0"/>
                  </a:moveTo>
                  <a:lnTo>
                    <a:pt x="2952750" y="0"/>
                  </a:lnTo>
                  <a:lnTo>
                    <a:pt x="2952750" y="2952750"/>
                  </a:lnTo>
                  <a:lnTo>
                    <a:pt x="0" y="295275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2" name="Google Shape;272;g39783d9389a_0_1">
              <a:extLst>
                <a:ext uri="{FF2B5EF4-FFF2-40B4-BE49-F238E27FC236}">
                  <a16:creationId xmlns:a16="http://schemas.microsoft.com/office/drawing/2014/main" id="{21D39164-FB42-8A62-CF1D-75A311EA794F}"/>
                </a:ext>
              </a:extLst>
            </p:cNvPr>
            <p:cNvSpPr txBox="1"/>
            <p:nvPr/>
          </p:nvSpPr>
          <p:spPr>
            <a:xfrm>
              <a:off x="4168343" y="157841"/>
              <a:ext cx="1880100" cy="532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1992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63"/>
                <a:buFont typeface="Arial"/>
                <a:buNone/>
              </a:pPr>
              <a:r>
                <a:rPr lang="en-US" sz="763" b="0" i="0" u="none" strike="noStrike" cap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ACCREDITED BY THE AMERICAN COUNCIL OF TRAINING AND DEVELOPMENT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3" name="Google Shape;273;g39783d9389a_0_1">
              <a:extLst>
                <a:ext uri="{FF2B5EF4-FFF2-40B4-BE49-F238E27FC236}">
                  <a16:creationId xmlns:a16="http://schemas.microsoft.com/office/drawing/2014/main" id="{BD93DF15-021A-1652-6877-FDE1161784B0}"/>
                </a:ext>
              </a:extLst>
            </p:cNvPr>
            <p:cNvSpPr/>
            <p:nvPr/>
          </p:nvSpPr>
          <p:spPr>
            <a:xfrm>
              <a:off x="0" y="44434"/>
              <a:ext cx="2756281" cy="810768"/>
            </a:xfrm>
            <a:custGeom>
              <a:avLst/>
              <a:gdLst/>
              <a:ahLst/>
              <a:cxnLst/>
              <a:rect l="l" t="t" r="r" b="b"/>
              <a:pathLst>
                <a:path w="2756281" h="810768" extrusionOk="0">
                  <a:moveTo>
                    <a:pt x="0" y="0"/>
                  </a:moveTo>
                  <a:lnTo>
                    <a:pt x="2756281" y="0"/>
                  </a:lnTo>
                  <a:lnTo>
                    <a:pt x="2756281" y="810768"/>
                  </a:lnTo>
                  <a:lnTo>
                    <a:pt x="0" y="81076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 t="-30" b="-40"/>
              </a:stretch>
            </a:blip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cxnSp>
          <p:nvCxnSpPr>
            <p:cNvPr id="274" name="Google Shape;274;g39783d9389a_0_1">
              <a:extLst>
                <a:ext uri="{FF2B5EF4-FFF2-40B4-BE49-F238E27FC236}">
                  <a16:creationId xmlns:a16="http://schemas.microsoft.com/office/drawing/2014/main" id="{40F8E10C-AF61-E9CA-D764-13E34C40935D}"/>
                </a:ext>
              </a:extLst>
            </p:cNvPr>
            <p:cNvCxnSpPr/>
            <p:nvPr/>
          </p:nvCxnSpPr>
          <p:spPr>
            <a:xfrm>
              <a:off x="2900823" y="0"/>
              <a:ext cx="0" cy="860100"/>
            </a:xfrm>
            <a:prstGeom prst="straightConnector1">
              <a:avLst/>
            </a:prstGeom>
            <a:noFill/>
            <a:ln w="254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275" name="Google Shape;275;g39783d9389a_0_1">
            <a:extLst>
              <a:ext uri="{FF2B5EF4-FFF2-40B4-BE49-F238E27FC236}">
                <a16:creationId xmlns:a16="http://schemas.microsoft.com/office/drawing/2014/main" id="{65834FC3-AD5B-78DC-1E92-D07FA858B2A4}"/>
              </a:ext>
            </a:extLst>
          </p:cNvPr>
          <p:cNvSpPr/>
          <p:nvPr/>
        </p:nvSpPr>
        <p:spPr>
          <a:xfrm>
            <a:off x="5602238" y="436116"/>
            <a:ext cx="8678060" cy="8298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 algn="ctr">
              <a:lnSpc>
                <a:spcPct val="139977"/>
              </a:lnSpc>
              <a:buSzPts val="4500"/>
            </a:pPr>
            <a:r>
              <a:rPr lang="en-US" sz="4800" dirty="0">
                <a:solidFill>
                  <a:srgbClr val="0D0D0D"/>
                </a:solidFill>
                <a:latin typeface="Cambria" panose="02040503050406030204" pitchFamily="18" charset="0"/>
                <a:ea typeface="Cambria" panose="02040503050406030204" pitchFamily="18" charset="0"/>
                <a:cs typeface="Poppins"/>
                <a:sym typeface="Poppins"/>
              </a:rPr>
              <a:t>Docker Compose Vs Kubernetes</a:t>
            </a:r>
            <a:endParaRPr lang="en-US" sz="4800" dirty="0">
              <a:latin typeface="Cambria" panose="02040503050406030204" pitchFamily="18" charset="0"/>
              <a:ea typeface="Cambria" panose="02040503050406030204" pitchFamily="18" charset="0"/>
              <a:cs typeface="Poppins"/>
              <a:sym typeface="Poppins"/>
            </a:endParaRPr>
          </a:p>
        </p:txBody>
      </p:sp>
      <p:sp>
        <p:nvSpPr>
          <p:cNvPr id="277" name="Google Shape;277;g39783d9389a_0_1">
            <a:extLst>
              <a:ext uri="{FF2B5EF4-FFF2-40B4-BE49-F238E27FC236}">
                <a16:creationId xmlns:a16="http://schemas.microsoft.com/office/drawing/2014/main" id="{BDC6A4FC-F51B-1BA0-CA20-D1E92134A0C4}"/>
              </a:ext>
            </a:extLst>
          </p:cNvPr>
          <p:cNvSpPr/>
          <p:nvPr/>
        </p:nvSpPr>
        <p:spPr>
          <a:xfrm>
            <a:off x="108249" y="1337306"/>
            <a:ext cx="18179749" cy="8767129"/>
          </a:xfrm>
          <a:prstGeom prst="roundRect">
            <a:avLst>
              <a:gd name="adj" fmla="val 8602"/>
            </a:avLst>
          </a:prstGeom>
          <a:solidFill>
            <a:srgbClr val="343434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3F664F96-B996-261B-D423-FF47369F5160}"/>
              </a:ext>
            </a:extLst>
          </p:cNvPr>
          <p:cNvGraphicFramePr>
            <a:graphicFrameLocks noGrp="1"/>
          </p:cNvGraphicFramePr>
          <p:nvPr/>
        </p:nvGraphicFramePr>
        <p:xfrm>
          <a:off x="530602" y="1374353"/>
          <a:ext cx="17505383" cy="8622807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3037237">
                  <a:extLst>
                    <a:ext uri="{9D8B030D-6E8A-4147-A177-3AD203B41FA5}">
                      <a16:colId xmlns:a16="http://schemas.microsoft.com/office/drawing/2014/main" val="45274820"/>
                    </a:ext>
                  </a:extLst>
                </a:gridCol>
                <a:gridCol w="7227980">
                  <a:extLst>
                    <a:ext uri="{9D8B030D-6E8A-4147-A177-3AD203B41FA5}">
                      <a16:colId xmlns:a16="http://schemas.microsoft.com/office/drawing/2014/main" val="1900763153"/>
                    </a:ext>
                  </a:extLst>
                </a:gridCol>
                <a:gridCol w="7240166">
                  <a:extLst>
                    <a:ext uri="{9D8B030D-6E8A-4147-A177-3AD203B41FA5}">
                      <a16:colId xmlns:a16="http://schemas.microsoft.com/office/drawing/2014/main" val="3130295147"/>
                    </a:ext>
                  </a:extLst>
                </a:gridCol>
              </a:tblGrid>
              <a:tr h="37460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200" b="1" dirty="0">
                          <a:solidFill>
                            <a:schemeClr val="accent6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Area</a:t>
                      </a:r>
                    </a:p>
                  </a:txBody>
                  <a:tcPr marL="53881" marR="53881" marT="26940" marB="2694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200" b="1" dirty="0">
                          <a:solidFill>
                            <a:schemeClr val="accent6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Docker</a:t>
                      </a:r>
                    </a:p>
                  </a:txBody>
                  <a:tcPr marL="53881" marR="53881" marT="26940" marB="2694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200" b="1" dirty="0">
                          <a:solidFill>
                            <a:schemeClr val="accent6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Kubernetes</a:t>
                      </a:r>
                    </a:p>
                  </a:txBody>
                  <a:tcPr marL="53881" marR="53881" marT="26940" marB="26940" anchor="ctr"/>
                </a:tc>
                <a:extLst>
                  <a:ext uri="{0D108BD9-81ED-4DB2-BD59-A6C34878D82A}">
                    <a16:rowId xmlns:a16="http://schemas.microsoft.com/office/drawing/2014/main" val="2165290158"/>
                  </a:ext>
                </a:extLst>
              </a:tr>
              <a:tr h="7011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dirty="0">
                          <a:solidFill>
                            <a:schemeClr val="bg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Main Purpose</a:t>
                      </a:r>
                    </a:p>
                  </a:txBody>
                  <a:tcPr marL="53881" marR="53881" marT="26940" marB="269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dirty="0">
                          <a:solidFill>
                            <a:schemeClr val="bg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Builds and runs containers</a:t>
                      </a:r>
                    </a:p>
                  </a:txBody>
                  <a:tcPr marL="53881" marR="53881" marT="26940" marB="269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dirty="0">
                          <a:solidFill>
                            <a:schemeClr val="bg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Manages and orchestrates containers at scale</a:t>
                      </a:r>
                    </a:p>
                  </a:txBody>
                  <a:tcPr marL="53881" marR="53881" marT="26940" marB="26940" anchor="ctr"/>
                </a:tc>
                <a:extLst>
                  <a:ext uri="{0D108BD9-81ED-4DB2-BD59-A6C34878D82A}">
                    <a16:rowId xmlns:a16="http://schemas.microsoft.com/office/drawing/2014/main" val="834550683"/>
                  </a:ext>
                </a:extLst>
              </a:tr>
              <a:tr h="7011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dirty="0">
                          <a:solidFill>
                            <a:schemeClr val="bg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Container Management</a:t>
                      </a:r>
                    </a:p>
                  </a:txBody>
                  <a:tcPr marL="53881" marR="53881" marT="26940" marB="269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>
                          <a:solidFill>
                            <a:schemeClr val="bg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Manages containers on individual machines</a:t>
                      </a:r>
                    </a:p>
                  </a:txBody>
                  <a:tcPr marL="53881" marR="53881" marT="26940" marB="269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>
                          <a:solidFill>
                            <a:schemeClr val="bg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Manages containers across multiple machines/nodes</a:t>
                      </a:r>
                    </a:p>
                  </a:txBody>
                  <a:tcPr marL="53881" marR="53881" marT="26940" marB="26940" anchor="ctr"/>
                </a:tc>
                <a:extLst>
                  <a:ext uri="{0D108BD9-81ED-4DB2-BD59-A6C34878D82A}">
                    <a16:rowId xmlns:a16="http://schemas.microsoft.com/office/drawing/2014/main" val="3036349847"/>
                  </a:ext>
                </a:extLst>
              </a:tr>
              <a:tr h="7011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dirty="0">
                          <a:solidFill>
                            <a:schemeClr val="bg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Scaling</a:t>
                      </a:r>
                    </a:p>
                  </a:txBody>
                  <a:tcPr marL="53881" marR="53881" marT="26940" marB="269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>
                          <a:solidFill>
                            <a:schemeClr val="bg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Usually requires manual configuration or additional tools</a:t>
                      </a:r>
                    </a:p>
                  </a:txBody>
                  <a:tcPr marL="53881" marR="53881" marT="26940" marB="269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>
                          <a:solidFill>
                            <a:schemeClr val="bg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Supports automatic and manual scaling</a:t>
                      </a:r>
                    </a:p>
                  </a:txBody>
                  <a:tcPr marL="53881" marR="53881" marT="26940" marB="26940" anchor="ctr"/>
                </a:tc>
                <a:extLst>
                  <a:ext uri="{0D108BD9-81ED-4DB2-BD59-A6C34878D82A}">
                    <a16:rowId xmlns:a16="http://schemas.microsoft.com/office/drawing/2014/main" val="1268313393"/>
                  </a:ext>
                </a:extLst>
              </a:tr>
              <a:tr h="7011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dirty="0">
                          <a:solidFill>
                            <a:schemeClr val="bg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Self-Healing</a:t>
                      </a:r>
                    </a:p>
                  </a:txBody>
                  <a:tcPr marL="53881" marR="53881" marT="26940" marB="269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dirty="0">
                          <a:solidFill>
                            <a:schemeClr val="bg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Can restart containers with configured restart policies</a:t>
                      </a:r>
                    </a:p>
                  </a:txBody>
                  <a:tcPr marL="53881" marR="53881" marT="26940" marB="269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dirty="0">
                          <a:solidFill>
                            <a:schemeClr val="bg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Automatically maintains the desired number of Pods</a:t>
                      </a:r>
                    </a:p>
                  </a:txBody>
                  <a:tcPr marL="53881" marR="53881" marT="26940" marB="26940" anchor="ctr"/>
                </a:tc>
                <a:extLst>
                  <a:ext uri="{0D108BD9-81ED-4DB2-BD59-A6C34878D82A}">
                    <a16:rowId xmlns:a16="http://schemas.microsoft.com/office/drawing/2014/main" val="829212536"/>
                  </a:ext>
                </a:extLst>
              </a:tr>
              <a:tr h="7011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>
                          <a:solidFill>
                            <a:schemeClr val="bg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Deployment</a:t>
                      </a:r>
                    </a:p>
                  </a:txBody>
                  <a:tcPr marL="53881" marR="53881" marT="26940" marB="269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dirty="0">
                          <a:solidFill>
                            <a:schemeClr val="bg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Containers can be updated manually</a:t>
                      </a:r>
                    </a:p>
                  </a:txBody>
                  <a:tcPr marL="53881" marR="53881" marT="26940" marB="269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>
                          <a:solidFill>
                            <a:schemeClr val="bg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Supports controlled deployments such as rolling updates</a:t>
                      </a:r>
                    </a:p>
                  </a:txBody>
                  <a:tcPr marL="53881" marR="53881" marT="26940" marB="26940" anchor="ctr"/>
                </a:tc>
                <a:extLst>
                  <a:ext uri="{0D108BD9-81ED-4DB2-BD59-A6C34878D82A}">
                    <a16:rowId xmlns:a16="http://schemas.microsoft.com/office/drawing/2014/main" val="1338886963"/>
                  </a:ext>
                </a:extLst>
              </a:tr>
              <a:tr h="7011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>
                          <a:solidFill>
                            <a:schemeClr val="bg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Scheduling</a:t>
                      </a:r>
                    </a:p>
                  </a:txBody>
                  <a:tcPr marL="53881" marR="53881" marT="26940" marB="269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dirty="0">
                          <a:solidFill>
                            <a:schemeClr val="bg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You generally decide where containers run</a:t>
                      </a:r>
                    </a:p>
                  </a:txBody>
                  <a:tcPr marL="53881" marR="53881" marT="26940" marB="269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>
                          <a:solidFill>
                            <a:schemeClr val="bg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Scheduler determines suitable nodes for Pods</a:t>
                      </a:r>
                    </a:p>
                  </a:txBody>
                  <a:tcPr marL="53881" marR="53881" marT="26940" marB="26940" anchor="ctr"/>
                </a:tc>
                <a:extLst>
                  <a:ext uri="{0D108BD9-81ED-4DB2-BD59-A6C34878D82A}">
                    <a16:rowId xmlns:a16="http://schemas.microsoft.com/office/drawing/2014/main" val="2513765521"/>
                  </a:ext>
                </a:extLst>
              </a:tr>
              <a:tr h="7011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>
                          <a:solidFill>
                            <a:schemeClr val="bg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Load Balancing</a:t>
                      </a:r>
                    </a:p>
                  </a:txBody>
                  <a:tcPr marL="53881" marR="53881" marT="26940" marB="269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dirty="0">
                          <a:solidFill>
                            <a:schemeClr val="bg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Requires additional configuration/tools</a:t>
                      </a:r>
                    </a:p>
                  </a:txBody>
                  <a:tcPr marL="53881" marR="53881" marT="26940" marB="269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>
                          <a:solidFill>
                            <a:schemeClr val="bg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Kubernetes Services provide service discovery and traffic distribution</a:t>
                      </a:r>
                    </a:p>
                  </a:txBody>
                  <a:tcPr marL="53881" marR="53881" marT="26940" marB="26940" anchor="ctr"/>
                </a:tc>
                <a:extLst>
                  <a:ext uri="{0D108BD9-81ED-4DB2-BD59-A6C34878D82A}">
                    <a16:rowId xmlns:a16="http://schemas.microsoft.com/office/drawing/2014/main" val="2716031312"/>
                  </a:ext>
                </a:extLst>
              </a:tr>
              <a:tr h="7011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>
                          <a:solidFill>
                            <a:schemeClr val="bg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Networking</a:t>
                      </a:r>
                    </a:p>
                  </a:txBody>
                  <a:tcPr marL="53881" marR="53881" marT="26940" marB="269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dirty="0">
                          <a:solidFill>
                            <a:schemeClr val="bg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Provides container networking</a:t>
                      </a:r>
                    </a:p>
                  </a:txBody>
                  <a:tcPr marL="53881" marR="53881" marT="26940" marB="269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>
                          <a:solidFill>
                            <a:schemeClr val="bg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Provides cluster-level networking and Services</a:t>
                      </a:r>
                    </a:p>
                  </a:txBody>
                  <a:tcPr marL="53881" marR="53881" marT="26940" marB="26940" anchor="ctr"/>
                </a:tc>
                <a:extLst>
                  <a:ext uri="{0D108BD9-81ED-4DB2-BD59-A6C34878D82A}">
                    <a16:rowId xmlns:a16="http://schemas.microsoft.com/office/drawing/2014/main" val="141057880"/>
                  </a:ext>
                </a:extLst>
              </a:tr>
              <a:tr h="7011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>
                          <a:solidFill>
                            <a:schemeClr val="bg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Resource Management</a:t>
                      </a:r>
                    </a:p>
                  </a:txBody>
                  <a:tcPr marL="53881" marR="53881" marT="26940" marB="269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dirty="0">
                          <a:solidFill>
                            <a:schemeClr val="bg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Basic container resource controls</a:t>
                      </a:r>
                    </a:p>
                  </a:txBody>
                  <a:tcPr marL="53881" marR="53881" marT="26940" marB="269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>
                          <a:solidFill>
                            <a:schemeClr val="bg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Schedules workloads based on CPU, memory, and other constraints</a:t>
                      </a:r>
                    </a:p>
                  </a:txBody>
                  <a:tcPr marL="53881" marR="53881" marT="26940" marB="26940" anchor="ctr"/>
                </a:tc>
                <a:extLst>
                  <a:ext uri="{0D108BD9-81ED-4DB2-BD59-A6C34878D82A}">
                    <a16:rowId xmlns:a16="http://schemas.microsoft.com/office/drawing/2014/main" val="1665751283"/>
                  </a:ext>
                </a:extLst>
              </a:tr>
              <a:tr h="7011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>
                          <a:solidFill>
                            <a:schemeClr val="bg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High Availability</a:t>
                      </a:r>
                    </a:p>
                  </a:txBody>
                  <a:tcPr marL="53881" marR="53881" marT="26940" marB="269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dirty="0">
                          <a:solidFill>
                            <a:schemeClr val="bg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Requires additional setup</a:t>
                      </a:r>
                    </a:p>
                  </a:txBody>
                  <a:tcPr marL="53881" marR="53881" marT="26940" marB="269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dirty="0">
                          <a:solidFill>
                            <a:schemeClr val="bg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Designed to support highly available workloads</a:t>
                      </a:r>
                    </a:p>
                  </a:txBody>
                  <a:tcPr marL="53881" marR="53881" marT="26940" marB="26940" anchor="ctr"/>
                </a:tc>
                <a:extLst>
                  <a:ext uri="{0D108BD9-81ED-4DB2-BD59-A6C34878D82A}">
                    <a16:rowId xmlns:a16="http://schemas.microsoft.com/office/drawing/2014/main" val="37743836"/>
                  </a:ext>
                </a:extLst>
              </a:tr>
              <a:tr h="4747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>
                          <a:solidFill>
                            <a:schemeClr val="bg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Desired State</a:t>
                      </a:r>
                    </a:p>
                  </a:txBody>
                  <a:tcPr marL="53881" marR="53881" marT="26940" marB="269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>
                          <a:solidFill>
                            <a:schemeClr val="bg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Primarily command-based management</a:t>
                      </a:r>
                    </a:p>
                  </a:txBody>
                  <a:tcPr marL="53881" marR="53881" marT="26940" marB="269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dirty="0">
                          <a:solidFill>
                            <a:schemeClr val="bg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Declarative: you define the desired state</a:t>
                      </a:r>
                    </a:p>
                  </a:txBody>
                  <a:tcPr marL="53881" marR="53881" marT="26940" marB="26940" anchor="ctr"/>
                </a:tc>
                <a:extLst>
                  <a:ext uri="{0D108BD9-81ED-4DB2-BD59-A6C34878D82A}">
                    <a16:rowId xmlns:a16="http://schemas.microsoft.com/office/drawing/2014/main" val="3025114759"/>
                  </a:ext>
                </a:extLst>
              </a:tr>
              <a:tr h="7011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>
                          <a:solidFill>
                            <a:schemeClr val="bg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Best For</a:t>
                      </a:r>
                    </a:p>
                  </a:txBody>
                  <a:tcPr marL="53881" marR="53881" marT="26940" marB="269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>
                          <a:solidFill>
                            <a:schemeClr val="bg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Building, packaging, and running containers</a:t>
                      </a:r>
                    </a:p>
                  </a:txBody>
                  <a:tcPr marL="53881" marR="53881" marT="26940" marB="269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dirty="0">
                          <a:solidFill>
                            <a:schemeClr val="bg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Managing containerized applications across a cluster</a:t>
                      </a:r>
                    </a:p>
                  </a:txBody>
                  <a:tcPr marL="53881" marR="53881" marT="26940" marB="26940" anchor="ctr"/>
                </a:tc>
                <a:extLst>
                  <a:ext uri="{0D108BD9-81ED-4DB2-BD59-A6C34878D82A}">
                    <a16:rowId xmlns:a16="http://schemas.microsoft.com/office/drawing/2014/main" val="5035298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415102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3dae939ee2c_0_0"/>
          <p:cNvSpPr/>
          <p:nvPr/>
        </p:nvSpPr>
        <p:spPr>
          <a:xfrm>
            <a:off x="252014" y="153766"/>
            <a:ext cx="17783973" cy="9979469"/>
          </a:xfrm>
          <a:custGeom>
            <a:avLst/>
            <a:gdLst/>
            <a:ahLst/>
            <a:cxnLst/>
            <a:rect l="l" t="t" r="r" b="b"/>
            <a:pathLst>
              <a:path w="17783973" h="9979469" extrusionOk="0">
                <a:moveTo>
                  <a:pt x="0" y="0"/>
                </a:moveTo>
                <a:lnTo>
                  <a:pt x="17783972" y="0"/>
                </a:lnTo>
                <a:lnTo>
                  <a:pt x="17783972" y="9979468"/>
                </a:lnTo>
                <a:lnTo>
                  <a:pt x="0" y="997946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4000"/>
            </a:blip>
            <a:stretch>
              <a:fillRect l="-2130" t="-130" b="-6510"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grpSp>
        <p:nvGrpSpPr>
          <p:cNvPr id="312" name="Google Shape;312;g3dae939ee2c_0_0"/>
          <p:cNvGrpSpPr/>
          <p:nvPr/>
        </p:nvGrpSpPr>
        <p:grpSpPr>
          <a:xfrm>
            <a:off x="530603" y="553241"/>
            <a:ext cx="4536332" cy="836104"/>
            <a:chOff x="0" y="0"/>
            <a:chExt cx="6048443" cy="1114806"/>
          </a:xfrm>
        </p:grpSpPr>
        <p:sp>
          <p:nvSpPr>
            <p:cNvPr id="313" name="Google Shape;313;g3dae939ee2c_0_0" descr="Insights on ACTD Accreditation from a Leading Body"/>
            <p:cNvSpPr/>
            <p:nvPr/>
          </p:nvSpPr>
          <p:spPr>
            <a:xfrm>
              <a:off x="2976677" y="44434"/>
              <a:ext cx="1070372" cy="1070372"/>
            </a:xfrm>
            <a:custGeom>
              <a:avLst/>
              <a:gdLst/>
              <a:ahLst/>
              <a:cxnLst/>
              <a:rect l="l" t="t" r="r" b="b"/>
              <a:pathLst>
                <a:path w="2952750" h="2952750" extrusionOk="0">
                  <a:moveTo>
                    <a:pt x="0" y="0"/>
                  </a:moveTo>
                  <a:lnTo>
                    <a:pt x="2952750" y="0"/>
                  </a:lnTo>
                  <a:lnTo>
                    <a:pt x="2952750" y="2952750"/>
                  </a:lnTo>
                  <a:lnTo>
                    <a:pt x="0" y="295275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4" name="Google Shape;314;g3dae939ee2c_0_0"/>
            <p:cNvSpPr txBox="1"/>
            <p:nvPr/>
          </p:nvSpPr>
          <p:spPr>
            <a:xfrm>
              <a:off x="4168343" y="157841"/>
              <a:ext cx="1880100" cy="532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1992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63"/>
                <a:buFont typeface="Arial"/>
                <a:buNone/>
              </a:pPr>
              <a:r>
                <a:rPr lang="en-US" sz="763" b="0" i="0" u="none" strike="noStrike" cap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ACCREDITED BY THE AMERICAN COUNCIL OF TRAINING AND DEVELOPMENT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5" name="Google Shape;315;g3dae939ee2c_0_0"/>
            <p:cNvSpPr/>
            <p:nvPr/>
          </p:nvSpPr>
          <p:spPr>
            <a:xfrm>
              <a:off x="0" y="44434"/>
              <a:ext cx="2756281" cy="810768"/>
            </a:xfrm>
            <a:custGeom>
              <a:avLst/>
              <a:gdLst/>
              <a:ahLst/>
              <a:cxnLst/>
              <a:rect l="l" t="t" r="r" b="b"/>
              <a:pathLst>
                <a:path w="2756281" h="810768" extrusionOk="0">
                  <a:moveTo>
                    <a:pt x="0" y="0"/>
                  </a:moveTo>
                  <a:lnTo>
                    <a:pt x="2756281" y="0"/>
                  </a:lnTo>
                  <a:lnTo>
                    <a:pt x="2756281" y="810768"/>
                  </a:lnTo>
                  <a:lnTo>
                    <a:pt x="0" y="81076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 t="-30" b="-40"/>
              </a:stretch>
            </a:blip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cxnSp>
          <p:nvCxnSpPr>
            <p:cNvPr id="316" name="Google Shape;316;g3dae939ee2c_0_0"/>
            <p:cNvCxnSpPr/>
            <p:nvPr/>
          </p:nvCxnSpPr>
          <p:spPr>
            <a:xfrm>
              <a:off x="2900823" y="0"/>
              <a:ext cx="0" cy="860100"/>
            </a:xfrm>
            <a:prstGeom prst="straightConnector1">
              <a:avLst/>
            </a:prstGeom>
            <a:noFill/>
            <a:ln w="254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317" name="Google Shape;317;g3dae939ee2c_0_0"/>
          <p:cNvSpPr/>
          <p:nvPr/>
        </p:nvSpPr>
        <p:spPr>
          <a:xfrm>
            <a:off x="6351425" y="504883"/>
            <a:ext cx="8020186" cy="95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8F8"/>
              </a:buClr>
              <a:buSzPts val="5832"/>
              <a:buFont typeface="Trebuchet MS"/>
              <a:buNone/>
            </a:pPr>
            <a:r>
              <a:rPr lang="en-US" sz="4800" dirty="0">
                <a:solidFill>
                  <a:srgbClr val="434343"/>
                </a:solidFill>
                <a:latin typeface="Cambria" panose="02040503050406030204" pitchFamily="18" charset="0"/>
                <a:ea typeface="Cambria" panose="02040503050406030204" pitchFamily="18" charset="0"/>
                <a:cs typeface="Poppins"/>
                <a:sym typeface="Poppins"/>
              </a:rPr>
              <a:t>Kubernetes Architecture</a:t>
            </a:r>
            <a:endParaRPr sz="4800" dirty="0">
              <a:solidFill>
                <a:srgbClr val="434343"/>
              </a:solidFill>
              <a:latin typeface="Cambria" panose="02040503050406030204" pitchFamily="18" charset="0"/>
              <a:ea typeface="Cambria" panose="02040503050406030204" pitchFamily="18" charset="0"/>
              <a:cs typeface="Poppins"/>
              <a:sym typeface="Poppins"/>
            </a:endParaRPr>
          </a:p>
        </p:txBody>
      </p:sp>
      <p:sp>
        <p:nvSpPr>
          <p:cNvPr id="319" name="Google Shape;319;g3dae939ee2c_0_0"/>
          <p:cNvSpPr/>
          <p:nvPr/>
        </p:nvSpPr>
        <p:spPr>
          <a:xfrm>
            <a:off x="147484" y="1627442"/>
            <a:ext cx="10650574" cy="8371964"/>
          </a:xfrm>
          <a:prstGeom prst="roundRect">
            <a:avLst>
              <a:gd name="adj" fmla="val 8602"/>
            </a:avLst>
          </a:prstGeom>
          <a:solidFill>
            <a:srgbClr val="343434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40131EC-3B5A-0EE3-EC5F-666257355606}"/>
              </a:ext>
            </a:extLst>
          </p:cNvPr>
          <p:cNvSpPr txBox="1"/>
          <p:nvPr/>
        </p:nvSpPr>
        <p:spPr>
          <a:xfrm>
            <a:off x="186757" y="1907201"/>
            <a:ext cx="10611301" cy="7779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 Kubernetes cluster consists of two main areas:</a:t>
            </a:r>
          </a:p>
          <a:p>
            <a:pPr marL="342900" lvl="0" indent="-342900">
              <a:lnSpc>
                <a:spcPct val="150000"/>
              </a:lnSpc>
              <a:buClr>
                <a:schemeClr val="accent6"/>
              </a:buClr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Control Plane</a:t>
            </a:r>
            <a:r>
              <a:rPr lang="en-US" sz="24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– Makes decisions and manages the overall cluster.</a:t>
            </a:r>
          </a:p>
          <a:p>
            <a:pPr marL="342900" lvl="0" indent="-342900">
              <a:lnSpc>
                <a:spcPct val="150000"/>
              </a:lnSpc>
              <a:buClr>
                <a:schemeClr val="accent6"/>
              </a:buClr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Worker Nodes</a:t>
            </a:r>
            <a:r>
              <a:rPr lang="en-US" sz="24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– Run the application's Pods and containers.</a:t>
            </a:r>
          </a:p>
          <a:p>
            <a:pPr algn="just">
              <a:lnSpc>
                <a:spcPct val="150000"/>
              </a:lnSpc>
            </a:pPr>
            <a:r>
              <a:rPr lang="en-US" sz="24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The </a:t>
            </a:r>
            <a:r>
              <a:rPr lang="en-US" sz="24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Kubernetes API Server</a:t>
            </a:r>
            <a:r>
              <a:rPr lang="en-US" sz="24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acts as the central communication point between users, the Control Plane, and Worker Nodes.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chemeClr val="accent6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Control Plane Components</a:t>
            </a:r>
          </a:p>
          <a:p>
            <a:pPr marL="342900" lvl="0" indent="-342900">
              <a:lnSpc>
                <a:spcPct val="150000"/>
              </a:lnSpc>
              <a:buClr>
                <a:schemeClr val="accent6"/>
              </a:buClr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API Server:</a:t>
            </a:r>
            <a:r>
              <a:rPr lang="en-US" sz="24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The entry point to the cluster. Receives and processes Kubernetes requests.</a:t>
            </a:r>
          </a:p>
          <a:p>
            <a:pPr marL="342900" lvl="0" indent="-342900">
              <a:lnSpc>
                <a:spcPct val="150000"/>
              </a:lnSpc>
              <a:buClr>
                <a:schemeClr val="accent6"/>
              </a:buClr>
              <a:buFont typeface="Arial" panose="020B0604020202020204" pitchFamily="34" charset="0"/>
              <a:buChar char="•"/>
            </a:pPr>
            <a:r>
              <a:rPr lang="en-US" sz="2400" b="1" dirty="0" err="1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etcd</a:t>
            </a:r>
            <a:r>
              <a:rPr lang="en-US" sz="24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:</a:t>
            </a:r>
            <a:r>
              <a:rPr lang="en-US" sz="24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Distributed key-value database that stores the cluster's configuration and state.</a:t>
            </a:r>
          </a:p>
          <a:p>
            <a:pPr marL="342900" lvl="0" indent="-342900">
              <a:lnSpc>
                <a:spcPct val="150000"/>
              </a:lnSpc>
              <a:buClr>
                <a:schemeClr val="accent6"/>
              </a:buClr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Scheduler:</a:t>
            </a:r>
            <a:r>
              <a:rPr lang="en-US" sz="24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Determines which Worker Node should run newly created Pods.</a:t>
            </a:r>
          </a:p>
          <a:p>
            <a:pPr marL="342900" lvl="0" indent="-342900">
              <a:lnSpc>
                <a:spcPct val="150000"/>
              </a:lnSpc>
              <a:buClr>
                <a:schemeClr val="accent6"/>
              </a:buClr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Controller Manager:</a:t>
            </a:r>
            <a:r>
              <a:rPr lang="en-US" sz="24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Continuously compares the desired state with the actual state and takes corrective action.</a:t>
            </a:r>
          </a:p>
          <a:p>
            <a:pPr algn="just">
              <a:lnSpc>
                <a:spcPct val="150000"/>
              </a:lnSpc>
            </a:pPr>
            <a:endParaRPr lang="en-US" sz="2400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CA4935C-C467-6F6F-3450-415648655E39}"/>
              </a:ext>
            </a:extLst>
          </p:cNvPr>
          <p:cNvSpPr txBox="1"/>
          <p:nvPr/>
        </p:nvSpPr>
        <p:spPr>
          <a:xfrm>
            <a:off x="10902588" y="1812700"/>
            <a:ext cx="7237928" cy="5656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mbria" panose="02040503050406030204" pitchFamily="18" charset="0"/>
                <a:ea typeface="Cambria" panose="02040503050406030204" pitchFamily="18" charset="0"/>
              </a:rPr>
              <a:t>Worker Node Components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 err="1">
                <a:latin typeface="Cambria" panose="02040503050406030204" pitchFamily="18" charset="0"/>
                <a:ea typeface="Cambria" panose="02040503050406030204" pitchFamily="18" charset="0"/>
              </a:rPr>
              <a:t>Kubelet</a:t>
            </a:r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: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 Agent running on each Worker Node that manages Pods and communicates their status to the API Server.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Kube-proxy: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 Helps implement Kubernetes Service networking and routes traffic to the appropriate Pods.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Container Runtime: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 Software such as </a:t>
            </a:r>
            <a:r>
              <a:rPr lang="en-US" sz="2400" b="1" dirty="0" err="1">
                <a:latin typeface="Cambria" panose="02040503050406030204" pitchFamily="18" charset="0"/>
                <a:ea typeface="Cambria" panose="02040503050406030204" pitchFamily="18" charset="0"/>
              </a:rPr>
              <a:t>containerd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 or </a:t>
            </a:r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CRI-O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 that actually runs the containers.</a:t>
            </a:r>
          </a:p>
          <a:p>
            <a:pPr lvl="0">
              <a:lnSpc>
                <a:spcPct val="150000"/>
              </a:lnSpc>
            </a:pPr>
            <a:endParaRPr 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0">
          <a:extLst>
            <a:ext uri="{FF2B5EF4-FFF2-40B4-BE49-F238E27FC236}">
              <a16:creationId xmlns:a16="http://schemas.microsoft.com/office/drawing/2014/main" id="{04DAE150-ABE0-20DD-E7CA-BD26EE14EA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3dae939ee2c_0_0">
            <a:extLst>
              <a:ext uri="{FF2B5EF4-FFF2-40B4-BE49-F238E27FC236}">
                <a16:creationId xmlns:a16="http://schemas.microsoft.com/office/drawing/2014/main" id="{121D81DD-B286-14EC-5EF7-C6C9E4B9CCE1}"/>
              </a:ext>
            </a:extLst>
          </p:cNvPr>
          <p:cNvSpPr/>
          <p:nvPr/>
        </p:nvSpPr>
        <p:spPr>
          <a:xfrm>
            <a:off x="252014" y="153766"/>
            <a:ext cx="17783973" cy="9979469"/>
          </a:xfrm>
          <a:custGeom>
            <a:avLst/>
            <a:gdLst/>
            <a:ahLst/>
            <a:cxnLst/>
            <a:rect l="l" t="t" r="r" b="b"/>
            <a:pathLst>
              <a:path w="17783973" h="9979469" extrusionOk="0">
                <a:moveTo>
                  <a:pt x="0" y="0"/>
                </a:moveTo>
                <a:lnTo>
                  <a:pt x="17783972" y="0"/>
                </a:lnTo>
                <a:lnTo>
                  <a:pt x="17783972" y="9979468"/>
                </a:lnTo>
                <a:lnTo>
                  <a:pt x="0" y="997946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4000"/>
            </a:blip>
            <a:stretch>
              <a:fillRect l="-2130" t="-130" b="-6510"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grpSp>
        <p:nvGrpSpPr>
          <p:cNvPr id="312" name="Google Shape;312;g3dae939ee2c_0_0">
            <a:extLst>
              <a:ext uri="{FF2B5EF4-FFF2-40B4-BE49-F238E27FC236}">
                <a16:creationId xmlns:a16="http://schemas.microsoft.com/office/drawing/2014/main" id="{F7140DF1-757E-36A4-66C2-9EE76A1A2C16}"/>
              </a:ext>
            </a:extLst>
          </p:cNvPr>
          <p:cNvGrpSpPr/>
          <p:nvPr/>
        </p:nvGrpSpPr>
        <p:grpSpPr>
          <a:xfrm>
            <a:off x="530603" y="553241"/>
            <a:ext cx="4536332" cy="836104"/>
            <a:chOff x="0" y="0"/>
            <a:chExt cx="6048443" cy="1114806"/>
          </a:xfrm>
        </p:grpSpPr>
        <p:sp>
          <p:nvSpPr>
            <p:cNvPr id="313" name="Google Shape;313;g3dae939ee2c_0_0" descr="Insights on ACTD Accreditation from a Leading Body">
              <a:extLst>
                <a:ext uri="{FF2B5EF4-FFF2-40B4-BE49-F238E27FC236}">
                  <a16:creationId xmlns:a16="http://schemas.microsoft.com/office/drawing/2014/main" id="{953F2D49-D0E7-1645-A911-4F0A1B72E92B}"/>
                </a:ext>
              </a:extLst>
            </p:cNvPr>
            <p:cNvSpPr/>
            <p:nvPr/>
          </p:nvSpPr>
          <p:spPr>
            <a:xfrm>
              <a:off x="2976677" y="44434"/>
              <a:ext cx="1070372" cy="1070372"/>
            </a:xfrm>
            <a:custGeom>
              <a:avLst/>
              <a:gdLst/>
              <a:ahLst/>
              <a:cxnLst/>
              <a:rect l="l" t="t" r="r" b="b"/>
              <a:pathLst>
                <a:path w="2952750" h="2952750" extrusionOk="0">
                  <a:moveTo>
                    <a:pt x="0" y="0"/>
                  </a:moveTo>
                  <a:lnTo>
                    <a:pt x="2952750" y="0"/>
                  </a:lnTo>
                  <a:lnTo>
                    <a:pt x="2952750" y="2952750"/>
                  </a:lnTo>
                  <a:lnTo>
                    <a:pt x="0" y="295275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4" name="Google Shape;314;g3dae939ee2c_0_0">
              <a:extLst>
                <a:ext uri="{FF2B5EF4-FFF2-40B4-BE49-F238E27FC236}">
                  <a16:creationId xmlns:a16="http://schemas.microsoft.com/office/drawing/2014/main" id="{BE4DEC4B-7100-943B-E6B4-AA3779DA295A}"/>
                </a:ext>
              </a:extLst>
            </p:cNvPr>
            <p:cNvSpPr txBox="1"/>
            <p:nvPr/>
          </p:nvSpPr>
          <p:spPr>
            <a:xfrm>
              <a:off x="4168343" y="157841"/>
              <a:ext cx="1880100" cy="532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1992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63"/>
                <a:buFont typeface="Arial"/>
                <a:buNone/>
              </a:pPr>
              <a:r>
                <a:rPr lang="en-US" sz="763" b="0" i="0" u="none" strike="noStrike" cap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ACCREDITED BY THE AMERICAN COUNCIL OF TRAINING AND DEVELOPMENT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5" name="Google Shape;315;g3dae939ee2c_0_0">
              <a:extLst>
                <a:ext uri="{FF2B5EF4-FFF2-40B4-BE49-F238E27FC236}">
                  <a16:creationId xmlns:a16="http://schemas.microsoft.com/office/drawing/2014/main" id="{861B65CE-DBCB-75A3-4647-D7DD641DE686}"/>
                </a:ext>
              </a:extLst>
            </p:cNvPr>
            <p:cNvSpPr/>
            <p:nvPr/>
          </p:nvSpPr>
          <p:spPr>
            <a:xfrm>
              <a:off x="0" y="44434"/>
              <a:ext cx="2756281" cy="810768"/>
            </a:xfrm>
            <a:custGeom>
              <a:avLst/>
              <a:gdLst/>
              <a:ahLst/>
              <a:cxnLst/>
              <a:rect l="l" t="t" r="r" b="b"/>
              <a:pathLst>
                <a:path w="2756281" h="810768" extrusionOk="0">
                  <a:moveTo>
                    <a:pt x="0" y="0"/>
                  </a:moveTo>
                  <a:lnTo>
                    <a:pt x="2756281" y="0"/>
                  </a:lnTo>
                  <a:lnTo>
                    <a:pt x="2756281" y="810768"/>
                  </a:lnTo>
                  <a:lnTo>
                    <a:pt x="0" y="81076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 t="-30" b="-40"/>
              </a:stretch>
            </a:blip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cxnSp>
          <p:nvCxnSpPr>
            <p:cNvPr id="316" name="Google Shape;316;g3dae939ee2c_0_0">
              <a:extLst>
                <a:ext uri="{FF2B5EF4-FFF2-40B4-BE49-F238E27FC236}">
                  <a16:creationId xmlns:a16="http://schemas.microsoft.com/office/drawing/2014/main" id="{EA2BCB8B-FC87-80BF-D4B3-8B3B3EA550D4}"/>
                </a:ext>
              </a:extLst>
            </p:cNvPr>
            <p:cNvCxnSpPr/>
            <p:nvPr/>
          </p:nvCxnSpPr>
          <p:spPr>
            <a:xfrm>
              <a:off x="2900823" y="0"/>
              <a:ext cx="0" cy="860100"/>
            </a:xfrm>
            <a:prstGeom prst="straightConnector1">
              <a:avLst/>
            </a:prstGeom>
            <a:noFill/>
            <a:ln w="254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AF4D6D81-4D59-0EDA-698F-6A98B903A38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71518" y="1150906"/>
            <a:ext cx="13704141" cy="91360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60682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EFD"/>
        </a:solidFill>
        <a:effectLst/>
      </p:bgPr>
    </p:bg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g3dae939ee2c_0_383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7783973" h="9979469" extrusionOk="0">
                <a:moveTo>
                  <a:pt x="0" y="0"/>
                </a:moveTo>
                <a:lnTo>
                  <a:pt x="17783972" y="0"/>
                </a:lnTo>
                <a:lnTo>
                  <a:pt x="17783972" y="9979468"/>
                </a:lnTo>
                <a:lnTo>
                  <a:pt x="0" y="997946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4000"/>
            </a:blip>
            <a:stretch>
              <a:fillRect l="-2130" t="-130" b="-6510"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29" name="Google Shape;329;g3dae939ee2c_0_383"/>
          <p:cNvSpPr txBox="1"/>
          <p:nvPr/>
        </p:nvSpPr>
        <p:spPr>
          <a:xfrm>
            <a:off x="9993" y="3539252"/>
            <a:ext cx="4739323" cy="1034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lang="en-US" sz="4800" b="0" i="0" u="none" strike="noStrike" cap="none" dirty="0">
                <a:solidFill>
                  <a:srgbClr val="0D0D0D"/>
                </a:solidFill>
                <a:latin typeface="Cambria" panose="02040503050406030204" pitchFamily="18" charset="0"/>
                <a:ea typeface="Cambria" panose="02040503050406030204" pitchFamily="18" charset="0"/>
                <a:sym typeface="Arial"/>
              </a:rPr>
              <a:t>Picture Explainer</a:t>
            </a:r>
            <a:endParaRPr sz="4800" b="0" i="0" u="none" strike="noStrike" cap="none" dirty="0">
              <a:solidFill>
                <a:srgbClr val="000000"/>
              </a:solidFill>
              <a:latin typeface="Cambria" panose="02040503050406030204" pitchFamily="18" charset="0"/>
              <a:ea typeface="Cambria" panose="02040503050406030204" pitchFamily="18" charset="0"/>
              <a:sym typeface="Arial"/>
            </a:endParaRPr>
          </a:p>
        </p:txBody>
      </p:sp>
      <p:grpSp>
        <p:nvGrpSpPr>
          <p:cNvPr id="330" name="Google Shape;330;g3dae939ee2c_0_383"/>
          <p:cNvGrpSpPr/>
          <p:nvPr/>
        </p:nvGrpSpPr>
        <p:grpSpPr>
          <a:xfrm>
            <a:off x="147147" y="96047"/>
            <a:ext cx="4536332" cy="836104"/>
            <a:chOff x="0" y="0"/>
            <a:chExt cx="6048443" cy="1114806"/>
          </a:xfrm>
        </p:grpSpPr>
        <p:sp>
          <p:nvSpPr>
            <p:cNvPr id="331" name="Google Shape;331;g3dae939ee2c_0_383" descr="Insights on ACTD Accreditation from a Leading Body"/>
            <p:cNvSpPr/>
            <p:nvPr/>
          </p:nvSpPr>
          <p:spPr>
            <a:xfrm>
              <a:off x="2976677" y="44434"/>
              <a:ext cx="1070372" cy="1070372"/>
            </a:xfrm>
            <a:custGeom>
              <a:avLst/>
              <a:gdLst/>
              <a:ahLst/>
              <a:cxnLst/>
              <a:rect l="l" t="t" r="r" b="b"/>
              <a:pathLst>
                <a:path w="2952750" h="2952750" extrusionOk="0">
                  <a:moveTo>
                    <a:pt x="0" y="0"/>
                  </a:moveTo>
                  <a:lnTo>
                    <a:pt x="2952750" y="0"/>
                  </a:lnTo>
                  <a:lnTo>
                    <a:pt x="2952750" y="2952750"/>
                  </a:lnTo>
                  <a:lnTo>
                    <a:pt x="0" y="295275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2" name="Google Shape;332;g3dae939ee2c_0_383"/>
            <p:cNvSpPr txBox="1"/>
            <p:nvPr/>
          </p:nvSpPr>
          <p:spPr>
            <a:xfrm>
              <a:off x="4168343" y="157841"/>
              <a:ext cx="1880100" cy="72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1992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63"/>
                <a:buFont typeface="Arial"/>
                <a:buNone/>
              </a:pPr>
              <a:r>
                <a:rPr lang="en-US" sz="763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ACCREDITED BY THE AMERICAN COUNCIL OF TRAINING AND DEVELOPMENT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3" name="Google Shape;333;g3dae939ee2c_0_383"/>
            <p:cNvSpPr/>
            <p:nvPr/>
          </p:nvSpPr>
          <p:spPr>
            <a:xfrm>
              <a:off x="0" y="44434"/>
              <a:ext cx="2756281" cy="810768"/>
            </a:xfrm>
            <a:custGeom>
              <a:avLst/>
              <a:gdLst/>
              <a:ahLst/>
              <a:cxnLst/>
              <a:rect l="l" t="t" r="r" b="b"/>
              <a:pathLst>
                <a:path w="2756281" h="810768" extrusionOk="0">
                  <a:moveTo>
                    <a:pt x="0" y="0"/>
                  </a:moveTo>
                  <a:lnTo>
                    <a:pt x="2756281" y="0"/>
                  </a:lnTo>
                  <a:lnTo>
                    <a:pt x="2756281" y="810768"/>
                  </a:lnTo>
                  <a:lnTo>
                    <a:pt x="0" y="81076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 t="-30" b="-40"/>
              </a:stretch>
            </a:blip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cxnSp>
          <p:nvCxnSpPr>
            <p:cNvPr id="334" name="Google Shape;334;g3dae939ee2c_0_383"/>
            <p:cNvCxnSpPr/>
            <p:nvPr/>
          </p:nvCxnSpPr>
          <p:spPr>
            <a:xfrm>
              <a:off x="2900823" y="0"/>
              <a:ext cx="0" cy="860100"/>
            </a:xfrm>
            <a:prstGeom prst="straightConnector1">
              <a:avLst/>
            </a:prstGeom>
            <a:noFill/>
            <a:ln w="254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DDFCB940-D55B-9568-C467-2FB69B4E303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08171" y="0"/>
            <a:ext cx="11496132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g39783d9389a_0_79"/>
          <p:cNvSpPr/>
          <p:nvPr/>
        </p:nvSpPr>
        <p:spPr>
          <a:xfrm>
            <a:off x="0" y="0"/>
            <a:ext cx="18035987" cy="10133235"/>
          </a:xfrm>
          <a:custGeom>
            <a:avLst/>
            <a:gdLst/>
            <a:ahLst/>
            <a:cxnLst/>
            <a:rect l="l" t="t" r="r" b="b"/>
            <a:pathLst>
              <a:path w="17783973" h="9979469" extrusionOk="0">
                <a:moveTo>
                  <a:pt x="0" y="0"/>
                </a:moveTo>
                <a:lnTo>
                  <a:pt x="17783972" y="0"/>
                </a:lnTo>
                <a:lnTo>
                  <a:pt x="17783972" y="9979468"/>
                </a:lnTo>
                <a:lnTo>
                  <a:pt x="0" y="997946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4000"/>
            </a:blip>
            <a:stretch>
              <a:fillRect l="-2130" t="-130" b="-6510"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grpSp>
        <p:nvGrpSpPr>
          <p:cNvPr id="345" name="Google Shape;345;g39783d9389a_0_79"/>
          <p:cNvGrpSpPr/>
          <p:nvPr/>
        </p:nvGrpSpPr>
        <p:grpSpPr>
          <a:xfrm>
            <a:off x="137474" y="130976"/>
            <a:ext cx="4536332" cy="836104"/>
            <a:chOff x="0" y="0"/>
            <a:chExt cx="6048443" cy="1114806"/>
          </a:xfrm>
        </p:grpSpPr>
        <p:sp>
          <p:nvSpPr>
            <p:cNvPr id="346" name="Google Shape;346;g39783d9389a_0_79" descr="Insights on ACTD Accreditation from a Leading Body"/>
            <p:cNvSpPr/>
            <p:nvPr/>
          </p:nvSpPr>
          <p:spPr>
            <a:xfrm>
              <a:off x="2976677" y="44434"/>
              <a:ext cx="1070372" cy="1070372"/>
            </a:xfrm>
            <a:custGeom>
              <a:avLst/>
              <a:gdLst/>
              <a:ahLst/>
              <a:cxnLst/>
              <a:rect l="l" t="t" r="r" b="b"/>
              <a:pathLst>
                <a:path w="2952750" h="2952750" extrusionOk="0">
                  <a:moveTo>
                    <a:pt x="0" y="0"/>
                  </a:moveTo>
                  <a:lnTo>
                    <a:pt x="2952750" y="0"/>
                  </a:lnTo>
                  <a:lnTo>
                    <a:pt x="2952750" y="2952750"/>
                  </a:lnTo>
                  <a:lnTo>
                    <a:pt x="0" y="295275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7" name="Google Shape;347;g39783d9389a_0_79"/>
            <p:cNvSpPr txBox="1"/>
            <p:nvPr/>
          </p:nvSpPr>
          <p:spPr>
            <a:xfrm>
              <a:off x="4168343" y="157841"/>
              <a:ext cx="1880100" cy="532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1992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63"/>
                <a:buFont typeface="Arial"/>
                <a:buNone/>
              </a:pPr>
              <a:r>
                <a:rPr lang="en-US" sz="763" b="0" i="0" u="none" strike="noStrike" cap="none" dirty="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ACCREDITED BY THE AMERICAN COUNCIL OF TRAINING AND DEVELOPMENT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8" name="Google Shape;348;g39783d9389a_0_79"/>
            <p:cNvSpPr/>
            <p:nvPr/>
          </p:nvSpPr>
          <p:spPr>
            <a:xfrm>
              <a:off x="0" y="44434"/>
              <a:ext cx="2756281" cy="810768"/>
            </a:xfrm>
            <a:custGeom>
              <a:avLst/>
              <a:gdLst/>
              <a:ahLst/>
              <a:cxnLst/>
              <a:rect l="l" t="t" r="r" b="b"/>
              <a:pathLst>
                <a:path w="2756281" h="810768" extrusionOk="0">
                  <a:moveTo>
                    <a:pt x="0" y="0"/>
                  </a:moveTo>
                  <a:lnTo>
                    <a:pt x="2756281" y="0"/>
                  </a:lnTo>
                  <a:lnTo>
                    <a:pt x="2756281" y="810768"/>
                  </a:lnTo>
                  <a:lnTo>
                    <a:pt x="0" y="81076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 t="-30" b="-40"/>
              </a:stretch>
            </a:blip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cxnSp>
          <p:nvCxnSpPr>
            <p:cNvPr id="349" name="Google Shape;349;g39783d9389a_0_79"/>
            <p:cNvCxnSpPr/>
            <p:nvPr/>
          </p:nvCxnSpPr>
          <p:spPr>
            <a:xfrm>
              <a:off x="2900823" y="0"/>
              <a:ext cx="0" cy="860100"/>
            </a:xfrm>
            <a:prstGeom prst="straightConnector1">
              <a:avLst/>
            </a:prstGeom>
            <a:noFill/>
            <a:ln w="254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350" name="Google Shape;350;g39783d9389a_0_79"/>
          <p:cNvSpPr/>
          <p:nvPr/>
        </p:nvSpPr>
        <p:spPr>
          <a:xfrm>
            <a:off x="5410338" y="70678"/>
            <a:ext cx="11058352" cy="95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F8F8F8"/>
              </a:buClr>
              <a:buSzPts val="5832"/>
              <a:buFont typeface="Trebuchet MS"/>
              <a:buNone/>
            </a:pPr>
            <a:r>
              <a:rPr lang="en-US" sz="4800" dirty="0">
                <a:solidFill>
                  <a:srgbClr val="434343"/>
                </a:solidFill>
                <a:latin typeface="Cambria" panose="02040503050406030204" pitchFamily="18" charset="0"/>
                <a:ea typeface="Cambria" panose="02040503050406030204" pitchFamily="18" charset="0"/>
                <a:cs typeface="Poppins"/>
                <a:sym typeface="Poppins"/>
              </a:rPr>
              <a:t>The Declarative Model — How K8s works</a:t>
            </a:r>
            <a:endParaRPr sz="4800" dirty="0">
              <a:solidFill>
                <a:srgbClr val="434343"/>
              </a:solidFill>
              <a:latin typeface="Cambria" panose="02040503050406030204" pitchFamily="18" charset="0"/>
              <a:ea typeface="Cambria" panose="02040503050406030204" pitchFamily="18" charset="0"/>
              <a:cs typeface="Poppins"/>
              <a:sym typeface="Poppins"/>
            </a:endParaRPr>
          </a:p>
        </p:txBody>
      </p:sp>
      <p:sp>
        <p:nvSpPr>
          <p:cNvPr id="355" name="Google Shape;355;g39783d9389a_0_79"/>
          <p:cNvSpPr/>
          <p:nvPr/>
        </p:nvSpPr>
        <p:spPr>
          <a:xfrm>
            <a:off x="9459944" y="1027378"/>
            <a:ext cx="8404200" cy="9105857"/>
          </a:xfrm>
          <a:prstGeom prst="rect">
            <a:avLst/>
          </a:prstGeom>
          <a:solidFill>
            <a:srgbClr val="030C14"/>
          </a:solidFill>
          <a:ln w="17375" cap="flat" cmpd="sng">
            <a:solidFill>
              <a:srgbClr val="14335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5150" tIns="125150" rIns="125150" bIns="1251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17"/>
              <a:buFont typeface="Arial"/>
              <a:buNone/>
            </a:pPr>
            <a:endParaRPr sz="1917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0AA4072-501C-0DD3-08BA-989339250844}"/>
              </a:ext>
            </a:extLst>
          </p:cNvPr>
          <p:cNvSpPr txBox="1"/>
          <p:nvPr/>
        </p:nvSpPr>
        <p:spPr>
          <a:xfrm>
            <a:off x="250580" y="887154"/>
            <a:ext cx="8223374" cy="8887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Kubernetes is declarative, not imperative.</a:t>
            </a:r>
            <a:endParaRPr 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Instead of telling Kubernetes </a:t>
            </a:r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how to perform each action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, you declare the </a:t>
            </a:r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desired state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, and Kubernetes continuously works to make the actual environment match it.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The Control Loop — Reconciliation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Desired State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      ↓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Observe Actual State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      ↓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Compare / Find Difference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      ↓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Take Corrective Action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      ↓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Desired State Achieved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      ↓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Repeat Continuously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97139B5-7688-6682-A0CD-63BA62F3CE70}"/>
              </a:ext>
            </a:extLst>
          </p:cNvPr>
          <p:cNvSpPr txBox="1"/>
          <p:nvPr/>
        </p:nvSpPr>
        <p:spPr>
          <a:xfrm>
            <a:off x="9771655" y="1499213"/>
            <a:ext cx="7780778" cy="76636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Example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Imperative: Docker</a:t>
            </a:r>
            <a:endParaRPr lang="en-US" sz="2400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400" i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docker run nginx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"Start an Nginx container now.“</a:t>
            </a:r>
          </a:p>
          <a:p>
            <a:pPr>
              <a:lnSpc>
                <a:spcPct val="150000"/>
              </a:lnSpc>
            </a:pPr>
            <a:endParaRPr lang="en-US" sz="2400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Declarative — Kubernetes</a:t>
            </a:r>
            <a:endParaRPr lang="en-US" sz="2400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400" i="1" dirty="0" err="1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kubectl</a:t>
            </a:r>
            <a:r>
              <a:rPr lang="en-US" sz="2400" i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apply -f </a:t>
            </a:r>
            <a:r>
              <a:rPr lang="en-US" sz="2400" i="1" dirty="0" err="1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deployment.yaml</a:t>
            </a:r>
            <a:endParaRPr lang="en-US" sz="2400" i="1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replicas: 3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"I want </a:t>
            </a:r>
            <a:r>
              <a:rPr lang="en-US" sz="24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3 Nginx Pods</a:t>
            </a:r>
            <a:r>
              <a:rPr lang="en-US" sz="24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running."</a:t>
            </a:r>
          </a:p>
          <a:p>
            <a:pPr algn="just">
              <a:lnSpc>
                <a:spcPct val="150000"/>
              </a:lnSpc>
            </a:pPr>
            <a:r>
              <a:rPr lang="en-US" sz="24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Kubernetes continuously monitors the cluster. If one Pod fails, Kubernetes detects the difference between the </a:t>
            </a:r>
            <a:r>
              <a:rPr lang="en-US" sz="24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desired state (3)</a:t>
            </a:r>
            <a:r>
              <a:rPr lang="en-US" sz="24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and </a:t>
            </a:r>
            <a:r>
              <a:rPr lang="en-US" sz="24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actual state (2)</a:t>
            </a:r>
            <a:r>
              <a:rPr lang="en-US" sz="24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and creates another Pod.</a:t>
            </a:r>
          </a:p>
          <a:p>
            <a:endParaRPr lang="en-US" sz="2400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g39799a058bd_0_8"/>
          <p:cNvSpPr/>
          <p:nvPr/>
        </p:nvSpPr>
        <p:spPr>
          <a:xfrm>
            <a:off x="252014" y="153766"/>
            <a:ext cx="17783973" cy="9979469"/>
          </a:xfrm>
          <a:custGeom>
            <a:avLst/>
            <a:gdLst/>
            <a:ahLst/>
            <a:cxnLst/>
            <a:rect l="l" t="t" r="r" b="b"/>
            <a:pathLst>
              <a:path w="17783973" h="9979469" extrusionOk="0">
                <a:moveTo>
                  <a:pt x="0" y="0"/>
                </a:moveTo>
                <a:lnTo>
                  <a:pt x="17783972" y="0"/>
                </a:lnTo>
                <a:lnTo>
                  <a:pt x="17783972" y="9979468"/>
                </a:lnTo>
                <a:lnTo>
                  <a:pt x="0" y="997946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4000"/>
            </a:blip>
            <a:stretch>
              <a:fillRect l="-2130" t="-130" b="-6510"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grpSp>
        <p:nvGrpSpPr>
          <p:cNvPr id="369" name="Google Shape;369;g39799a058bd_0_8"/>
          <p:cNvGrpSpPr/>
          <p:nvPr/>
        </p:nvGrpSpPr>
        <p:grpSpPr>
          <a:xfrm>
            <a:off x="530603" y="553241"/>
            <a:ext cx="4536332" cy="836104"/>
            <a:chOff x="0" y="0"/>
            <a:chExt cx="6048443" cy="1114806"/>
          </a:xfrm>
        </p:grpSpPr>
        <p:sp>
          <p:nvSpPr>
            <p:cNvPr id="370" name="Google Shape;370;g39799a058bd_0_8" descr="Insights on ACTD Accreditation from a Leading Body"/>
            <p:cNvSpPr/>
            <p:nvPr/>
          </p:nvSpPr>
          <p:spPr>
            <a:xfrm>
              <a:off x="2976677" y="44434"/>
              <a:ext cx="1070372" cy="1070372"/>
            </a:xfrm>
            <a:custGeom>
              <a:avLst/>
              <a:gdLst/>
              <a:ahLst/>
              <a:cxnLst/>
              <a:rect l="l" t="t" r="r" b="b"/>
              <a:pathLst>
                <a:path w="2952750" h="2952750" extrusionOk="0">
                  <a:moveTo>
                    <a:pt x="0" y="0"/>
                  </a:moveTo>
                  <a:lnTo>
                    <a:pt x="2952750" y="0"/>
                  </a:lnTo>
                  <a:lnTo>
                    <a:pt x="2952750" y="2952750"/>
                  </a:lnTo>
                  <a:lnTo>
                    <a:pt x="0" y="295275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71" name="Google Shape;371;g39799a058bd_0_8"/>
            <p:cNvSpPr txBox="1"/>
            <p:nvPr/>
          </p:nvSpPr>
          <p:spPr>
            <a:xfrm>
              <a:off x="4168343" y="157841"/>
              <a:ext cx="1880100" cy="532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1992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63"/>
                <a:buFont typeface="Arial"/>
                <a:buNone/>
              </a:pPr>
              <a:r>
                <a:rPr lang="en-US" sz="763" b="0" i="0" u="none" strike="noStrike" cap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ACCREDITED BY THE AMERICAN COUNCIL OF TRAINING AND DEVELOPMENT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2" name="Google Shape;372;g39799a058bd_0_8"/>
            <p:cNvSpPr/>
            <p:nvPr/>
          </p:nvSpPr>
          <p:spPr>
            <a:xfrm>
              <a:off x="0" y="44434"/>
              <a:ext cx="2756281" cy="810768"/>
            </a:xfrm>
            <a:custGeom>
              <a:avLst/>
              <a:gdLst/>
              <a:ahLst/>
              <a:cxnLst/>
              <a:rect l="l" t="t" r="r" b="b"/>
              <a:pathLst>
                <a:path w="2756281" h="810768" extrusionOk="0">
                  <a:moveTo>
                    <a:pt x="0" y="0"/>
                  </a:moveTo>
                  <a:lnTo>
                    <a:pt x="2756281" y="0"/>
                  </a:lnTo>
                  <a:lnTo>
                    <a:pt x="2756281" y="810768"/>
                  </a:lnTo>
                  <a:lnTo>
                    <a:pt x="0" y="81076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 t="-30" b="-40"/>
              </a:stretch>
            </a:blip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cxnSp>
          <p:nvCxnSpPr>
            <p:cNvPr id="373" name="Google Shape;373;g39799a058bd_0_8"/>
            <p:cNvCxnSpPr/>
            <p:nvPr/>
          </p:nvCxnSpPr>
          <p:spPr>
            <a:xfrm>
              <a:off x="2900823" y="0"/>
              <a:ext cx="0" cy="860100"/>
            </a:xfrm>
            <a:prstGeom prst="straightConnector1">
              <a:avLst/>
            </a:prstGeom>
            <a:noFill/>
            <a:ln w="254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374" name="Google Shape;374;g39799a058bd_0_8"/>
          <p:cNvSpPr/>
          <p:nvPr/>
        </p:nvSpPr>
        <p:spPr>
          <a:xfrm>
            <a:off x="5031705" y="620178"/>
            <a:ext cx="13025539" cy="6413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 algn="ctr">
              <a:buClr>
                <a:srgbClr val="F8F8F8"/>
              </a:buClr>
              <a:buSzPts val="5832"/>
            </a:pPr>
            <a:r>
              <a:rPr lang="en-US" sz="4800" dirty="0">
                <a:solidFill>
                  <a:srgbClr val="434343"/>
                </a:solidFill>
                <a:latin typeface="Cambria" panose="02040503050406030204" pitchFamily="18" charset="0"/>
                <a:ea typeface="Cambria" panose="02040503050406030204" pitchFamily="18" charset="0"/>
                <a:cs typeface="Poppins"/>
                <a:sym typeface="Poppins"/>
              </a:rPr>
              <a:t>Key Features: </a:t>
            </a:r>
            <a:r>
              <a:rPr lang="en-US" sz="4800" dirty="0">
                <a:latin typeface="Cambria" panose="02040503050406030204" pitchFamily="18" charset="0"/>
                <a:ea typeface="Cambria" panose="02040503050406030204" pitchFamily="18" charset="0"/>
              </a:rPr>
              <a:t>What Makes Kubernetes Powerful</a:t>
            </a:r>
            <a:endParaRPr sz="4800" b="0" i="0" u="none" strike="noStrike" cap="none" dirty="0">
              <a:solidFill>
                <a:srgbClr val="434343"/>
              </a:solidFill>
              <a:latin typeface="Cambria" panose="02040503050406030204" pitchFamily="18" charset="0"/>
              <a:ea typeface="Cambria" panose="02040503050406030204" pitchFamily="18" charset="0"/>
              <a:cs typeface="Poppins"/>
              <a:sym typeface="Poppins"/>
            </a:endParaRPr>
          </a:p>
        </p:txBody>
      </p:sp>
      <p:sp>
        <p:nvSpPr>
          <p:cNvPr id="376" name="Google Shape;376;g39799a058bd_0_8"/>
          <p:cNvSpPr/>
          <p:nvPr/>
        </p:nvSpPr>
        <p:spPr>
          <a:xfrm>
            <a:off x="108249" y="1588628"/>
            <a:ext cx="10082885" cy="8589547"/>
          </a:xfrm>
          <a:prstGeom prst="roundRect">
            <a:avLst>
              <a:gd name="adj" fmla="val 8602"/>
            </a:avLst>
          </a:prstGeom>
          <a:solidFill>
            <a:srgbClr val="343434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96CBF4F-2BAA-0537-2E95-9958B0364042}"/>
              </a:ext>
            </a:extLst>
          </p:cNvPr>
          <p:cNvSpPr txBox="1"/>
          <p:nvPr/>
        </p:nvSpPr>
        <p:spPr>
          <a:xfrm>
            <a:off x="108250" y="1678281"/>
            <a:ext cx="9846911" cy="8887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Kubernetes is more than a tool for starting containers. It provides a </a:t>
            </a:r>
            <a:r>
              <a:rPr lang="en-US" sz="24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production platform for automating, scaling, networking, and maintaining containerized applications</a:t>
            </a:r>
            <a:r>
              <a:rPr lang="en-US" sz="24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chemeClr val="accent6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What Makes Kubernetes Powerful?</a:t>
            </a:r>
          </a:p>
          <a:p>
            <a:pPr marL="342900" lvl="0" indent="-342900" algn="just">
              <a:lnSpc>
                <a:spcPct val="150000"/>
              </a:lnSpc>
              <a:buClr>
                <a:schemeClr val="accent6"/>
              </a:buClr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Self-Healing:</a:t>
            </a:r>
            <a:r>
              <a:rPr lang="en-US" sz="24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Automatically restarts failed Pods, replaces unhealthy Pods, and reschedules workloads when possible.</a:t>
            </a:r>
          </a:p>
          <a:p>
            <a:pPr marL="342900" lvl="0" indent="-342900" algn="just">
              <a:lnSpc>
                <a:spcPct val="150000"/>
              </a:lnSpc>
              <a:buClr>
                <a:schemeClr val="accent6"/>
              </a:buClr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Horizontal Scaling:</a:t>
            </a:r>
            <a:r>
              <a:rPr lang="en-US" sz="24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Automatically increases or decreases Pod replicas based on CPU, memory, or custom metrics using the </a:t>
            </a:r>
            <a:r>
              <a:rPr lang="en-US" sz="24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Horizontal Pod </a:t>
            </a:r>
            <a:r>
              <a:rPr lang="en-US" sz="2400" b="1" dirty="0" err="1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Autoscaler</a:t>
            </a:r>
            <a:r>
              <a:rPr lang="en-US" sz="24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(HPA)</a:t>
            </a:r>
            <a:r>
              <a:rPr lang="en-US" sz="24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  <a:p>
            <a:pPr marL="342900" lvl="0" indent="-342900" algn="just">
              <a:lnSpc>
                <a:spcPct val="150000"/>
              </a:lnSpc>
              <a:buClr>
                <a:schemeClr val="accent6"/>
              </a:buClr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Rolling Updates &amp; Rollbacks:</a:t>
            </a:r>
            <a:r>
              <a:rPr lang="en-US" sz="24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Gradually deploy new application versions while maintaining availability, with the ability to roll back to a previous version.</a:t>
            </a:r>
          </a:p>
          <a:p>
            <a:pPr marL="342900" lvl="0" indent="-342900" algn="just">
              <a:lnSpc>
                <a:spcPct val="150000"/>
              </a:lnSpc>
              <a:buClr>
                <a:schemeClr val="accent6"/>
              </a:buClr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Service Discovery &amp; Load Balancing:</a:t>
            </a:r>
            <a:r>
              <a:rPr lang="en-US" sz="24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Kubernetes </a:t>
            </a:r>
            <a:r>
              <a:rPr lang="en-US" sz="24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Services</a:t>
            </a:r>
            <a:r>
              <a:rPr lang="en-US" sz="24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provide stable networking and distribute traffic across available Pods, while </a:t>
            </a:r>
            <a:r>
              <a:rPr lang="en-US" sz="2400" b="1" dirty="0" err="1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CoreDNS</a:t>
            </a:r>
            <a:r>
              <a:rPr lang="en-US" sz="24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enables service discovery.</a:t>
            </a:r>
          </a:p>
          <a:p>
            <a:pPr>
              <a:lnSpc>
                <a:spcPct val="150000"/>
              </a:lnSpc>
            </a:pPr>
            <a:endParaRPr lang="en-US" sz="2400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DEEF352-1DEE-EAA6-1967-56312AAF76F8}"/>
              </a:ext>
            </a:extLst>
          </p:cNvPr>
          <p:cNvSpPr txBox="1"/>
          <p:nvPr/>
        </p:nvSpPr>
        <p:spPr>
          <a:xfrm>
            <a:off x="10334898" y="1784729"/>
            <a:ext cx="7844852" cy="7779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just">
              <a:lnSpc>
                <a:spcPct val="150000"/>
              </a:lnSpc>
            </a:pPr>
            <a:r>
              <a:rPr lang="en-US" sz="2400" b="1" dirty="0">
                <a:solidFill>
                  <a:schemeClr val="accent6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Storage Orchestration:</a:t>
            </a:r>
            <a:r>
              <a:rPr lang="en-US" sz="2400" dirty="0">
                <a:solidFill>
                  <a:schemeClr val="accent6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Automatically provisions and mounts persistent storage through </a:t>
            </a:r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PersistentVolumes (PV)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 and </a:t>
            </a:r>
            <a:r>
              <a:rPr lang="en-US" sz="2400" b="1" dirty="0" err="1">
                <a:latin typeface="Cambria" panose="02040503050406030204" pitchFamily="18" charset="0"/>
                <a:ea typeface="Cambria" panose="02040503050406030204" pitchFamily="18" charset="0"/>
              </a:rPr>
              <a:t>PersistentVolumeClaims</a:t>
            </a:r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 (PVCs)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, including cloud and network storage.</a:t>
            </a:r>
          </a:p>
          <a:p>
            <a:pPr lvl="0" algn="just">
              <a:lnSpc>
                <a:spcPct val="150000"/>
              </a:lnSpc>
            </a:pPr>
            <a:r>
              <a:rPr lang="en-US" sz="2400" b="1" dirty="0">
                <a:solidFill>
                  <a:schemeClr val="accent6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Configuration &amp; Secrets Management:</a:t>
            </a:r>
            <a:r>
              <a:rPr lang="en-US" sz="2400" dirty="0">
                <a:solidFill>
                  <a:schemeClr val="accent6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400" b="1" dirty="0" err="1">
                <a:latin typeface="Cambria" panose="02040503050406030204" pitchFamily="18" charset="0"/>
                <a:ea typeface="Cambria" panose="02040503050406030204" pitchFamily="18" charset="0"/>
              </a:rPr>
              <a:t>ConfigMaps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 store application configuration, while </a:t>
            </a:r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Secrets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 manage sensitive values such as credentials and tokens separately from container images.</a:t>
            </a:r>
          </a:p>
          <a:p>
            <a:pPr algn="just">
              <a:lnSpc>
                <a:spcPct val="150000"/>
              </a:lnSpc>
            </a:pPr>
            <a:r>
              <a:rPr lang="en-US" sz="2400" b="1" dirty="0">
                <a:solidFill>
                  <a:schemeClr val="accent6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Key Takeaway</a:t>
            </a:r>
          </a:p>
          <a:p>
            <a:pPr algn="just">
              <a:lnSpc>
                <a:spcPct val="150000"/>
              </a:lnSpc>
            </a:pPr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Kubernetes combines automation, resilience, scalability, networking, storage, and configuration management to keep applications running reliably at scale.</a:t>
            </a:r>
            <a:endParaRPr 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just">
              <a:lnSpc>
                <a:spcPct val="150000"/>
              </a:lnSpc>
            </a:pPr>
            <a:endParaRPr 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g3dae939ee2c_0_62"/>
          <p:cNvSpPr/>
          <p:nvPr/>
        </p:nvSpPr>
        <p:spPr>
          <a:xfrm>
            <a:off x="252014" y="153766"/>
            <a:ext cx="17783973" cy="9979469"/>
          </a:xfrm>
          <a:custGeom>
            <a:avLst/>
            <a:gdLst/>
            <a:ahLst/>
            <a:cxnLst/>
            <a:rect l="l" t="t" r="r" b="b"/>
            <a:pathLst>
              <a:path w="17783973" h="9979469" extrusionOk="0">
                <a:moveTo>
                  <a:pt x="0" y="0"/>
                </a:moveTo>
                <a:lnTo>
                  <a:pt x="17783972" y="0"/>
                </a:lnTo>
                <a:lnTo>
                  <a:pt x="17783972" y="9979468"/>
                </a:lnTo>
                <a:lnTo>
                  <a:pt x="0" y="997946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4000"/>
            </a:blip>
            <a:stretch>
              <a:fillRect l="-2130" t="-130" b="-6510"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grpSp>
        <p:nvGrpSpPr>
          <p:cNvPr id="390" name="Google Shape;390;g3dae939ee2c_0_62"/>
          <p:cNvGrpSpPr/>
          <p:nvPr/>
        </p:nvGrpSpPr>
        <p:grpSpPr>
          <a:xfrm>
            <a:off x="530603" y="553241"/>
            <a:ext cx="4536332" cy="836104"/>
            <a:chOff x="0" y="0"/>
            <a:chExt cx="6048443" cy="1114806"/>
          </a:xfrm>
        </p:grpSpPr>
        <p:sp>
          <p:nvSpPr>
            <p:cNvPr id="391" name="Google Shape;391;g3dae939ee2c_0_62" descr="Insights on ACTD Accreditation from a Leading Body"/>
            <p:cNvSpPr/>
            <p:nvPr/>
          </p:nvSpPr>
          <p:spPr>
            <a:xfrm>
              <a:off x="2976677" y="44434"/>
              <a:ext cx="1070372" cy="1070372"/>
            </a:xfrm>
            <a:custGeom>
              <a:avLst/>
              <a:gdLst/>
              <a:ahLst/>
              <a:cxnLst/>
              <a:rect l="l" t="t" r="r" b="b"/>
              <a:pathLst>
                <a:path w="2952750" h="2952750" extrusionOk="0">
                  <a:moveTo>
                    <a:pt x="0" y="0"/>
                  </a:moveTo>
                  <a:lnTo>
                    <a:pt x="2952750" y="0"/>
                  </a:lnTo>
                  <a:lnTo>
                    <a:pt x="2952750" y="2952750"/>
                  </a:lnTo>
                  <a:lnTo>
                    <a:pt x="0" y="295275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92" name="Google Shape;392;g3dae939ee2c_0_62"/>
            <p:cNvSpPr txBox="1"/>
            <p:nvPr/>
          </p:nvSpPr>
          <p:spPr>
            <a:xfrm>
              <a:off x="4168343" y="157841"/>
              <a:ext cx="1880100" cy="532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1992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63"/>
                <a:buFont typeface="Arial"/>
                <a:buNone/>
              </a:pPr>
              <a:r>
                <a:rPr lang="en-US" sz="763" b="0" i="0" u="none" strike="noStrike" cap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ACCREDITED BY THE AMERICAN COUNCIL OF TRAINING AND DEVELOPMENT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3" name="Google Shape;393;g3dae939ee2c_0_62"/>
            <p:cNvSpPr/>
            <p:nvPr/>
          </p:nvSpPr>
          <p:spPr>
            <a:xfrm>
              <a:off x="0" y="44434"/>
              <a:ext cx="2756281" cy="810768"/>
            </a:xfrm>
            <a:custGeom>
              <a:avLst/>
              <a:gdLst/>
              <a:ahLst/>
              <a:cxnLst/>
              <a:rect l="l" t="t" r="r" b="b"/>
              <a:pathLst>
                <a:path w="2756281" h="810768" extrusionOk="0">
                  <a:moveTo>
                    <a:pt x="0" y="0"/>
                  </a:moveTo>
                  <a:lnTo>
                    <a:pt x="2756281" y="0"/>
                  </a:lnTo>
                  <a:lnTo>
                    <a:pt x="2756281" y="810768"/>
                  </a:lnTo>
                  <a:lnTo>
                    <a:pt x="0" y="81076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 t="-30" b="-40"/>
              </a:stretch>
            </a:blip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cxnSp>
          <p:nvCxnSpPr>
            <p:cNvPr id="394" name="Google Shape;394;g3dae939ee2c_0_62"/>
            <p:cNvCxnSpPr/>
            <p:nvPr/>
          </p:nvCxnSpPr>
          <p:spPr>
            <a:xfrm>
              <a:off x="2900823" y="0"/>
              <a:ext cx="0" cy="860100"/>
            </a:xfrm>
            <a:prstGeom prst="straightConnector1">
              <a:avLst/>
            </a:prstGeom>
            <a:noFill/>
            <a:ln w="254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395" name="Google Shape;395;g3dae939ee2c_0_62"/>
          <p:cNvSpPr/>
          <p:nvPr/>
        </p:nvSpPr>
        <p:spPr>
          <a:xfrm>
            <a:off x="5471447" y="443337"/>
            <a:ext cx="11179686" cy="95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>
              <a:buClr>
                <a:srgbClr val="F8F8F8"/>
              </a:buClr>
              <a:buSzPts val="5832"/>
            </a:pPr>
            <a:r>
              <a:rPr lang="en-US" sz="4800" dirty="0">
                <a:latin typeface="Cambria" panose="02040503050406030204" pitchFamily="18" charset="0"/>
                <a:ea typeface="Cambria" panose="02040503050406030204" pitchFamily="18" charset="0"/>
              </a:rPr>
              <a:t>Kubernetes Use Cases — Where Is It Used?</a:t>
            </a:r>
            <a:endParaRPr sz="4800" b="0" i="0" u="none" strike="noStrike" cap="none" dirty="0">
              <a:solidFill>
                <a:srgbClr val="434343"/>
              </a:solidFill>
              <a:latin typeface="Cambria" panose="02040503050406030204" pitchFamily="18" charset="0"/>
              <a:ea typeface="Cambria" panose="02040503050406030204" pitchFamily="18" charset="0"/>
              <a:cs typeface="Poppins"/>
              <a:sym typeface="Poppins"/>
            </a:endParaRPr>
          </a:p>
        </p:txBody>
      </p:sp>
      <p:sp>
        <p:nvSpPr>
          <p:cNvPr id="397" name="Google Shape;397;g3dae939ee2c_0_62"/>
          <p:cNvSpPr/>
          <p:nvPr/>
        </p:nvSpPr>
        <p:spPr>
          <a:xfrm>
            <a:off x="108250" y="1444977"/>
            <a:ext cx="18179750" cy="8733198"/>
          </a:xfrm>
          <a:prstGeom prst="roundRect">
            <a:avLst>
              <a:gd name="adj" fmla="val 8602"/>
            </a:avLst>
          </a:prstGeom>
          <a:solidFill>
            <a:srgbClr val="343434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0FA6666-EAB8-C9CA-8C11-CE7261C05F6A}"/>
              </a:ext>
            </a:extLst>
          </p:cNvPr>
          <p:cNvSpPr txBox="1"/>
          <p:nvPr/>
        </p:nvSpPr>
        <p:spPr>
          <a:xfrm>
            <a:off x="172405" y="1907201"/>
            <a:ext cx="18007345" cy="72257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Kubernetes has become a widely adopted platform for </a:t>
            </a:r>
            <a:r>
              <a:rPr lang="en-US" sz="24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running and managing containerized workloads at scale</a:t>
            </a:r>
            <a:r>
              <a:rPr lang="en-US" sz="24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. It is available across major cloud platforms and is used in many industries.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chemeClr val="accent6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Where Is Kubernetes Used?</a:t>
            </a:r>
          </a:p>
          <a:p>
            <a:pPr marL="342900" lvl="0" indent="-342900" algn="just">
              <a:lnSpc>
                <a:spcPct val="150000"/>
              </a:lnSpc>
              <a:buClr>
                <a:schemeClr val="accent6"/>
              </a:buClr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E-Commerce &amp; Retail:</a:t>
            </a:r>
            <a:r>
              <a:rPr lang="en-US" sz="24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Automatically scale applications during traffic spikes, such as Black Friday or major sales events.</a:t>
            </a:r>
          </a:p>
          <a:p>
            <a:pPr marL="342900" lvl="0" indent="-342900" algn="just">
              <a:lnSpc>
                <a:spcPct val="150000"/>
              </a:lnSpc>
              <a:buClr>
                <a:schemeClr val="accent6"/>
              </a:buClr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Financial Services:</a:t>
            </a:r>
            <a:r>
              <a:rPr lang="en-US" sz="24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Use </a:t>
            </a:r>
            <a:r>
              <a:rPr lang="en-US" sz="24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Namespaces, RBAC, Secrets, and resource controls</a:t>
            </a:r>
            <a:r>
              <a:rPr lang="en-US" sz="24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to isolate workloads and enforce access and security requirements.</a:t>
            </a:r>
          </a:p>
          <a:p>
            <a:pPr marL="342900" lvl="0" indent="-342900" algn="just">
              <a:lnSpc>
                <a:spcPct val="150000"/>
              </a:lnSpc>
              <a:buClr>
                <a:schemeClr val="accent6"/>
              </a:buClr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Gaming &amp; Streaming:</a:t>
            </a:r>
            <a:r>
              <a:rPr lang="en-US" sz="24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Dynamically run and scale game servers or streaming workloads based on demand.</a:t>
            </a:r>
          </a:p>
          <a:p>
            <a:pPr marL="342900" lvl="0" indent="-342900" algn="just">
              <a:lnSpc>
                <a:spcPct val="150000"/>
              </a:lnSpc>
              <a:buClr>
                <a:schemeClr val="accent6"/>
              </a:buClr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AI &amp; Machine Learning:</a:t>
            </a:r>
            <a:r>
              <a:rPr lang="en-US" sz="24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Schedule workloads across </a:t>
            </a:r>
            <a:r>
              <a:rPr lang="en-US" sz="24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GPU-enabled nodes for model training</a:t>
            </a:r>
            <a:r>
              <a:rPr lang="en-US" sz="24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and CPU-based resources for other workloads such as inference and APIs.</a:t>
            </a:r>
          </a:p>
          <a:p>
            <a:pPr marL="342900" lvl="0" indent="-342900" algn="just">
              <a:lnSpc>
                <a:spcPct val="150000"/>
              </a:lnSpc>
              <a:buClr>
                <a:schemeClr val="accent6"/>
              </a:buClr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Healthcare &amp; SaaS:</a:t>
            </a:r>
            <a:r>
              <a:rPr lang="en-US" sz="24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Support multi-tenant applications by isolating customers or workloads using </a:t>
            </a:r>
            <a:r>
              <a:rPr lang="en-US" sz="24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Namespaces, quotas, and access controls</a:t>
            </a:r>
            <a:r>
              <a:rPr lang="en-US" sz="24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  <a:p>
            <a:pPr marL="342900" lvl="0" indent="-342900" algn="just">
              <a:lnSpc>
                <a:spcPct val="150000"/>
              </a:lnSpc>
              <a:buClr>
                <a:schemeClr val="accent6"/>
              </a:buClr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CI/CD Pipelines:</a:t>
            </a:r>
            <a:r>
              <a:rPr lang="en-US" sz="24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Create temporary environments and test runners on demand, execute automated tests, and remove them when finished.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8">
          <a:extLst>
            <a:ext uri="{FF2B5EF4-FFF2-40B4-BE49-F238E27FC236}">
              <a16:creationId xmlns:a16="http://schemas.microsoft.com/office/drawing/2014/main" id="{EA09616A-09CB-B4B5-98E9-480CF2B398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g3dae939ee2c_0_62">
            <a:extLst>
              <a:ext uri="{FF2B5EF4-FFF2-40B4-BE49-F238E27FC236}">
                <a16:creationId xmlns:a16="http://schemas.microsoft.com/office/drawing/2014/main" id="{9279AA2B-3DC8-1228-9C53-F839E68EC0EA}"/>
              </a:ext>
            </a:extLst>
          </p:cNvPr>
          <p:cNvSpPr/>
          <p:nvPr/>
        </p:nvSpPr>
        <p:spPr>
          <a:xfrm>
            <a:off x="252014" y="153766"/>
            <a:ext cx="17783973" cy="9979469"/>
          </a:xfrm>
          <a:custGeom>
            <a:avLst/>
            <a:gdLst/>
            <a:ahLst/>
            <a:cxnLst/>
            <a:rect l="l" t="t" r="r" b="b"/>
            <a:pathLst>
              <a:path w="17783973" h="9979469" extrusionOk="0">
                <a:moveTo>
                  <a:pt x="0" y="0"/>
                </a:moveTo>
                <a:lnTo>
                  <a:pt x="17783972" y="0"/>
                </a:lnTo>
                <a:lnTo>
                  <a:pt x="17783972" y="9979468"/>
                </a:lnTo>
                <a:lnTo>
                  <a:pt x="0" y="997946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4000"/>
            </a:blip>
            <a:stretch>
              <a:fillRect l="-2130" t="-130" b="-6510"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grpSp>
        <p:nvGrpSpPr>
          <p:cNvPr id="390" name="Google Shape;390;g3dae939ee2c_0_62">
            <a:extLst>
              <a:ext uri="{FF2B5EF4-FFF2-40B4-BE49-F238E27FC236}">
                <a16:creationId xmlns:a16="http://schemas.microsoft.com/office/drawing/2014/main" id="{46E38A14-8B81-ABBB-172C-0C96CD5AAEA8}"/>
              </a:ext>
            </a:extLst>
          </p:cNvPr>
          <p:cNvGrpSpPr/>
          <p:nvPr/>
        </p:nvGrpSpPr>
        <p:grpSpPr>
          <a:xfrm>
            <a:off x="530603" y="553241"/>
            <a:ext cx="4536332" cy="836104"/>
            <a:chOff x="0" y="0"/>
            <a:chExt cx="6048443" cy="1114806"/>
          </a:xfrm>
        </p:grpSpPr>
        <p:sp>
          <p:nvSpPr>
            <p:cNvPr id="391" name="Google Shape;391;g3dae939ee2c_0_62" descr="Insights on ACTD Accreditation from a Leading Body">
              <a:extLst>
                <a:ext uri="{FF2B5EF4-FFF2-40B4-BE49-F238E27FC236}">
                  <a16:creationId xmlns:a16="http://schemas.microsoft.com/office/drawing/2014/main" id="{2D8616BD-F06F-4232-E41D-B01F4E4BE18E}"/>
                </a:ext>
              </a:extLst>
            </p:cNvPr>
            <p:cNvSpPr/>
            <p:nvPr/>
          </p:nvSpPr>
          <p:spPr>
            <a:xfrm>
              <a:off x="2976677" y="44434"/>
              <a:ext cx="1070372" cy="1070372"/>
            </a:xfrm>
            <a:custGeom>
              <a:avLst/>
              <a:gdLst/>
              <a:ahLst/>
              <a:cxnLst/>
              <a:rect l="l" t="t" r="r" b="b"/>
              <a:pathLst>
                <a:path w="2952750" h="2952750" extrusionOk="0">
                  <a:moveTo>
                    <a:pt x="0" y="0"/>
                  </a:moveTo>
                  <a:lnTo>
                    <a:pt x="2952750" y="0"/>
                  </a:lnTo>
                  <a:lnTo>
                    <a:pt x="2952750" y="2952750"/>
                  </a:lnTo>
                  <a:lnTo>
                    <a:pt x="0" y="295275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92" name="Google Shape;392;g3dae939ee2c_0_62">
              <a:extLst>
                <a:ext uri="{FF2B5EF4-FFF2-40B4-BE49-F238E27FC236}">
                  <a16:creationId xmlns:a16="http://schemas.microsoft.com/office/drawing/2014/main" id="{59361C4D-E192-7EFE-4176-4D1B0F2C6270}"/>
                </a:ext>
              </a:extLst>
            </p:cNvPr>
            <p:cNvSpPr txBox="1"/>
            <p:nvPr/>
          </p:nvSpPr>
          <p:spPr>
            <a:xfrm>
              <a:off x="4168343" y="157841"/>
              <a:ext cx="1880100" cy="532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1992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63"/>
                <a:buFont typeface="Arial"/>
                <a:buNone/>
              </a:pPr>
              <a:r>
                <a:rPr lang="en-US" sz="763" b="0" i="0" u="none" strike="noStrike" cap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ACCREDITED BY THE AMERICAN COUNCIL OF TRAINING AND DEVELOPMENT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3" name="Google Shape;393;g3dae939ee2c_0_62">
              <a:extLst>
                <a:ext uri="{FF2B5EF4-FFF2-40B4-BE49-F238E27FC236}">
                  <a16:creationId xmlns:a16="http://schemas.microsoft.com/office/drawing/2014/main" id="{A3DA6A6C-2ACE-9FFC-01CE-4D483FFCE070}"/>
                </a:ext>
              </a:extLst>
            </p:cNvPr>
            <p:cNvSpPr/>
            <p:nvPr/>
          </p:nvSpPr>
          <p:spPr>
            <a:xfrm>
              <a:off x="0" y="44434"/>
              <a:ext cx="2756281" cy="810768"/>
            </a:xfrm>
            <a:custGeom>
              <a:avLst/>
              <a:gdLst/>
              <a:ahLst/>
              <a:cxnLst/>
              <a:rect l="l" t="t" r="r" b="b"/>
              <a:pathLst>
                <a:path w="2756281" h="810768" extrusionOk="0">
                  <a:moveTo>
                    <a:pt x="0" y="0"/>
                  </a:moveTo>
                  <a:lnTo>
                    <a:pt x="2756281" y="0"/>
                  </a:lnTo>
                  <a:lnTo>
                    <a:pt x="2756281" y="810768"/>
                  </a:lnTo>
                  <a:lnTo>
                    <a:pt x="0" y="81076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 t="-30" b="-40"/>
              </a:stretch>
            </a:blip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cxnSp>
          <p:nvCxnSpPr>
            <p:cNvPr id="394" name="Google Shape;394;g3dae939ee2c_0_62">
              <a:extLst>
                <a:ext uri="{FF2B5EF4-FFF2-40B4-BE49-F238E27FC236}">
                  <a16:creationId xmlns:a16="http://schemas.microsoft.com/office/drawing/2014/main" id="{5250841E-B1AA-FD0E-B121-EDD878DA1037}"/>
                </a:ext>
              </a:extLst>
            </p:cNvPr>
            <p:cNvCxnSpPr/>
            <p:nvPr/>
          </p:nvCxnSpPr>
          <p:spPr>
            <a:xfrm>
              <a:off x="2900823" y="0"/>
              <a:ext cx="0" cy="860100"/>
            </a:xfrm>
            <a:prstGeom prst="straightConnector1">
              <a:avLst/>
            </a:prstGeom>
            <a:noFill/>
            <a:ln w="254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395" name="Google Shape;395;g3dae939ee2c_0_62">
            <a:extLst>
              <a:ext uri="{FF2B5EF4-FFF2-40B4-BE49-F238E27FC236}">
                <a16:creationId xmlns:a16="http://schemas.microsoft.com/office/drawing/2014/main" id="{A23AC412-F4F6-E848-FD1C-2138661EA6E7}"/>
              </a:ext>
            </a:extLst>
          </p:cNvPr>
          <p:cNvSpPr/>
          <p:nvPr/>
        </p:nvSpPr>
        <p:spPr>
          <a:xfrm>
            <a:off x="5471447" y="443337"/>
            <a:ext cx="11179686" cy="95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>
              <a:buClr>
                <a:srgbClr val="F8F8F8"/>
              </a:buClr>
              <a:buSzPts val="5832"/>
            </a:pPr>
            <a:r>
              <a:rPr lang="en-US" sz="4800" dirty="0">
                <a:latin typeface="Cambria" panose="02040503050406030204" pitchFamily="18" charset="0"/>
                <a:ea typeface="Cambria" panose="02040503050406030204" pitchFamily="18" charset="0"/>
              </a:rPr>
              <a:t>Kubernetes Use Cases — Where Is It Used?</a:t>
            </a:r>
            <a:endParaRPr sz="4800" b="0" i="0" u="none" strike="noStrike" cap="none" dirty="0">
              <a:solidFill>
                <a:srgbClr val="434343"/>
              </a:solidFill>
              <a:latin typeface="Cambria" panose="02040503050406030204" pitchFamily="18" charset="0"/>
              <a:ea typeface="Cambria" panose="02040503050406030204" pitchFamily="18" charset="0"/>
              <a:cs typeface="Poppins"/>
              <a:sym typeface="Poppins"/>
            </a:endParaRPr>
          </a:p>
        </p:txBody>
      </p:sp>
      <p:sp>
        <p:nvSpPr>
          <p:cNvPr id="397" name="Google Shape;397;g3dae939ee2c_0_62">
            <a:extLst>
              <a:ext uri="{FF2B5EF4-FFF2-40B4-BE49-F238E27FC236}">
                <a16:creationId xmlns:a16="http://schemas.microsoft.com/office/drawing/2014/main" id="{50C37C63-BDCD-A996-0D10-FE375A06ED6D}"/>
              </a:ext>
            </a:extLst>
          </p:cNvPr>
          <p:cNvSpPr/>
          <p:nvPr/>
        </p:nvSpPr>
        <p:spPr>
          <a:xfrm>
            <a:off x="108250" y="1444977"/>
            <a:ext cx="18179750" cy="8733198"/>
          </a:xfrm>
          <a:prstGeom prst="roundRect">
            <a:avLst>
              <a:gd name="adj" fmla="val 8602"/>
            </a:avLst>
          </a:prstGeom>
          <a:solidFill>
            <a:srgbClr val="343434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5193B16-5A53-D086-F3F9-1E9B6E733177}"/>
              </a:ext>
            </a:extLst>
          </p:cNvPr>
          <p:cNvSpPr txBox="1"/>
          <p:nvPr/>
        </p:nvSpPr>
        <p:spPr>
          <a:xfrm>
            <a:off x="234257" y="2680556"/>
            <a:ext cx="18179750" cy="42192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600" b="1" dirty="0">
                <a:solidFill>
                  <a:schemeClr val="accent6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Why Organizations Use Kubernetes</a:t>
            </a:r>
          </a:p>
          <a:p>
            <a:pPr>
              <a:lnSpc>
                <a:spcPct val="150000"/>
              </a:lnSpc>
            </a:pPr>
            <a:r>
              <a:rPr lang="en-US" sz="26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Kubernetes helps organizations </a:t>
            </a:r>
            <a:r>
              <a:rPr lang="en-US" sz="26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automate infrastructure management; scale applications based on demand, improve resource utilization, and deploy applications consistently</a:t>
            </a:r>
            <a:r>
              <a:rPr lang="en-US" sz="26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  <a:p>
            <a:pPr>
              <a:lnSpc>
                <a:spcPct val="150000"/>
              </a:lnSpc>
            </a:pPr>
            <a:endParaRPr lang="en-US" sz="2600" b="1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600" b="1" dirty="0">
                <a:solidFill>
                  <a:schemeClr val="accent6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Key Takeaway</a:t>
            </a:r>
          </a:p>
          <a:p>
            <a:pPr>
              <a:lnSpc>
                <a:spcPct val="150000"/>
              </a:lnSpc>
            </a:pPr>
            <a:r>
              <a:rPr lang="en-US" sz="26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Kubernetes can run anything from a small application to large-scale, distributed workloads across multiple environments.</a:t>
            </a:r>
            <a:endParaRPr lang="en-US" sz="2600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34738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g3dae939ee2c_0_83"/>
          <p:cNvSpPr/>
          <p:nvPr/>
        </p:nvSpPr>
        <p:spPr>
          <a:xfrm>
            <a:off x="252014" y="153766"/>
            <a:ext cx="17783973" cy="9979469"/>
          </a:xfrm>
          <a:custGeom>
            <a:avLst/>
            <a:gdLst/>
            <a:ahLst/>
            <a:cxnLst/>
            <a:rect l="l" t="t" r="r" b="b"/>
            <a:pathLst>
              <a:path w="17783973" h="9979469" extrusionOk="0">
                <a:moveTo>
                  <a:pt x="0" y="0"/>
                </a:moveTo>
                <a:lnTo>
                  <a:pt x="17783972" y="0"/>
                </a:lnTo>
                <a:lnTo>
                  <a:pt x="17783972" y="9979468"/>
                </a:lnTo>
                <a:lnTo>
                  <a:pt x="0" y="997946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4000"/>
            </a:blip>
            <a:stretch>
              <a:fillRect l="-2130" t="-130" b="-6510"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grpSp>
        <p:nvGrpSpPr>
          <p:cNvPr id="411" name="Google Shape;411;g3dae939ee2c_0_83"/>
          <p:cNvGrpSpPr/>
          <p:nvPr/>
        </p:nvGrpSpPr>
        <p:grpSpPr>
          <a:xfrm>
            <a:off x="137036" y="136127"/>
            <a:ext cx="4536332" cy="836104"/>
            <a:chOff x="0" y="0"/>
            <a:chExt cx="6048443" cy="1114806"/>
          </a:xfrm>
        </p:grpSpPr>
        <p:sp>
          <p:nvSpPr>
            <p:cNvPr id="412" name="Google Shape;412;g3dae939ee2c_0_83" descr="Insights on ACTD Accreditation from a Leading Body"/>
            <p:cNvSpPr/>
            <p:nvPr/>
          </p:nvSpPr>
          <p:spPr>
            <a:xfrm>
              <a:off x="2976677" y="44434"/>
              <a:ext cx="1070372" cy="1070372"/>
            </a:xfrm>
            <a:custGeom>
              <a:avLst/>
              <a:gdLst/>
              <a:ahLst/>
              <a:cxnLst/>
              <a:rect l="l" t="t" r="r" b="b"/>
              <a:pathLst>
                <a:path w="2952750" h="2952750" extrusionOk="0">
                  <a:moveTo>
                    <a:pt x="0" y="0"/>
                  </a:moveTo>
                  <a:lnTo>
                    <a:pt x="2952750" y="0"/>
                  </a:lnTo>
                  <a:lnTo>
                    <a:pt x="2952750" y="2952750"/>
                  </a:lnTo>
                  <a:lnTo>
                    <a:pt x="0" y="295275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3" name="Google Shape;413;g3dae939ee2c_0_83"/>
            <p:cNvSpPr txBox="1"/>
            <p:nvPr/>
          </p:nvSpPr>
          <p:spPr>
            <a:xfrm>
              <a:off x="4168343" y="157841"/>
              <a:ext cx="1880100" cy="532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1992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63"/>
                <a:buFont typeface="Arial"/>
                <a:buNone/>
              </a:pPr>
              <a:r>
                <a:rPr lang="en-US" sz="763" b="0" i="0" u="none" strike="noStrike" cap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ACCREDITED BY THE AMERICAN COUNCIL OF TRAINING AND DEVELOPMENT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4" name="Google Shape;414;g3dae939ee2c_0_83"/>
            <p:cNvSpPr/>
            <p:nvPr/>
          </p:nvSpPr>
          <p:spPr>
            <a:xfrm>
              <a:off x="0" y="44434"/>
              <a:ext cx="2756281" cy="810768"/>
            </a:xfrm>
            <a:custGeom>
              <a:avLst/>
              <a:gdLst/>
              <a:ahLst/>
              <a:cxnLst/>
              <a:rect l="l" t="t" r="r" b="b"/>
              <a:pathLst>
                <a:path w="2756281" h="810768" extrusionOk="0">
                  <a:moveTo>
                    <a:pt x="0" y="0"/>
                  </a:moveTo>
                  <a:lnTo>
                    <a:pt x="2756281" y="0"/>
                  </a:lnTo>
                  <a:lnTo>
                    <a:pt x="2756281" y="810768"/>
                  </a:lnTo>
                  <a:lnTo>
                    <a:pt x="0" y="81076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 t="-30" b="-40"/>
              </a:stretch>
            </a:blip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cxnSp>
          <p:nvCxnSpPr>
            <p:cNvPr id="415" name="Google Shape;415;g3dae939ee2c_0_83"/>
            <p:cNvCxnSpPr/>
            <p:nvPr/>
          </p:nvCxnSpPr>
          <p:spPr>
            <a:xfrm>
              <a:off x="2900823" y="0"/>
              <a:ext cx="0" cy="860100"/>
            </a:xfrm>
            <a:prstGeom prst="straightConnector1">
              <a:avLst/>
            </a:prstGeom>
            <a:noFill/>
            <a:ln w="254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416" name="Google Shape;416;g3dae939ee2c_0_83"/>
          <p:cNvSpPr/>
          <p:nvPr/>
        </p:nvSpPr>
        <p:spPr>
          <a:xfrm>
            <a:off x="4891140" y="389241"/>
            <a:ext cx="12927074" cy="939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8F8"/>
              </a:buClr>
              <a:buSzPts val="5832"/>
              <a:buFont typeface="Trebuchet MS"/>
              <a:buNone/>
            </a:pPr>
            <a:r>
              <a:rPr lang="en-US" sz="4800" b="1" dirty="0">
                <a:solidFill>
                  <a:srgbClr val="434343"/>
                </a:solidFill>
                <a:latin typeface="Cambria" panose="02040503050406030204" pitchFamily="18" charset="0"/>
                <a:ea typeface="Cambria" panose="02040503050406030204" pitchFamily="18" charset="0"/>
                <a:cs typeface="Poppins"/>
                <a:sym typeface="Poppins"/>
              </a:rPr>
              <a:t>Kubernetes Pods: The Basic Deployment Unit</a:t>
            </a:r>
            <a:endParaRPr sz="4800" b="1" i="0" u="none" strike="noStrike" cap="none" dirty="0">
              <a:solidFill>
                <a:srgbClr val="434343"/>
              </a:solidFill>
              <a:latin typeface="Cambria" panose="02040503050406030204" pitchFamily="18" charset="0"/>
              <a:ea typeface="Cambria" panose="02040503050406030204" pitchFamily="18" charset="0"/>
              <a:cs typeface="Poppins"/>
              <a:sym typeface="Poppins"/>
            </a:endParaRPr>
          </a:p>
        </p:txBody>
      </p:sp>
      <p:sp>
        <p:nvSpPr>
          <p:cNvPr id="417" name="Google Shape;417;g3dae939ee2c_0_83"/>
          <p:cNvSpPr/>
          <p:nvPr/>
        </p:nvSpPr>
        <p:spPr>
          <a:xfrm>
            <a:off x="108250" y="1031143"/>
            <a:ext cx="8331855" cy="5743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2603"/>
              <a:buFont typeface="Calibri"/>
              <a:buNone/>
            </a:pPr>
            <a:r>
              <a:rPr lang="en-US" sz="2603" i="1" dirty="0">
                <a:solidFill>
                  <a:srgbClr val="434343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  <a:sym typeface="Calibri"/>
              </a:rPr>
              <a:t>The smallest, most basic deployable object in Kubernetes</a:t>
            </a:r>
            <a:endParaRPr sz="2603" i="1" dirty="0">
              <a:solidFill>
                <a:srgbClr val="434343"/>
              </a:solidFill>
              <a:latin typeface="Cambria" panose="02040503050406030204" pitchFamily="18" charset="0"/>
              <a:ea typeface="Cambria" panose="02040503050406030204" pitchFamily="18" charset="0"/>
              <a:cs typeface="Calibri"/>
              <a:sym typeface="Calibri"/>
            </a:endParaRPr>
          </a:p>
        </p:txBody>
      </p:sp>
      <p:sp>
        <p:nvSpPr>
          <p:cNvPr id="418" name="Google Shape;418;g3dae939ee2c_0_83"/>
          <p:cNvSpPr/>
          <p:nvPr/>
        </p:nvSpPr>
        <p:spPr>
          <a:xfrm>
            <a:off x="78754" y="1564076"/>
            <a:ext cx="9395700" cy="8614099"/>
          </a:xfrm>
          <a:prstGeom prst="roundRect">
            <a:avLst>
              <a:gd name="adj" fmla="val 8602"/>
            </a:avLst>
          </a:prstGeom>
          <a:solidFill>
            <a:srgbClr val="343434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g3dae939ee2c_0_83"/>
          <p:cNvSpPr/>
          <p:nvPr/>
        </p:nvSpPr>
        <p:spPr>
          <a:xfrm>
            <a:off x="9647713" y="1605525"/>
            <a:ext cx="8532038" cy="8645448"/>
          </a:xfrm>
          <a:prstGeom prst="roundRect">
            <a:avLst>
              <a:gd name="adj" fmla="val 8602"/>
            </a:avLst>
          </a:prstGeom>
          <a:solidFill>
            <a:srgbClr val="0D0D0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9775" tIns="79775" rIns="79775" bIns="797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22"/>
              <a:buFont typeface="Arial"/>
              <a:buNone/>
            </a:pPr>
            <a:endParaRPr sz="1222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F4F578E-E813-1060-7E18-4A1DFA11B9C4}"/>
              </a:ext>
            </a:extLst>
          </p:cNvPr>
          <p:cNvSpPr txBox="1"/>
          <p:nvPr/>
        </p:nvSpPr>
        <p:spPr>
          <a:xfrm>
            <a:off x="252013" y="1849608"/>
            <a:ext cx="9075470" cy="83337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400" dirty="0">
                <a:solidFill>
                  <a:schemeClr val="accent6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 </a:t>
            </a:r>
            <a:r>
              <a:rPr lang="en-US" sz="2400" b="1" dirty="0">
                <a:solidFill>
                  <a:schemeClr val="accent6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Pod</a:t>
            </a:r>
            <a:r>
              <a:rPr lang="en-US" sz="2400" dirty="0">
                <a:solidFill>
                  <a:schemeClr val="accent6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4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is the </a:t>
            </a:r>
            <a:r>
              <a:rPr lang="en-US" sz="24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smallest deployable unit in Kubernetes</a:t>
            </a:r>
            <a:r>
              <a:rPr lang="en-US" sz="24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. It represents one or more containers that are designed to run together as a single unit.</a:t>
            </a:r>
          </a:p>
          <a:p>
            <a:pPr algn="just">
              <a:lnSpc>
                <a:spcPct val="150000"/>
              </a:lnSpc>
            </a:pPr>
            <a:r>
              <a:rPr lang="en-US" sz="24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Think of a Pod as a </a:t>
            </a:r>
            <a:r>
              <a:rPr lang="en-US" sz="24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small workspace that holds one or more closely related containers</a:t>
            </a:r>
            <a:r>
              <a:rPr lang="en-US" sz="24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chemeClr val="accent6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Key Features of a Pod</a:t>
            </a:r>
          </a:p>
          <a:p>
            <a:pPr marL="342900" lvl="0" indent="-342900" algn="just">
              <a:lnSpc>
                <a:spcPct val="150000"/>
              </a:lnSpc>
              <a:buClr>
                <a:schemeClr val="accent6"/>
              </a:buClr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Shared Network:</a:t>
            </a:r>
            <a:r>
              <a:rPr lang="en-US" sz="24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Containers inside the same Pod share the </a:t>
            </a:r>
            <a:r>
              <a:rPr lang="en-US" sz="24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same IP address and network namespace</a:t>
            </a:r>
            <a:r>
              <a:rPr lang="en-US" sz="24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. They can communicate with each other using localhost.</a:t>
            </a:r>
          </a:p>
          <a:p>
            <a:pPr marL="342900" lvl="0" indent="-342900" algn="just">
              <a:lnSpc>
                <a:spcPct val="150000"/>
              </a:lnSpc>
              <a:buClr>
                <a:schemeClr val="accent6"/>
              </a:buClr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Shared Storage:</a:t>
            </a:r>
            <a:r>
              <a:rPr lang="en-US" sz="24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Containers within a Pod can access the same </a:t>
            </a:r>
            <a:r>
              <a:rPr lang="en-US" sz="24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shared volumes</a:t>
            </a:r>
            <a:r>
              <a:rPr lang="en-US" sz="24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, allowing them to exchange files or data when required.</a:t>
            </a:r>
          </a:p>
          <a:p>
            <a:pPr marL="342900" lvl="0" indent="-342900" algn="just">
              <a:lnSpc>
                <a:spcPct val="150000"/>
              </a:lnSpc>
              <a:buClr>
                <a:schemeClr val="accent6"/>
              </a:buClr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Co-Scheduled:</a:t>
            </a:r>
            <a:r>
              <a:rPr lang="en-US" sz="24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All containers in a Pod are scheduled onto the </a:t>
            </a:r>
            <a:r>
              <a:rPr lang="en-US" sz="24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same Worker Node</a:t>
            </a:r>
            <a:r>
              <a:rPr lang="en-US" sz="24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and run together throughout the Pod's lifecycle.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E757587-245F-18A4-70BC-D3C93CD6849F}"/>
              </a:ext>
            </a:extLst>
          </p:cNvPr>
          <p:cNvSpPr txBox="1"/>
          <p:nvPr/>
        </p:nvSpPr>
        <p:spPr>
          <a:xfrm>
            <a:off x="9618218" y="1840919"/>
            <a:ext cx="8417768" cy="69249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Clr>
                <a:schemeClr val="accent6"/>
              </a:buClr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Sidecar Pattern:</a:t>
            </a:r>
            <a:r>
              <a:rPr lang="en-US" sz="24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A helper container can run alongside the main application to provide supporting functions such as </a:t>
            </a:r>
            <a:r>
              <a:rPr lang="en-US" sz="24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logging, monitoring, proxying, or configuration synchronization</a:t>
            </a:r>
            <a:r>
              <a:rPr lang="en-US" sz="24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  <a:p>
            <a:pPr algn="just">
              <a:lnSpc>
                <a:spcPct val="150000"/>
              </a:lnSpc>
            </a:pPr>
            <a:r>
              <a:rPr lang="en-US" sz="2400" b="1" dirty="0">
                <a:solidFill>
                  <a:schemeClr val="accent6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Important Note</a:t>
            </a:r>
          </a:p>
          <a:p>
            <a:pPr algn="just">
              <a:lnSpc>
                <a:spcPct val="150000"/>
              </a:lnSpc>
            </a:pPr>
            <a:r>
              <a:rPr lang="en-US" sz="24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You </a:t>
            </a:r>
            <a:r>
              <a:rPr lang="en-US" sz="24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rarely create Pods directly</a:t>
            </a:r>
            <a:r>
              <a:rPr lang="en-US" sz="24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in production. Instead, Kubernetes controllers such as </a:t>
            </a:r>
            <a:r>
              <a:rPr lang="en-US" sz="24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Deployments, </a:t>
            </a:r>
            <a:r>
              <a:rPr lang="en-US" sz="2400" b="1" dirty="0" err="1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StatefulSets</a:t>
            </a:r>
            <a:r>
              <a:rPr lang="en-US" sz="24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, and </a:t>
            </a:r>
            <a:r>
              <a:rPr lang="en-US" sz="2400" b="1" dirty="0" err="1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DaemonSets</a:t>
            </a:r>
            <a:r>
              <a:rPr lang="en-US" sz="24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create and manage Pods for you.</a:t>
            </a:r>
          </a:p>
          <a:p>
            <a:pPr algn="just">
              <a:lnSpc>
                <a:spcPct val="150000"/>
              </a:lnSpc>
            </a:pPr>
            <a:r>
              <a:rPr lang="en-US" sz="2400" b="1" dirty="0">
                <a:solidFill>
                  <a:schemeClr val="accent6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Key Takeaway:</a:t>
            </a:r>
            <a:r>
              <a:rPr lang="en-US" sz="2400" dirty="0">
                <a:solidFill>
                  <a:schemeClr val="accent6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4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 Pod is the basic execution unit in Kubernetes. It provides a shared environment for one or more containers that need to run together.</a:t>
            </a:r>
          </a:p>
          <a:p>
            <a:pPr>
              <a:buClr>
                <a:schemeClr val="accent6"/>
              </a:buClr>
            </a:pPr>
            <a:endParaRPr lang="en-US" sz="2400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en-US" sz="2400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g3dae939ee2c_0_108"/>
          <p:cNvSpPr/>
          <p:nvPr/>
        </p:nvSpPr>
        <p:spPr>
          <a:xfrm>
            <a:off x="0" y="-309716"/>
            <a:ext cx="18288000" cy="10596716"/>
          </a:xfrm>
          <a:custGeom>
            <a:avLst/>
            <a:gdLst/>
            <a:ahLst/>
            <a:cxnLst/>
            <a:rect l="l" t="t" r="r" b="b"/>
            <a:pathLst>
              <a:path w="17783973" h="9979469" extrusionOk="0">
                <a:moveTo>
                  <a:pt x="0" y="0"/>
                </a:moveTo>
                <a:lnTo>
                  <a:pt x="17783972" y="0"/>
                </a:lnTo>
                <a:lnTo>
                  <a:pt x="17783972" y="9979468"/>
                </a:lnTo>
                <a:lnTo>
                  <a:pt x="0" y="997946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4000"/>
            </a:blip>
            <a:stretch>
              <a:fillRect l="-2130" t="-130" b="-6510"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grpSp>
        <p:nvGrpSpPr>
          <p:cNvPr id="434" name="Google Shape;434;g3dae939ee2c_0_108"/>
          <p:cNvGrpSpPr/>
          <p:nvPr/>
        </p:nvGrpSpPr>
        <p:grpSpPr>
          <a:xfrm>
            <a:off x="530603" y="553241"/>
            <a:ext cx="4536332" cy="836104"/>
            <a:chOff x="0" y="0"/>
            <a:chExt cx="6048443" cy="1114806"/>
          </a:xfrm>
        </p:grpSpPr>
        <p:sp>
          <p:nvSpPr>
            <p:cNvPr id="435" name="Google Shape;435;g3dae939ee2c_0_108" descr="Insights on ACTD Accreditation from a Leading Body"/>
            <p:cNvSpPr/>
            <p:nvPr/>
          </p:nvSpPr>
          <p:spPr>
            <a:xfrm>
              <a:off x="2976677" y="44434"/>
              <a:ext cx="1070372" cy="1070372"/>
            </a:xfrm>
            <a:custGeom>
              <a:avLst/>
              <a:gdLst/>
              <a:ahLst/>
              <a:cxnLst/>
              <a:rect l="l" t="t" r="r" b="b"/>
              <a:pathLst>
                <a:path w="2952750" h="2952750" extrusionOk="0">
                  <a:moveTo>
                    <a:pt x="0" y="0"/>
                  </a:moveTo>
                  <a:lnTo>
                    <a:pt x="2952750" y="0"/>
                  </a:lnTo>
                  <a:lnTo>
                    <a:pt x="2952750" y="2952750"/>
                  </a:lnTo>
                  <a:lnTo>
                    <a:pt x="0" y="295275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36" name="Google Shape;436;g3dae939ee2c_0_108"/>
            <p:cNvSpPr txBox="1"/>
            <p:nvPr/>
          </p:nvSpPr>
          <p:spPr>
            <a:xfrm>
              <a:off x="4168343" y="157841"/>
              <a:ext cx="1880100" cy="532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1992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63"/>
                <a:buFont typeface="Arial"/>
                <a:buNone/>
              </a:pPr>
              <a:r>
                <a:rPr lang="en-US" sz="763" b="0" i="0" u="none" strike="noStrike" cap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ACCREDITED BY THE AMERICAN COUNCIL OF TRAINING AND DEVELOPMENT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7" name="Google Shape;437;g3dae939ee2c_0_108"/>
            <p:cNvSpPr/>
            <p:nvPr/>
          </p:nvSpPr>
          <p:spPr>
            <a:xfrm>
              <a:off x="0" y="44434"/>
              <a:ext cx="2756281" cy="810768"/>
            </a:xfrm>
            <a:custGeom>
              <a:avLst/>
              <a:gdLst/>
              <a:ahLst/>
              <a:cxnLst/>
              <a:rect l="l" t="t" r="r" b="b"/>
              <a:pathLst>
                <a:path w="2756281" h="810768" extrusionOk="0">
                  <a:moveTo>
                    <a:pt x="0" y="0"/>
                  </a:moveTo>
                  <a:lnTo>
                    <a:pt x="2756281" y="0"/>
                  </a:lnTo>
                  <a:lnTo>
                    <a:pt x="2756281" y="810768"/>
                  </a:lnTo>
                  <a:lnTo>
                    <a:pt x="0" y="81076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 t="-30" b="-40"/>
              </a:stretch>
            </a:blip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cxnSp>
          <p:nvCxnSpPr>
            <p:cNvPr id="438" name="Google Shape;438;g3dae939ee2c_0_108"/>
            <p:cNvCxnSpPr/>
            <p:nvPr/>
          </p:nvCxnSpPr>
          <p:spPr>
            <a:xfrm>
              <a:off x="2900823" y="0"/>
              <a:ext cx="0" cy="860100"/>
            </a:xfrm>
            <a:prstGeom prst="straightConnector1">
              <a:avLst/>
            </a:prstGeom>
            <a:noFill/>
            <a:ln w="254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439" name="Google Shape;439;g3dae939ee2c_0_108"/>
          <p:cNvSpPr/>
          <p:nvPr/>
        </p:nvSpPr>
        <p:spPr>
          <a:xfrm>
            <a:off x="7784791" y="549229"/>
            <a:ext cx="3955252" cy="7616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8F8"/>
              </a:buClr>
              <a:buSzPts val="5832"/>
              <a:buFont typeface="Trebuchet MS"/>
              <a:buNone/>
            </a:pPr>
            <a:r>
              <a:rPr lang="en-US" sz="4800" b="1" dirty="0">
                <a:solidFill>
                  <a:srgbClr val="434343"/>
                </a:solidFill>
                <a:latin typeface="Cambria" panose="02040503050406030204" pitchFamily="18" charset="0"/>
                <a:ea typeface="Cambria" panose="02040503050406030204" pitchFamily="18" charset="0"/>
                <a:cs typeface="Poppins"/>
                <a:sym typeface="Poppins"/>
              </a:rPr>
              <a:t>Pod Lifecycle</a:t>
            </a:r>
            <a:endParaRPr sz="4800" b="1" i="0" u="none" strike="noStrike" cap="none" dirty="0">
              <a:solidFill>
                <a:srgbClr val="434343"/>
              </a:solidFill>
              <a:latin typeface="Cambria" panose="02040503050406030204" pitchFamily="18" charset="0"/>
              <a:ea typeface="Cambria" panose="02040503050406030204" pitchFamily="18" charset="0"/>
              <a:cs typeface="Poppins"/>
              <a:sym typeface="Poppins"/>
            </a:endParaRPr>
          </a:p>
        </p:txBody>
      </p:sp>
      <p:sp>
        <p:nvSpPr>
          <p:cNvPr id="440" name="Google Shape;440;g3dae939ee2c_0_108"/>
          <p:cNvSpPr/>
          <p:nvPr/>
        </p:nvSpPr>
        <p:spPr>
          <a:xfrm>
            <a:off x="4837587" y="1154304"/>
            <a:ext cx="10822775" cy="401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2603"/>
              <a:buFont typeface="Calibri"/>
              <a:buNone/>
            </a:pPr>
            <a:r>
              <a:rPr lang="en-US" sz="2603" i="1" dirty="0">
                <a:solidFill>
                  <a:srgbClr val="434343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  <a:sym typeface="Calibri"/>
              </a:rPr>
              <a:t>Understanding pod phases: pod states, restart policies, and health checking</a:t>
            </a:r>
            <a:endParaRPr sz="2603" i="1" dirty="0">
              <a:solidFill>
                <a:srgbClr val="434343"/>
              </a:solidFill>
              <a:latin typeface="Cambria" panose="02040503050406030204" pitchFamily="18" charset="0"/>
              <a:ea typeface="Cambria" panose="02040503050406030204" pitchFamily="18" charset="0"/>
              <a:cs typeface="Calibri"/>
              <a:sym typeface="Calibri"/>
            </a:endParaRPr>
          </a:p>
        </p:txBody>
      </p:sp>
      <p:sp>
        <p:nvSpPr>
          <p:cNvPr id="441" name="Google Shape;441;g3dae939ee2c_0_108"/>
          <p:cNvSpPr/>
          <p:nvPr/>
        </p:nvSpPr>
        <p:spPr>
          <a:xfrm>
            <a:off x="108250" y="1638853"/>
            <a:ext cx="10125200" cy="8539322"/>
          </a:xfrm>
          <a:prstGeom prst="roundRect">
            <a:avLst>
              <a:gd name="adj" fmla="val 8602"/>
            </a:avLst>
          </a:prstGeom>
          <a:solidFill>
            <a:srgbClr val="343434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g3dae939ee2c_0_108"/>
          <p:cNvSpPr/>
          <p:nvPr/>
        </p:nvSpPr>
        <p:spPr>
          <a:xfrm>
            <a:off x="10329188" y="7470067"/>
            <a:ext cx="7790486" cy="2353923"/>
          </a:xfrm>
          <a:prstGeom prst="roundRect">
            <a:avLst>
              <a:gd name="adj" fmla="val 8602"/>
            </a:avLst>
          </a:prstGeom>
          <a:solidFill>
            <a:srgbClr val="0D0D0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9775" tIns="79775" rIns="79775" bIns="797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22"/>
              <a:buFont typeface="Arial"/>
              <a:buNone/>
            </a:pPr>
            <a:endParaRPr sz="1222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g3dae939ee2c_0_108"/>
          <p:cNvSpPr/>
          <p:nvPr/>
        </p:nvSpPr>
        <p:spPr>
          <a:xfrm>
            <a:off x="10460893" y="8295434"/>
            <a:ext cx="7406894" cy="15786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EF4FF"/>
              </a:buClr>
              <a:buSzPts val="2143"/>
              <a:buFont typeface="Consolas"/>
              <a:buNone/>
            </a:pPr>
            <a:r>
              <a:rPr lang="en-US" sz="2400" dirty="0" err="1">
                <a:solidFill>
                  <a:srgbClr val="EEF4FF"/>
                </a:solidFill>
                <a:latin typeface="Cambria" panose="02040503050406030204" pitchFamily="18" charset="0"/>
                <a:ea typeface="Cambria" panose="02040503050406030204" pitchFamily="18" charset="0"/>
                <a:cs typeface="Courier New"/>
                <a:sym typeface="Courier New"/>
              </a:rPr>
              <a:t>kubectl</a:t>
            </a:r>
            <a:r>
              <a:rPr lang="en-US" sz="2400" dirty="0">
                <a:solidFill>
                  <a:srgbClr val="EEF4FF"/>
                </a:solidFill>
                <a:latin typeface="Cambria" panose="02040503050406030204" pitchFamily="18" charset="0"/>
                <a:ea typeface="Cambria" panose="02040503050406030204" pitchFamily="18" charset="0"/>
                <a:cs typeface="Courier New"/>
                <a:sym typeface="Courier New"/>
              </a:rPr>
              <a:t> describe pod [pod-name]    # events + config</a:t>
            </a:r>
            <a:endParaRPr sz="2400" dirty="0">
              <a:solidFill>
                <a:srgbClr val="EEF4FF"/>
              </a:solidFill>
              <a:latin typeface="Cambria" panose="02040503050406030204" pitchFamily="18" charset="0"/>
              <a:ea typeface="Cambria" panose="02040503050406030204" pitchFamily="18" charset="0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EF4FF"/>
              </a:buClr>
              <a:buSzPts val="2143"/>
              <a:buFont typeface="Consolas"/>
              <a:buNone/>
            </a:pPr>
            <a:r>
              <a:rPr lang="en-US" sz="2400" dirty="0" err="1">
                <a:solidFill>
                  <a:srgbClr val="EEF4FF"/>
                </a:solidFill>
                <a:latin typeface="Cambria" panose="02040503050406030204" pitchFamily="18" charset="0"/>
                <a:ea typeface="Cambria" panose="02040503050406030204" pitchFamily="18" charset="0"/>
                <a:cs typeface="Courier New"/>
                <a:sym typeface="Courier New"/>
              </a:rPr>
              <a:t>kubectl</a:t>
            </a:r>
            <a:r>
              <a:rPr lang="en-US" sz="2400" dirty="0">
                <a:solidFill>
                  <a:srgbClr val="EEF4FF"/>
                </a:solidFill>
                <a:latin typeface="Cambria" panose="02040503050406030204" pitchFamily="18" charset="0"/>
                <a:ea typeface="Cambria" panose="02040503050406030204" pitchFamily="18" charset="0"/>
                <a:cs typeface="Courier New"/>
                <a:sym typeface="Courier New"/>
              </a:rPr>
              <a:t> logs [pod-name]             # container </a:t>
            </a:r>
            <a:r>
              <a:rPr lang="en-US" sz="2400" dirty="0" err="1">
                <a:solidFill>
                  <a:srgbClr val="EEF4FF"/>
                </a:solidFill>
                <a:latin typeface="Cambria" panose="02040503050406030204" pitchFamily="18" charset="0"/>
                <a:ea typeface="Cambria" panose="02040503050406030204" pitchFamily="18" charset="0"/>
                <a:cs typeface="Courier New"/>
                <a:sym typeface="Courier New"/>
              </a:rPr>
              <a:t>stdout</a:t>
            </a:r>
            <a:endParaRPr sz="2400" dirty="0">
              <a:solidFill>
                <a:srgbClr val="EEF4FF"/>
              </a:solidFill>
              <a:latin typeface="Cambria" panose="02040503050406030204" pitchFamily="18" charset="0"/>
              <a:ea typeface="Cambria" panose="02040503050406030204" pitchFamily="18" charset="0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EF4FF"/>
              </a:buClr>
              <a:buSzPts val="2143"/>
              <a:buFont typeface="Consolas"/>
              <a:buNone/>
            </a:pPr>
            <a:r>
              <a:rPr lang="en-US" sz="2400" dirty="0" err="1">
                <a:solidFill>
                  <a:srgbClr val="EEF4FF"/>
                </a:solidFill>
                <a:latin typeface="Cambria" panose="02040503050406030204" pitchFamily="18" charset="0"/>
                <a:ea typeface="Cambria" panose="02040503050406030204" pitchFamily="18" charset="0"/>
                <a:cs typeface="Courier New"/>
                <a:sym typeface="Courier New"/>
              </a:rPr>
              <a:t>kubectl</a:t>
            </a:r>
            <a:r>
              <a:rPr lang="en-US" sz="2400" dirty="0">
                <a:solidFill>
                  <a:srgbClr val="EEF4FF"/>
                </a:solidFill>
                <a:latin typeface="Cambria" panose="02040503050406030204" pitchFamily="18" charset="0"/>
                <a:ea typeface="Cambria" panose="02040503050406030204" pitchFamily="18" charset="0"/>
                <a:cs typeface="Courier New"/>
                <a:sym typeface="Courier New"/>
              </a:rPr>
              <a:t> logs [pod-name] -c sidecar # specific container</a:t>
            </a:r>
            <a:endParaRPr sz="2400" dirty="0">
              <a:solidFill>
                <a:srgbClr val="EEF4FF"/>
              </a:solidFill>
              <a:latin typeface="Cambria" panose="02040503050406030204" pitchFamily="18" charset="0"/>
              <a:ea typeface="Cambria" panose="02040503050406030204" pitchFamily="18" charset="0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EF4FF"/>
              </a:buClr>
              <a:buSzPts val="2143"/>
              <a:buFont typeface="Consolas"/>
              <a:buNone/>
            </a:pPr>
            <a:r>
              <a:rPr lang="en-US" sz="2400" dirty="0" err="1">
                <a:solidFill>
                  <a:srgbClr val="EEF4FF"/>
                </a:solidFill>
                <a:latin typeface="Cambria" panose="02040503050406030204" pitchFamily="18" charset="0"/>
                <a:ea typeface="Cambria" panose="02040503050406030204" pitchFamily="18" charset="0"/>
                <a:cs typeface="Courier New"/>
                <a:sym typeface="Courier New"/>
              </a:rPr>
              <a:t>kubectl</a:t>
            </a:r>
            <a:r>
              <a:rPr lang="en-US" sz="2400" dirty="0">
                <a:solidFill>
                  <a:srgbClr val="EEF4FF"/>
                </a:solidFill>
                <a:latin typeface="Cambria" panose="02040503050406030204" pitchFamily="18" charset="0"/>
                <a:ea typeface="Cambria" panose="02040503050406030204" pitchFamily="18" charset="0"/>
                <a:cs typeface="Courier New"/>
                <a:sym typeface="Courier New"/>
              </a:rPr>
              <a:t> exec -it [pod-name] -- </a:t>
            </a:r>
            <a:r>
              <a:rPr lang="en-US" sz="2400" dirty="0" err="1">
                <a:solidFill>
                  <a:srgbClr val="EEF4FF"/>
                </a:solidFill>
                <a:latin typeface="Cambria" panose="02040503050406030204" pitchFamily="18" charset="0"/>
                <a:ea typeface="Cambria" panose="02040503050406030204" pitchFamily="18" charset="0"/>
                <a:cs typeface="Courier New"/>
                <a:sym typeface="Courier New"/>
              </a:rPr>
              <a:t>sh</a:t>
            </a:r>
            <a:r>
              <a:rPr lang="en-US" sz="2400" dirty="0">
                <a:solidFill>
                  <a:srgbClr val="EEF4FF"/>
                </a:solidFill>
                <a:latin typeface="Cambria" panose="02040503050406030204" pitchFamily="18" charset="0"/>
                <a:ea typeface="Cambria" panose="02040503050406030204" pitchFamily="18" charset="0"/>
                <a:cs typeface="Courier New"/>
                <a:sym typeface="Courier New"/>
              </a:rPr>
              <a:t>  # shell into pod</a:t>
            </a:r>
            <a:endParaRPr sz="2400" dirty="0">
              <a:solidFill>
                <a:srgbClr val="EEF4FF"/>
              </a:solidFill>
              <a:latin typeface="Cambria" panose="02040503050406030204" pitchFamily="18" charset="0"/>
              <a:ea typeface="Cambria" panose="02040503050406030204" pitchFamily="18" charset="0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EF4FF"/>
              </a:buClr>
              <a:buSzPts val="2143"/>
              <a:buFont typeface="Consolas"/>
              <a:buNone/>
            </a:pPr>
            <a:endParaRPr sz="2400" dirty="0">
              <a:solidFill>
                <a:srgbClr val="EEF4FF"/>
              </a:solidFill>
              <a:latin typeface="Cambria" panose="02040503050406030204" pitchFamily="18" charset="0"/>
              <a:ea typeface="Cambria" panose="02040503050406030204" pitchFamily="18" charset="0"/>
              <a:cs typeface="Consolas"/>
              <a:sym typeface="Consolas"/>
            </a:endParaRPr>
          </a:p>
        </p:txBody>
      </p:sp>
      <p:sp>
        <p:nvSpPr>
          <p:cNvPr id="448" name="Google Shape;448;g3dae939ee2c_0_108"/>
          <p:cNvSpPr txBox="1"/>
          <p:nvPr/>
        </p:nvSpPr>
        <p:spPr>
          <a:xfrm>
            <a:off x="10368631" y="7645070"/>
            <a:ext cx="3469076" cy="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dirty="0">
                <a:solidFill>
                  <a:schemeClr val="accent6"/>
                </a:solidFill>
                <a:latin typeface="Cambria" panose="02040503050406030204" pitchFamily="18" charset="0"/>
                <a:ea typeface="Cambria" panose="02040503050406030204" pitchFamily="18" charset="0"/>
                <a:cs typeface="Courier New"/>
                <a:sym typeface="Courier New"/>
              </a:rPr>
              <a:t>Debug Commands</a:t>
            </a:r>
            <a:endParaRPr sz="2700" dirty="0">
              <a:solidFill>
                <a:schemeClr val="accent6"/>
              </a:solidFill>
              <a:latin typeface="Cambria" panose="02040503050406030204" pitchFamily="18" charset="0"/>
              <a:ea typeface="Cambria" panose="02040503050406030204" pitchFamily="18" charset="0"/>
              <a:cs typeface="Courier New"/>
              <a:sym typeface="Courier New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2D0E42A-0BFB-82A4-1E0D-13D21082CBEA}"/>
              </a:ext>
            </a:extLst>
          </p:cNvPr>
          <p:cNvSpPr txBox="1"/>
          <p:nvPr/>
        </p:nvSpPr>
        <p:spPr>
          <a:xfrm>
            <a:off x="74840" y="1762723"/>
            <a:ext cx="10164635" cy="8887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400" dirty="0">
                <a:solidFill>
                  <a:schemeClr val="accent6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 Kubernetes </a:t>
            </a:r>
            <a:r>
              <a:rPr lang="en-US" sz="24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Pod is not simply </a:t>
            </a:r>
            <a:r>
              <a:rPr lang="en-US" sz="24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"running" or "stopped."</a:t>
            </a:r>
            <a:r>
              <a:rPr lang="en-US" sz="24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Kubernetes tracks the Pod through defined </a:t>
            </a:r>
            <a:r>
              <a:rPr lang="en-US" sz="24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lifecycle phases</a:t>
            </a:r>
            <a:r>
              <a:rPr lang="en-US" sz="24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that help you understand its current state and troubleshoot problems.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chemeClr val="accent6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Pod Phases</a:t>
            </a:r>
          </a:p>
          <a:p>
            <a:pPr marL="342900" lvl="0" indent="-342900" algn="just">
              <a:lnSpc>
                <a:spcPct val="150000"/>
              </a:lnSpc>
              <a:buClr>
                <a:schemeClr val="accent6"/>
              </a:buClr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6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Pending:</a:t>
            </a:r>
            <a:r>
              <a:rPr lang="en-US" sz="2400" dirty="0">
                <a:solidFill>
                  <a:schemeClr val="accent6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4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The Pod has been accepted by Kubernetes but is not yet running. It may be waiting for scheduling, container image download, or other required resources.</a:t>
            </a:r>
          </a:p>
          <a:p>
            <a:pPr marL="342900" lvl="0" indent="-342900" algn="just">
              <a:lnSpc>
                <a:spcPct val="150000"/>
              </a:lnSpc>
              <a:buClr>
                <a:schemeClr val="accent6"/>
              </a:buClr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6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Running:</a:t>
            </a:r>
            <a:r>
              <a:rPr lang="en-US" sz="2400" dirty="0">
                <a:solidFill>
                  <a:schemeClr val="accent6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4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The Pod has been successfully scheduled, and at least one container is running or starting.</a:t>
            </a:r>
          </a:p>
          <a:p>
            <a:pPr marL="342900" lvl="0" indent="-342900" algn="just">
              <a:lnSpc>
                <a:spcPct val="150000"/>
              </a:lnSpc>
              <a:buClr>
                <a:schemeClr val="accent6"/>
              </a:buClr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6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Succeeded:</a:t>
            </a:r>
            <a:r>
              <a:rPr lang="en-US" sz="2400" dirty="0">
                <a:solidFill>
                  <a:schemeClr val="accent6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4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All containers in the Pod have completed successfully and exited with </a:t>
            </a:r>
            <a:r>
              <a:rPr lang="en-US" sz="24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exit code 0</a:t>
            </a:r>
            <a:r>
              <a:rPr lang="en-US" sz="24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  <a:p>
            <a:pPr marL="342900" lvl="0" indent="-342900" algn="just">
              <a:lnSpc>
                <a:spcPct val="150000"/>
              </a:lnSpc>
              <a:buClr>
                <a:schemeClr val="accent6"/>
              </a:buClr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6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Failed:</a:t>
            </a:r>
            <a:r>
              <a:rPr lang="en-US" sz="2400" dirty="0">
                <a:solidFill>
                  <a:schemeClr val="accent6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4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All containers have terminated, and at least one container exited with a </a:t>
            </a:r>
            <a:r>
              <a:rPr lang="en-US" sz="24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non-zero exit code</a:t>
            </a:r>
            <a:r>
              <a:rPr lang="en-US" sz="24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or failed to complete successfully.</a:t>
            </a:r>
          </a:p>
          <a:p>
            <a:pPr marL="342900" lvl="0" indent="-342900" algn="just">
              <a:lnSpc>
                <a:spcPct val="150000"/>
              </a:lnSpc>
              <a:buClr>
                <a:schemeClr val="accent6"/>
              </a:buClr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6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Unknown:</a:t>
            </a:r>
            <a:r>
              <a:rPr lang="en-US" sz="24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Kubernetes cannot determine the Pod's current state, usually because it cannot communicate with the node where the Pod is running.</a:t>
            </a:r>
          </a:p>
          <a:p>
            <a:pPr>
              <a:lnSpc>
                <a:spcPct val="150000"/>
              </a:lnSpc>
            </a:pPr>
            <a:endParaRPr lang="en-US" sz="2400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Google Shape;441;g3dae939ee2c_0_108">
            <a:extLst>
              <a:ext uri="{FF2B5EF4-FFF2-40B4-BE49-F238E27FC236}">
                <a16:creationId xmlns:a16="http://schemas.microsoft.com/office/drawing/2014/main" id="{53866D81-79D1-6BCC-D3AC-D1C395E43E66}"/>
              </a:ext>
            </a:extLst>
          </p:cNvPr>
          <p:cNvSpPr/>
          <p:nvPr/>
        </p:nvSpPr>
        <p:spPr>
          <a:xfrm>
            <a:off x="10324387" y="1910689"/>
            <a:ext cx="7803861" cy="4576619"/>
          </a:xfrm>
          <a:prstGeom prst="roundRect">
            <a:avLst>
              <a:gd name="adj" fmla="val 8602"/>
            </a:avLst>
          </a:prstGeom>
          <a:solidFill>
            <a:srgbClr val="343434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53F8D91-CC97-1A57-3511-11551B4D011E}"/>
              </a:ext>
            </a:extLst>
          </p:cNvPr>
          <p:cNvSpPr txBox="1"/>
          <p:nvPr/>
        </p:nvSpPr>
        <p:spPr>
          <a:xfrm>
            <a:off x="10376547" y="1860624"/>
            <a:ext cx="7607279" cy="39018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400" b="1" dirty="0">
                <a:solidFill>
                  <a:schemeClr val="accent6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Why Pod Phases Matter</a:t>
            </a:r>
          </a:p>
          <a:p>
            <a:pPr algn="just">
              <a:lnSpc>
                <a:spcPct val="150000"/>
              </a:lnSpc>
            </a:pPr>
            <a:r>
              <a:rPr lang="en-US" sz="24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When troubleshooting, the Pod phase provides an </a:t>
            </a:r>
            <a:r>
              <a:rPr lang="en-US" sz="24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initial indication of what is happening</a:t>
            </a:r>
            <a:r>
              <a:rPr lang="en-US" sz="24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, but it is not enough by itself to identify the root cause.</a:t>
            </a:r>
          </a:p>
          <a:p>
            <a:pPr algn="just">
              <a:lnSpc>
                <a:spcPct val="150000"/>
              </a:lnSpc>
            </a:pPr>
            <a:r>
              <a:rPr lang="en-US" sz="2400" b="1" dirty="0">
                <a:solidFill>
                  <a:schemeClr val="accent6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Key Takeaway:</a:t>
            </a:r>
            <a:r>
              <a:rPr lang="en-US" sz="2400" dirty="0">
                <a:solidFill>
                  <a:schemeClr val="accent6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4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Pod phases tell you the </a:t>
            </a:r>
            <a:r>
              <a:rPr lang="en-US" sz="24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high-level lifecycle state</a:t>
            </a:r>
            <a:r>
              <a:rPr lang="en-US" sz="24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of a Pod; use describe and logs to investigate </a:t>
            </a:r>
            <a:r>
              <a:rPr lang="en-US" sz="2400" i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why</a:t>
            </a:r>
            <a:r>
              <a:rPr lang="en-US" sz="24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it is in that state.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g3dae939ee2c_0_131"/>
          <p:cNvSpPr/>
          <p:nvPr/>
        </p:nvSpPr>
        <p:spPr>
          <a:xfrm>
            <a:off x="252014" y="153766"/>
            <a:ext cx="17783973" cy="9979469"/>
          </a:xfrm>
          <a:custGeom>
            <a:avLst/>
            <a:gdLst/>
            <a:ahLst/>
            <a:cxnLst/>
            <a:rect l="l" t="t" r="r" b="b"/>
            <a:pathLst>
              <a:path w="17783973" h="9979469" extrusionOk="0">
                <a:moveTo>
                  <a:pt x="0" y="0"/>
                </a:moveTo>
                <a:lnTo>
                  <a:pt x="17783972" y="0"/>
                </a:lnTo>
                <a:lnTo>
                  <a:pt x="17783972" y="9979468"/>
                </a:lnTo>
                <a:lnTo>
                  <a:pt x="0" y="997946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4000"/>
            </a:blip>
            <a:stretch>
              <a:fillRect l="-2130" t="-130" b="-6510"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grpSp>
        <p:nvGrpSpPr>
          <p:cNvPr id="458" name="Google Shape;458;g3dae939ee2c_0_131"/>
          <p:cNvGrpSpPr/>
          <p:nvPr/>
        </p:nvGrpSpPr>
        <p:grpSpPr>
          <a:xfrm>
            <a:off x="121626" y="192502"/>
            <a:ext cx="4536332" cy="836104"/>
            <a:chOff x="0" y="0"/>
            <a:chExt cx="6048443" cy="1114806"/>
          </a:xfrm>
        </p:grpSpPr>
        <p:sp>
          <p:nvSpPr>
            <p:cNvPr id="459" name="Google Shape;459;g3dae939ee2c_0_131" descr="Insights on ACTD Accreditation from a Leading Body"/>
            <p:cNvSpPr/>
            <p:nvPr/>
          </p:nvSpPr>
          <p:spPr>
            <a:xfrm>
              <a:off x="2976677" y="44434"/>
              <a:ext cx="1070372" cy="1070372"/>
            </a:xfrm>
            <a:custGeom>
              <a:avLst/>
              <a:gdLst/>
              <a:ahLst/>
              <a:cxnLst/>
              <a:rect l="l" t="t" r="r" b="b"/>
              <a:pathLst>
                <a:path w="2952750" h="2952750" extrusionOk="0">
                  <a:moveTo>
                    <a:pt x="0" y="0"/>
                  </a:moveTo>
                  <a:lnTo>
                    <a:pt x="2952750" y="0"/>
                  </a:lnTo>
                  <a:lnTo>
                    <a:pt x="2952750" y="2952750"/>
                  </a:lnTo>
                  <a:lnTo>
                    <a:pt x="0" y="295275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60" name="Google Shape;460;g3dae939ee2c_0_131"/>
            <p:cNvSpPr txBox="1"/>
            <p:nvPr/>
          </p:nvSpPr>
          <p:spPr>
            <a:xfrm>
              <a:off x="4168343" y="157841"/>
              <a:ext cx="1880100" cy="532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1992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63"/>
                <a:buFont typeface="Arial"/>
                <a:buNone/>
              </a:pPr>
              <a:r>
                <a:rPr lang="en-US" sz="763" b="0" i="0" u="none" strike="noStrike" cap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ACCREDITED BY THE AMERICAN COUNCIL OF TRAINING AND DEVELOPMENT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1" name="Google Shape;461;g3dae939ee2c_0_131"/>
            <p:cNvSpPr/>
            <p:nvPr/>
          </p:nvSpPr>
          <p:spPr>
            <a:xfrm>
              <a:off x="0" y="44434"/>
              <a:ext cx="2756281" cy="810768"/>
            </a:xfrm>
            <a:custGeom>
              <a:avLst/>
              <a:gdLst/>
              <a:ahLst/>
              <a:cxnLst/>
              <a:rect l="l" t="t" r="r" b="b"/>
              <a:pathLst>
                <a:path w="2756281" h="810768" extrusionOk="0">
                  <a:moveTo>
                    <a:pt x="0" y="0"/>
                  </a:moveTo>
                  <a:lnTo>
                    <a:pt x="2756281" y="0"/>
                  </a:lnTo>
                  <a:lnTo>
                    <a:pt x="2756281" y="810768"/>
                  </a:lnTo>
                  <a:lnTo>
                    <a:pt x="0" y="81076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 t="-30" b="-40"/>
              </a:stretch>
            </a:blip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cxnSp>
          <p:nvCxnSpPr>
            <p:cNvPr id="462" name="Google Shape;462;g3dae939ee2c_0_131"/>
            <p:cNvCxnSpPr/>
            <p:nvPr/>
          </p:nvCxnSpPr>
          <p:spPr>
            <a:xfrm>
              <a:off x="2900823" y="0"/>
              <a:ext cx="0" cy="860100"/>
            </a:xfrm>
            <a:prstGeom prst="straightConnector1">
              <a:avLst/>
            </a:prstGeom>
            <a:noFill/>
            <a:ln w="254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463" name="Google Shape;463;g3dae939ee2c_0_131"/>
          <p:cNvSpPr/>
          <p:nvPr/>
        </p:nvSpPr>
        <p:spPr>
          <a:xfrm>
            <a:off x="4657958" y="190596"/>
            <a:ext cx="12865473" cy="802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8F8"/>
              </a:buClr>
              <a:buSzPts val="5832"/>
              <a:buFont typeface="Trebuchet MS"/>
              <a:buNone/>
            </a:pPr>
            <a:r>
              <a:rPr lang="en-US" sz="4800" dirty="0">
                <a:solidFill>
                  <a:srgbClr val="434343"/>
                </a:solidFill>
                <a:latin typeface="Cambria" panose="02040503050406030204" pitchFamily="18" charset="0"/>
                <a:ea typeface="Cambria" panose="02040503050406030204" pitchFamily="18" charset="0"/>
                <a:cs typeface="Poppins"/>
                <a:sym typeface="Poppins"/>
              </a:rPr>
              <a:t>Pod Patterns: Working with Multiple Containers</a:t>
            </a:r>
            <a:endParaRPr sz="4800" b="0" i="0" u="none" strike="noStrike" cap="none" dirty="0">
              <a:solidFill>
                <a:srgbClr val="434343"/>
              </a:solidFill>
              <a:latin typeface="Cambria" panose="02040503050406030204" pitchFamily="18" charset="0"/>
              <a:ea typeface="Cambria" panose="02040503050406030204" pitchFamily="18" charset="0"/>
              <a:cs typeface="Poppins"/>
              <a:sym typeface="Poppins"/>
            </a:endParaRPr>
          </a:p>
        </p:txBody>
      </p:sp>
      <p:sp>
        <p:nvSpPr>
          <p:cNvPr id="464" name="Google Shape;464;g3dae939ee2c_0_131"/>
          <p:cNvSpPr/>
          <p:nvPr/>
        </p:nvSpPr>
        <p:spPr>
          <a:xfrm>
            <a:off x="6210273" y="782903"/>
            <a:ext cx="8772354" cy="552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2603"/>
              <a:buFont typeface="Calibri"/>
              <a:buNone/>
            </a:pPr>
            <a:r>
              <a:rPr lang="en-US" sz="2603" i="1" dirty="0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Three proven patterns for running multiple containers in one Pod</a:t>
            </a:r>
            <a:endParaRPr sz="2603" i="1" dirty="0">
              <a:solidFill>
                <a:srgbClr val="43434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g3dae939ee2c_0_131"/>
          <p:cNvSpPr/>
          <p:nvPr/>
        </p:nvSpPr>
        <p:spPr>
          <a:xfrm>
            <a:off x="108249" y="1302340"/>
            <a:ext cx="10262209" cy="8875835"/>
          </a:xfrm>
          <a:prstGeom prst="roundRect">
            <a:avLst>
              <a:gd name="adj" fmla="val 8602"/>
            </a:avLst>
          </a:prstGeom>
          <a:solidFill>
            <a:srgbClr val="343434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g3dae939ee2c_0_131"/>
          <p:cNvSpPr/>
          <p:nvPr/>
        </p:nvSpPr>
        <p:spPr>
          <a:xfrm>
            <a:off x="10500851" y="7096209"/>
            <a:ext cx="7665523" cy="3142001"/>
          </a:xfrm>
          <a:prstGeom prst="roundRect">
            <a:avLst>
              <a:gd name="adj" fmla="val 8602"/>
            </a:avLst>
          </a:prstGeom>
          <a:solidFill>
            <a:srgbClr val="0D0D0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9775" tIns="79775" rIns="79775" bIns="797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22"/>
              <a:buFont typeface="Arial"/>
              <a:buNone/>
            </a:pPr>
            <a:endParaRPr sz="1222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g3dae939ee2c_0_131"/>
          <p:cNvSpPr/>
          <p:nvPr/>
        </p:nvSpPr>
        <p:spPr>
          <a:xfrm>
            <a:off x="10534025" y="7666664"/>
            <a:ext cx="7632343" cy="29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EF4FF"/>
              </a:buClr>
              <a:buSzPts val="2143"/>
              <a:buFont typeface="Consolas"/>
              <a:buNone/>
            </a:pPr>
            <a:r>
              <a:rPr lang="en-US" sz="2300" dirty="0">
                <a:solidFill>
                  <a:srgbClr val="EEF4FF"/>
                </a:solidFill>
                <a:latin typeface="Cambria" panose="02040503050406030204" pitchFamily="18" charset="0"/>
                <a:ea typeface="Cambria" panose="02040503050406030204" pitchFamily="18" charset="0"/>
                <a:cs typeface="Consolas"/>
                <a:sym typeface="Consolas"/>
              </a:rPr>
              <a:t># Why use sidecar vs separate pod?</a:t>
            </a:r>
            <a:endParaRPr sz="2300" dirty="0">
              <a:solidFill>
                <a:srgbClr val="EEF4FF"/>
              </a:solidFill>
              <a:latin typeface="Cambria" panose="02040503050406030204" pitchFamily="18" charset="0"/>
              <a:ea typeface="Cambria" panose="02040503050406030204" pitchFamily="18" charset="0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EF4FF"/>
              </a:buClr>
              <a:buSzPts val="2143"/>
              <a:buFont typeface="Consolas"/>
              <a:buNone/>
            </a:pPr>
            <a:r>
              <a:rPr lang="en-US" sz="2300" dirty="0">
                <a:solidFill>
                  <a:srgbClr val="EEF4FF"/>
                </a:solidFill>
                <a:latin typeface="Cambria" panose="02040503050406030204" pitchFamily="18" charset="0"/>
                <a:ea typeface="Cambria" panose="02040503050406030204" pitchFamily="18" charset="0"/>
                <a:cs typeface="Consolas"/>
                <a:sym typeface="Consolas"/>
              </a:rPr>
              <a:t># Sidecar: tight coupling, shared localhost, shared volume</a:t>
            </a:r>
            <a:endParaRPr sz="2300" dirty="0">
              <a:solidFill>
                <a:srgbClr val="EEF4FF"/>
              </a:solidFill>
              <a:latin typeface="Cambria" panose="02040503050406030204" pitchFamily="18" charset="0"/>
              <a:ea typeface="Cambria" panose="02040503050406030204" pitchFamily="18" charset="0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EF4FF"/>
              </a:buClr>
              <a:buSzPts val="2143"/>
              <a:buFont typeface="Consolas"/>
              <a:buNone/>
            </a:pPr>
            <a:r>
              <a:rPr lang="en-US" sz="2300" dirty="0">
                <a:solidFill>
                  <a:srgbClr val="EEF4FF"/>
                </a:solidFill>
                <a:latin typeface="Cambria" panose="02040503050406030204" pitchFamily="18" charset="0"/>
                <a:ea typeface="Cambria" panose="02040503050406030204" pitchFamily="18" charset="0"/>
                <a:cs typeface="Consolas"/>
                <a:sym typeface="Consolas"/>
              </a:rPr>
              <a:t># Separate pod: independent lifecycle, scaling, deploys</a:t>
            </a:r>
            <a:endParaRPr sz="2300" dirty="0">
              <a:solidFill>
                <a:srgbClr val="EEF4FF"/>
              </a:solidFill>
              <a:latin typeface="Cambria" panose="02040503050406030204" pitchFamily="18" charset="0"/>
              <a:ea typeface="Cambria" panose="02040503050406030204" pitchFamily="18" charset="0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EF4FF"/>
              </a:buClr>
              <a:buSzPts val="2143"/>
              <a:buFont typeface="Consolas"/>
              <a:buNone/>
            </a:pPr>
            <a:endParaRPr sz="2300" dirty="0">
              <a:solidFill>
                <a:srgbClr val="EEF4FF"/>
              </a:solidFill>
              <a:latin typeface="Cambria" panose="02040503050406030204" pitchFamily="18" charset="0"/>
              <a:ea typeface="Cambria" panose="02040503050406030204" pitchFamily="18" charset="0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EF4FF"/>
              </a:buClr>
              <a:buSzPts val="2143"/>
              <a:buFont typeface="Consolas"/>
              <a:buNone/>
            </a:pPr>
            <a:r>
              <a:rPr lang="en-US" sz="2300" dirty="0">
                <a:solidFill>
                  <a:srgbClr val="EEF4FF"/>
                </a:solidFill>
                <a:latin typeface="Cambria" panose="02040503050406030204" pitchFamily="18" charset="0"/>
                <a:ea typeface="Cambria" panose="02040503050406030204" pitchFamily="18" charset="0"/>
                <a:cs typeface="Consolas"/>
                <a:sym typeface="Consolas"/>
              </a:rPr>
              <a:t># Check all containers in a pod:</a:t>
            </a:r>
            <a:endParaRPr sz="2300" dirty="0">
              <a:solidFill>
                <a:srgbClr val="EEF4FF"/>
              </a:solidFill>
              <a:latin typeface="Cambria" panose="02040503050406030204" pitchFamily="18" charset="0"/>
              <a:ea typeface="Cambria" panose="02040503050406030204" pitchFamily="18" charset="0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EF4FF"/>
              </a:buClr>
              <a:buSzPts val="2143"/>
              <a:buFont typeface="Consolas"/>
              <a:buNone/>
            </a:pPr>
            <a:r>
              <a:rPr lang="en-US" sz="2300" dirty="0" err="1">
                <a:solidFill>
                  <a:srgbClr val="EEF4FF"/>
                </a:solidFill>
                <a:latin typeface="Cambria" panose="02040503050406030204" pitchFamily="18" charset="0"/>
                <a:ea typeface="Cambria" panose="02040503050406030204" pitchFamily="18" charset="0"/>
                <a:cs typeface="Courier New"/>
                <a:sym typeface="Courier New"/>
              </a:rPr>
              <a:t>kubectl</a:t>
            </a:r>
            <a:r>
              <a:rPr lang="en-US" sz="2300" dirty="0">
                <a:solidFill>
                  <a:srgbClr val="EEF4FF"/>
                </a:solidFill>
                <a:latin typeface="Cambria" panose="02040503050406030204" pitchFamily="18" charset="0"/>
                <a:ea typeface="Cambria" panose="02040503050406030204" pitchFamily="18" charset="0"/>
                <a:cs typeface="Courier New"/>
                <a:sym typeface="Courier New"/>
              </a:rPr>
              <a:t> get pod [pod-name] -o </a:t>
            </a:r>
            <a:r>
              <a:rPr lang="en-US" sz="2300" dirty="0" err="1">
                <a:solidFill>
                  <a:srgbClr val="EEF4FF"/>
                </a:solidFill>
                <a:latin typeface="Cambria" panose="02040503050406030204" pitchFamily="18" charset="0"/>
                <a:ea typeface="Cambria" panose="02040503050406030204" pitchFamily="18" charset="0"/>
                <a:cs typeface="Courier New"/>
                <a:sym typeface="Courier New"/>
              </a:rPr>
              <a:t>jsonpath</a:t>
            </a:r>
            <a:r>
              <a:rPr lang="en-US" sz="2300" dirty="0">
                <a:solidFill>
                  <a:srgbClr val="EEF4FF"/>
                </a:solidFill>
                <a:latin typeface="Cambria" panose="02040503050406030204" pitchFamily="18" charset="0"/>
                <a:ea typeface="Cambria" panose="02040503050406030204" pitchFamily="18" charset="0"/>
                <a:cs typeface="Courier New"/>
                <a:sym typeface="Courier New"/>
              </a:rPr>
              <a:t>='{.</a:t>
            </a:r>
            <a:r>
              <a:rPr lang="en-US" sz="2300" dirty="0" err="1">
                <a:solidFill>
                  <a:srgbClr val="EEF4FF"/>
                </a:solidFill>
                <a:latin typeface="Cambria" panose="02040503050406030204" pitchFamily="18" charset="0"/>
                <a:ea typeface="Cambria" panose="02040503050406030204" pitchFamily="18" charset="0"/>
                <a:cs typeface="Courier New"/>
                <a:sym typeface="Courier New"/>
              </a:rPr>
              <a:t>spec.containers</a:t>
            </a:r>
            <a:r>
              <a:rPr lang="en-US" sz="2300" dirty="0">
                <a:solidFill>
                  <a:srgbClr val="EEF4FF"/>
                </a:solidFill>
                <a:latin typeface="Cambria" panose="02040503050406030204" pitchFamily="18" charset="0"/>
                <a:ea typeface="Cambria" panose="02040503050406030204" pitchFamily="18" charset="0"/>
                <a:cs typeface="Courier New"/>
                <a:sym typeface="Courier New"/>
              </a:rPr>
              <a:t>[*].name}'</a:t>
            </a:r>
            <a:endParaRPr sz="2300" dirty="0">
              <a:solidFill>
                <a:srgbClr val="EEF4FF"/>
              </a:solidFill>
              <a:latin typeface="Cambria" panose="02040503050406030204" pitchFamily="18" charset="0"/>
              <a:ea typeface="Cambria" panose="02040503050406030204" pitchFamily="18" charset="0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EF4FF"/>
              </a:buClr>
              <a:buSzPts val="2143"/>
              <a:buFont typeface="Consolas"/>
              <a:buNone/>
            </a:pPr>
            <a:endParaRPr sz="2300" dirty="0">
              <a:solidFill>
                <a:srgbClr val="EEF4FF"/>
              </a:solidFill>
              <a:latin typeface="Cambria" panose="02040503050406030204" pitchFamily="18" charset="0"/>
              <a:ea typeface="Cambria" panose="02040503050406030204" pitchFamily="18" charset="0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EF4FF"/>
              </a:buClr>
              <a:buSzPts val="2143"/>
              <a:buFont typeface="Consolas"/>
              <a:buNone/>
            </a:pPr>
            <a:endParaRPr sz="2300" dirty="0">
              <a:solidFill>
                <a:srgbClr val="EEF4FF"/>
              </a:solidFill>
              <a:latin typeface="Cambria" panose="02040503050406030204" pitchFamily="18" charset="0"/>
              <a:ea typeface="Cambria" panose="02040503050406030204" pitchFamily="18" charset="0"/>
              <a:cs typeface="Consolas"/>
              <a:sym typeface="Consola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FEF0D2-EAC7-9F4C-E15F-67E4E553D729}"/>
              </a:ext>
            </a:extLst>
          </p:cNvPr>
          <p:cNvSpPr txBox="1"/>
          <p:nvPr/>
        </p:nvSpPr>
        <p:spPr>
          <a:xfrm>
            <a:off x="251925" y="1493369"/>
            <a:ext cx="9998204" cy="8887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400" dirty="0">
                <a:solidFill>
                  <a:schemeClr val="accent6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Most Kubernetes Pods </a:t>
            </a:r>
            <a:r>
              <a:rPr lang="en-US" sz="24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run </a:t>
            </a:r>
            <a:r>
              <a:rPr lang="en-US" sz="24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one main application container</a:t>
            </a:r>
            <a:r>
              <a:rPr lang="en-US" sz="24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. However, some applications benefit from additional containers that run alongside the main application and share the Pod's </a:t>
            </a:r>
            <a:r>
              <a:rPr lang="en-US" sz="24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network and storage</a:t>
            </a:r>
            <a:r>
              <a:rPr lang="en-US" sz="24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  <a:p>
            <a:pPr algn="just">
              <a:lnSpc>
                <a:spcPct val="150000"/>
              </a:lnSpc>
            </a:pPr>
            <a:r>
              <a:rPr lang="en-US" sz="24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These supporting containers enable common architectural patterns.</a:t>
            </a:r>
          </a:p>
          <a:p>
            <a:pPr algn="just">
              <a:lnSpc>
                <a:spcPct val="150000"/>
              </a:lnSpc>
            </a:pPr>
            <a:r>
              <a:rPr lang="en-US" sz="2400" b="1" dirty="0">
                <a:solidFill>
                  <a:schemeClr val="accent6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Common Pod Patterns</a:t>
            </a:r>
          </a:p>
          <a:p>
            <a:pPr marL="342900" lvl="0" indent="-342900" algn="just">
              <a:lnSpc>
                <a:spcPct val="150000"/>
              </a:lnSpc>
              <a:buClr>
                <a:schemeClr val="accent6"/>
              </a:buClr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6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Sidecar Pattern: </a:t>
            </a:r>
            <a:r>
              <a:rPr lang="en-US" sz="24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 helper container runs alongside the main application and provides supporting functionality such as </a:t>
            </a:r>
            <a:r>
              <a:rPr lang="en-US" sz="24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log collection, monitoring, proxying, or configuration synchronization</a:t>
            </a:r>
            <a:r>
              <a:rPr lang="en-US" sz="24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  <a:p>
            <a:pPr marL="342900" lvl="0" indent="-342900" algn="just">
              <a:lnSpc>
                <a:spcPct val="150000"/>
              </a:lnSpc>
              <a:buClr>
                <a:schemeClr val="accent6"/>
              </a:buClr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6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Ambassador Pattern:</a:t>
            </a:r>
            <a:r>
              <a:rPr lang="en-US" sz="2400" dirty="0">
                <a:solidFill>
                  <a:schemeClr val="accent6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4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 proxy container handles communication on behalf of the main application, such as </a:t>
            </a:r>
            <a:r>
              <a:rPr lang="en-US" sz="24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TLS termination, connection management, retries, or traffic routing</a:t>
            </a:r>
            <a:r>
              <a:rPr lang="en-US" sz="24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  <a:p>
            <a:pPr marL="342900" lvl="0" indent="-342900" algn="just">
              <a:lnSpc>
                <a:spcPct val="150000"/>
              </a:lnSpc>
              <a:buClr>
                <a:schemeClr val="accent6"/>
              </a:buClr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6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Adapter Pattern:</a:t>
            </a:r>
            <a:r>
              <a:rPr lang="en-US" sz="2400" dirty="0">
                <a:solidFill>
                  <a:schemeClr val="accent6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4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 helper container transforms or normalizes the main application's output into a format that another system can easily consume, for example, converting application logs into a standard format.</a:t>
            </a:r>
          </a:p>
          <a:p>
            <a:pPr>
              <a:lnSpc>
                <a:spcPct val="150000"/>
              </a:lnSpc>
            </a:pPr>
            <a:endParaRPr lang="en-US" sz="2400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Google Shape;465;g3dae939ee2c_0_131">
            <a:extLst>
              <a:ext uri="{FF2B5EF4-FFF2-40B4-BE49-F238E27FC236}">
                <a16:creationId xmlns:a16="http://schemas.microsoft.com/office/drawing/2014/main" id="{CD686EA2-35D2-328F-5797-F7E32387A2F2}"/>
              </a:ext>
            </a:extLst>
          </p:cNvPr>
          <p:cNvSpPr/>
          <p:nvPr/>
        </p:nvSpPr>
        <p:spPr>
          <a:xfrm>
            <a:off x="10500845" y="1335871"/>
            <a:ext cx="7665523" cy="5563767"/>
          </a:xfrm>
          <a:prstGeom prst="roundRect">
            <a:avLst>
              <a:gd name="adj" fmla="val 8602"/>
            </a:avLst>
          </a:prstGeom>
          <a:solidFill>
            <a:srgbClr val="343434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DCFADCE-8A75-69D4-650E-43E834BE5A1B}"/>
              </a:ext>
            </a:extLst>
          </p:cNvPr>
          <p:cNvSpPr txBox="1"/>
          <p:nvPr/>
        </p:nvSpPr>
        <p:spPr>
          <a:xfrm>
            <a:off x="10534025" y="1493369"/>
            <a:ext cx="7665522" cy="5563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400" b="1" dirty="0">
                <a:solidFill>
                  <a:schemeClr val="accent6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Init Container:</a:t>
            </a:r>
            <a:r>
              <a:rPr lang="en-US" sz="2400" dirty="0">
                <a:solidFill>
                  <a:schemeClr val="accent6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4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Runs </a:t>
            </a:r>
            <a:r>
              <a:rPr lang="en-US" sz="24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before the main application containers start</a:t>
            </a:r>
            <a:r>
              <a:rPr lang="en-US" sz="24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. It performs initialization tasks such as checking dependencies, preparing configuration, downloading required files, or running database migrations.</a:t>
            </a:r>
          </a:p>
          <a:p>
            <a:pPr algn="just">
              <a:lnSpc>
                <a:spcPct val="150000"/>
              </a:lnSpc>
            </a:pPr>
            <a:r>
              <a:rPr lang="en-US" sz="2400" b="1" dirty="0">
                <a:solidFill>
                  <a:schemeClr val="accent6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Key Takeaway:</a:t>
            </a:r>
            <a:r>
              <a:rPr lang="en-US" sz="2400" dirty="0">
                <a:solidFill>
                  <a:schemeClr val="accent6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4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Multiple containers in a Pod should be used when containers need to </a:t>
            </a:r>
            <a:r>
              <a:rPr lang="en-US" sz="24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share resources and work closely together</a:t>
            </a:r>
            <a:r>
              <a:rPr lang="en-US" sz="24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. Otherwise, keeping applications in separate Pods is usually simpler.</a:t>
            </a:r>
          </a:p>
          <a:p>
            <a:pPr algn="just">
              <a:lnSpc>
                <a:spcPct val="150000"/>
              </a:lnSpc>
            </a:pPr>
            <a:endParaRPr 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g3dae939ee2c_0_154"/>
          <p:cNvSpPr/>
          <p:nvPr/>
        </p:nvSpPr>
        <p:spPr>
          <a:xfrm>
            <a:off x="252014" y="153766"/>
            <a:ext cx="17783973" cy="9979469"/>
          </a:xfrm>
          <a:custGeom>
            <a:avLst/>
            <a:gdLst/>
            <a:ahLst/>
            <a:cxnLst/>
            <a:rect l="l" t="t" r="r" b="b"/>
            <a:pathLst>
              <a:path w="17783973" h="9979469" extrusionOk="0">
                <a:moveTo>
                  <a:pt x="0" y="0"/>
                </a:moveTo>
                <a:lnTo>
                  <a:pt x="17783972" y="0"/>
                </a:lnTo>
                <a:lnTo>
                  <a:pt x="17783972" y="9979468"/>
                </a:lnTo>
                <a:lnTo>
                  <a:pt x="0" y="997946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4000"/>
            </a:blip>
            <a:stretch>
              <a:fillRect l="-2130" t="-130" b="-6510"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grpSp>
        <p:nvGrpSpPr>
          <p:cNvPr id="481" name="Google Shape;481;g3dae939ee2c_0_154"/>
          <p:cNvGrpSpPr/>
          <p:nvPr/>
        </p:nvGrpSpPr>
        <p:grpSpPr>
          <a:xfrm>
            <a:off x="530603" y="553241"/>
            <a:ext cx="4536332" cy="836104"/>
            <a:chOff x="0" y="0"/>
            <a:chExt cx="6048443" cy="1114806"/>
          </a:xfrm>
        </p:grpSpPr>
        <p:sp>
          <p:nvSpPr>
            <p:cNvPr id="482" name="Google Shape;482;g3dae939ee2c_0_154" descr="Insights on ACTD Accreditation from a Leading Body"/>
            <p:cNvSpPr/>
            <p:nvPr/>
          </p:nvSpPr>
          <p:spPr>
            <a:xfrm>
              <a:off x="2976677" y="44434"/>
              <a:ext cx="1070372" cy="1070372"/>
            </a:xfrm>
            <a:custGeom>
              <a:avLst/>
              <a:gdLst/>
              <a:ahLst/>
              <a:cxnLst/>
              <a:rect l="l" t="t" r="r" b="b"/>
              <a:pathLst>
                <a:path w="2952750" h="2952750" extrusionOk="0">
                  <a:moveTo>
                    <a:pt x="0" y="0"/>
                  </a:moveTo>
                  <a:lnTo>
                    <a:pt x="2952750" y="0"/>
                  </a:lnTo>
                  <a:lnTo>
                    <a:pt x="2952750" y="2952750"/>
                  </a:lnTo>
                  <a:lnTo>
                    <a:pt x="0" y="295275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83" name="Google Shape;483;g3dae939ee2c_0_154"/>
            <p:cNvSpPr txBox="1"/>
            <p:nvPr/>
          </p:nvSpPr>
          <p:spPr>
            <a:xfrm>
              <a:off x="4168343" y="157841"/>
              <a:ext cx="1880100" cy="532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1992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63"/>
                <a:buFont typeface="Arial"/>
                <a:buNone/>
              </a:pPr>
              <a:r>
                <a:rPr lang="en-US" sz="763" b="0" i="0" u="none" strike="noStrike" cap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ACCREDITED BY THE AMERICAN COUNCIL OF TRAINING AND DEVELOPMENT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4" name="Google Shape;484;g3dae939ee2c_0_154"/>
            <p:cNvSpPr/>
            <p:nvPr/>
          </p:nvSpPr>
          <p:spPr>
            <a:xfrm>
              <a:off x="0" y="44434"/>
              <a:ext cx="2756281" cy="810768"/>
            </a:xfrm>
            <a:custGeom>
              <a:avLst/>
              <a:gdLst/>
              <a:ahLst/>
              <a:cxnLst/>
              <a:rect l="l" t="t" r="r" b="b"/>
              <a:pathLst>
                <a:path w="2756281" h="810768" extrusionOk="0">
                  <a:moveTo>
                    <a:pt x="0" y="0"/>
                  </a:moveTo>
                  <a:lnTo>
                    <a:pt x="2756281" y="0"/>
                  </a:lnTo>
                  <a:lnTo>
                    <a:pt x="2756281" y="810768"/>
                  </a:lnTo>
                  <a:lnTo>
                    <a:pt x="0" y="81076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 t="-30" b="-40"/>
              </a:stretch>
            </a:blip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cxnSp>
          <p:nvCxnSpPr>
            <p:cNvPr id="485" name="Google Shape;485;g3dae939ee2c_0_154"/>
            <p:cNvCxnSpPr/>
            <p:nvPr/>
          </p:nvCxnSpPr>
          <p:spPr>
            <a:xfrm>
              <a:off x="2900823" y="0"/>
              <a:ext cx="0" cy="860100"/>
            </a:xfrm>
            <a:prstGeom prst="straightConnector1">
              <a:avLst/>
            </a:prstGeom>
            <a:noFill/>
            <a:ln w="254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486" name="Google Shape;486;g3dae939ee2c_0_154"/>
          <p:cNvSpPr/>
          <p:nvPr/>
        </p:nvSpPr>
        <p:spPr>
          <a:xfrm>
            <a:off x="5217318" y="754896"/>
            <a:ext cx="11961789" cy="6317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8F8"/>
              </a:buClr>
              <a:buSzPts val="5832"/>
              <a:buFont typeface="Trebuchet MS"/>
              <a:buNone/>
            </a:pPr>
            <a:r>
              <a:rPr lang="en-US" sz="4800" dirty="0">
                <a:solidFill>
                  <a:srgbClr val="434343"/>
                </a:solidFill>
                <a:latin typeface="Cambria" panose="02040503050406030204" pitchFamily="18" charset="0"/>
                <a:ea typeface="Cambria" panose="02040503050406030204" pitchFamily="18" charset="0"/>
                <a:cs typeface="Poppins"/>
                <a:sym typeface="Poppins"/>
              </a:rPr>
              <a:t>Deployment: Managing Application Replicas</a:t>
            </a:r>
            <a:endParaRPr sz="4800" b="0" i="0" u="none" strike="noStrike" cap="none" dirty="0">
              <a:solidFill>
                <a:srgbClr val="434343"/>
              </a:solidFill>
              <a:latin typeface="Cambria" panose="02040503050406030204" pitchFamily="18" charset="0"/>
              <a:ea typeface="Cambria" panose="02040503050406030204" pitchFamily="18" charset="0"/>
              <a:cs typeface="Poppins"/>
              <a:sym typeface="Poppins"/>
            </a:endParaRPr>
          </a:p>
        </p:txBody>
      </p:sp>
      <p:sp>
        <p:nvSpPr>
          <p:cNvPr id="488" name="Google Shape;488;g3dae939ee2c_0_154"/>
          <p:cNvSpPr/>
          <p:nvPr/>
        </p:nvSpPr>
        <p:spPr>
          <a:xfrm>
            <a:off x="108250" y="1588628"/>
            <a:ext cx="9395700" cy="8589547"/>
          </a:xfrm>
          <a:prstGeom prst="roundRect">
            <a:avLst>
              <a:gd name="adj" fmla="val 8602"/>
            </a:avLst>
          </a:prstGeom>
          <a:solidFill>
            <a:srgbClr val="343434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g3dae939ee2c_0_154"/>
          <p:cNvSpPr/>
          <p:nvPr/>
        </p:nvSpPr>
        <p:spPr>
          <a:xfrm rot="5400000">
            <a:off x="12346905" y="-749663"/>
            <a:ext cx="2915974" cy="8199300"/>
          </a:xfrm>
          <a:prstGeom prst="rect">
            <a:avLst/>
          </a:prstGeom>
          <a:solidFill>
            <a:srgbClr val="3A3A3A"/>
          </a:solidFill>
          <a:ln w="26450" cap="flat" cmpd="sng">
            <a:solidFill>
              <a:srgbClr val="3A3A3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90425" tIns="190425" rIns="190425" bIns="190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2" name="Google Shape;492;g3dae939ee2c_0_154"/>
          <p:cNvSpPr/>
          <p:nvPr/>
        </p:nvSpPr>
        <p:spPr>
          <a:xfrm>
            <a:off x="9647714" y="6902754"/>
            <a:ext cx="8518661" cy="3128984"/>
          </a:xfrm>
          <a:prstGeom prst="roundRect">
            <a:avLst>
              <a:gd name="adj" fmla="val 8602"/>
            </a:avLst>
          </a:prstGeom>
          <a:solidFill>
            <a:srgbClr val="0D0D0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9775" tIns="79775" rIns="79775" bIns="797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22"/>
              <a:buFont typeface="Arial"/>
              <a:buNone/>
            </a:pPr>
            <a:endParaRPr sz="1222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g3dae939ee2c_0_154"/>
          <p:cNvSpPr/>
          <p:nvPr/>
        </p:nvSpPr>
        <p:spPr>
          <a:xfrm>
            <a:off x="9979318" y="7109408"/>
            <a:ext cx="7581300" cy="29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EF4FF"/>
              </a:buClr>
              <a:buSzPts val="2143"/>
              <a:buFont typeface="Consolas"/>
              <a:buNone/>
            </a:pPr>
            <a:r>
              <a:rPr lang="en-US" sz="2200" dirty="0">
                <a:solidFill>
                  <a:srgbClr val="EEF4FF"/>
                </a:solidFill>
                <a:latin typeface="Cambria" panose="02040503050406030204" pitchFamily="18" charset="0"/>
                <a:ea typeface="Cambria" panose="02040503050406030204" pitchFamily="18" charset="0"/>
                <a:cs typeface="Consolas"/>
                <a:sym typeface="Consolas"/>
              </a:rPr>
              <a:t># Create a deployment</a:t>
            </a:r>
            <a:endParaRPr sz="2200" dirty="0">
              <a:solidFill>
                <a:srgbClr val="EEF4FF"/>
              </a:solidFill>
              <a:latin typeface="Cambria" panose="02040503050406030204" pitchFamily="18" charset="0"/>
              <a:ea typeface="Cambria" panose="02040503050406030204" pitchFamily="18" charset="0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EF4FF"/>
              </a:buClr>
              <a:buSzPts val="2143"/>
              <a:buFont typeface="Consolas"/>
              <a:buNone/>
            </a:pPr>
            <a:r>
              <a:rPr lang="en-US" sz="2200" dirty="0" err="1">
                <a:solidFill>
                  <a:srgbClr val="EEF4FF"/>
                </a:solidFill>
                <a:latin typeface="Cambria" panose="02040503050406030204" pitchFamily="18" charset="0"/>
                <a:ea typeface="Cambria" panose="02040503050406030204" pitchFamily="18" charset="0"/>
                <a:cs typeface="Courier New"/>
                <a:sym typeface="Courier New"/>
              </a:rPr>
              <a:t>kubectl</a:t>
            </a:r>
            <a:r>
              <a:rPr lang="en-US" sz="2200" dirty="0">
                <a:solidFill>
                  <a:srgbClr val="EEF4FF"/>
                </a:solidFill>
                <a:latin typeface="Cambria" panose="02040503050406030204" pitchFamily="18" charset="0"/>
                <a:ea typeface="Cambria" panose="02040503050406030204" pitchFamily="18" charset="0"/>
                <a:cs typeface="Courier New"/>
                <a:sym typeface="Courier New"/>
              </a:rPr>
              <a:t> create deploy web --image=nginx:1.25 --replicas=3</a:t>
            </a:r>
            <a:endParaRPr sz="2200" dirty="0">
              <a:solidFill>
                <a:srgbClr val="EEF4FF"/>
              </a:solidFill>
              <a:latin typeface="Cambria" panose="02040503050406030204" pitchFamily="18" charset="0"/>
              <a:ea typeface="Cambria" panose="02040503050406030204" pitchFamily="18" charset="0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EF4FF"/>
              </a:buClr>
              <a:buSzPts val="2143"/>
              <a:buFont typeface="Consolas"/>
              <a:buNone/>
            </a:pPr>
            <a:endParaRPr sz="2200" dirty="0">
              <a:solidFill>
                <a:srgbClr val="EEF4FF"/>
              </a:solidFill>
              <a:latin typeface="Cambria" panose="02040503050406030204" pitchFamily="18" charset="0"/>
              <a:ea typeface="Cambria" panose="02040503050406030204" pitchFamily="18" charset="0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EF4FF"/>
              </a:buClr>
              <a:buSzPts val="2143"/>
              <a:buFont typeface="Consolas"/>
              <a:buNone/>
            </a:pPr>
            <a:r>
              <a:rPr lang="en-US" sz="2200" dirty="0">
                <a:solidFill>
                  <a:srgbClr val="EEF4FF"/>
                </a:solidFill>
                <a:latin typeface="Cambria" panose="02040503050406030204" pitchFamily="18" charset="0"/>
                <a:ea typeface="Cambria" panose="02040503050406030204" pitchFamily="18" charset="0"/>
                <a:cs typeface="Consolas"/>
                <a:sym typeface="Consolas"/>
              </a:rPr>
              <a:t># Or apply from YAML (recommended)</a:t>
            </a:r>
            <a:endParaRPr sz="2200" dirty="0">
              <a:solidFill>
                <a:srgbClr val="EEF4FF"/>
              </a:solidFill>
              <a:latin typeface="Cambria" panose="02040503050406030204" pitchFamily="18" charset="0"/>
              <a:ea typeface="Cambria" panose="02040503050406030204" pitchFamily="18" charset="0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EF4FF"/>
              </a:buClr>
              <a:buSzPts val="2143"/>
              <a:buFont typeface="Consolas"/>
              <a:buNone/>
            </a:pPr>
            <a:r>
              <a:rPr lang="en-US" sz="2200" dirty="0" err="1">
                <a:solidFill>
                  <a:srgbClr val="EEF4FF"/>
                </a:solidFill>
                <a:latin typeface="Cambria" panose="02040503050406030204" pitchFamily="18" charset="0"/>
                <a:ea typeface="Cambria" panose="02040503050406030204" pitchFamily="18" charset="0"/>
                <a:cs typeface="Courier New"/>
                <a:sym typeface="Courier New"/>
              </a:rPr>
              <a:t>kubectl</a:t>
            </a:r>
            <a:r>
              <a:rPr lang="en-US" sz="2200" dirty="0">
                <a:solidFill>
                  <a:srgbClr val="EEF4FF"/>
                </a:solidFill>
                <a:latin typeface="Cambria" panose="02040503050406030204" pitchFamily="18" charset="0"/>
                <a:ea typeface="Cambria" panose="02040503050406030204" pitchFamily="18" charset="0"/>
                <a:cs typeface="Courier New"/>
                <a:sym typeface="Courier New"/>
              </a:rPr>
              <a:t> apply -f </a:t>
            </a:r>
            <a:r>
              <a:rPr lang="en-US" sz="2200" dirty="0" err="1">
                <a:solidFill>
                  <a:srgbClr val="EEF4FF"/>
                </a:solidFill>
                <a:latin typeface="Cambria" panose="02040503050406030204" pitchFamily="18" charset="0"/>
                <a:ea typeface="Cambria" panose="02040503050406030204" pitchFamily="18" charset="0"/>
                <a:cs typeface="Courier New"/>
                <a:sym typeface="Courier New"/>
              </a:rPr>
              <a:t>deployment.yaml</a:t>
            </a:r>
            <a:endParaRPr sz="2200" dirty="0">
              <a:solidFill>
                <a:srgbClr val="EEF4FF"/>
              </a:solidFill>
              <a:latin typeface="Cambria" panose="02040503050406030204" pitchFamily="18" charset="0"/>
              <a:ea typeface="Cambria" panose="02040503050406030204" pitchFamily="18" charset="0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EF4FF"/>
              </a:buClr>
              <a:buSzPts val="2143"/>
              <a:buFont typeface="Consolas"/>
              <a:buNone/>
            </a:pPr>
            <a:endParaRPr sz="2200" dirty="0">
              <a:solidFill>
                <a:srgbClr val="EEF4FF"/>
              </a:solidFill>
              <a:latin typeface="Cambria" panose="02040503050406030204" pitchFamily="18" charset="0"/>
              <a:ea typeface="Cambria" panose="02040503050406030204" pitchFamily="18" charset="0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EF4FF"/>
              </a:buClr>
              <a:buSzPts val="2143"/>
              <a:buFont typeface="Consolas"/>
              <a:buNone/>
            </a:pPr>
            <a:r>
              <a:rPr lang="en-US" sz="2200" dirty="0">
                <a:solidFill>
                  <a:srgbClr val="EEF4FF"/>
                </a:solidFill>
                <a:latin typeface="Cambria" panose="02040503050406030204" pitchFamily="18" charset="0"/>
                <a:ea typeface="Cambria" panose="02040503050406030204" pitchFamily="18" charset="0"/>
                <a:cs typeface="Consolas"/>
                <a:sym typeface="Consolas"/>
              </a:rPr>
              <a:t># Watch rollout status</a:t>
            </a:r>
            <a:endParaRPr sz="2200" dirty="0">
              <a:solidFill>
                <a:srgbClr val="EEF4FF"/>
              </a:solidFill>
              <a:latin typeface="Cambria" panose="02040503050406030204" pitchFamily="18" charset="0"/>
              <a:ea typeface="Cambria" panose="02040503050406030204" pitchFamily="18" charset="0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EF4FF"/>
              </a:buClr>
              <a:buSzPts val="2143"/>
              <a:buFont typeface="Consolas"/>
              <a:buNone/>
            </a:pPr>
            <a:r>
              <a:rPr lang="en-US" sz="2200" dirty="0" err="1">
                <a:solidFill>
                  <a:srgbClr val="EEF4FF"/>
                </a:solidFill>
                <a:latin typeface="Cambria" panose="02040503050406030204" pitchFamily="18" charset="0"/>
                <a:ea typeface="Cambria" panose="02040503050406030204" pitchFamily="18" charset="0"/>
                <a:cs typeface="Courier New"/>
                <a:sym typeface="Courier New"/>
              </a:rPr>
              <a:t>kubectl</a:t>
            </a:r>
            <a:r>
              <a:rPr lang="en-US" sz="2200" dirty="0">
                <a:solidFill>
                  <a:srgbClr val="EEF4FF"/>
                </a:solidFill>
                <a:latin typeface="Cambria" panose="02040503050406030204" pitchFamily="18" charset="0"/>
                <a:ea typeface="Cambria" panose="02040503050406030204" pitchFamily="18" charset="0"/>
                <a:cs typeface="Courier New"/>
                <a:sym typeface="Courier New"/>
              </a:rPr>
              <a:t> rollout status deploy/web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EF4FF"/>
              </a:buClr>
              <a:buSzPts val="2143"/>
              <a:buFont typeface="Consolas"/>
              <a:buNone/>
            </a:pPr>
            <a:endParaRPr lang="en-US" sz="2200" dirty="0">
              <a:solidFill>
                <a:srgbClr val="EEF4FF"/>
              </a:solidFill>
              <a:latin typeface="Cambria" panose="02040503050406030204" pitchFamily="18" charset="0"/>
              <a:ea typeface="Cambria" panose="02040503050406030204" pitchFamily="18" charset="0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EF4FF"/>
              </a:buClr>
              <a:buSzPts val="2143"/>
              <a:buFont typeface="Consolas"/>
              <a:buNone/>
            </a:pPr>
            <a:endParaRPr sz="2200" dirty="0">
              <a:solidFill>
                <a:srgbClr val="EEF4FF"/>
              </a:solidFill>
              <a:latin typeface="Cambria" panose="02040503050406030204" pitchFamily="18" charset="0"/>
              <a:ea typeface="Cambria" panose="02040503050406030204" pitchFamily="18" charset="0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EF4FF"/>
              </a:buClr>
              <a:buSzPts val="2143"/>
              <a:buFont typeface="Consolas"/>
              <a:buNone/>
            </a:pPr>
            <a:endParaRPr sz="2200" dirty="0">
              <a:solidFill>
                <a:srgbClr val="EEF4FF"/>
              </a:solidFill>
              <a:latin typeface="Cambria" panose="02040503050406030204" pitchFamily="18" charset="0"/>
              <a:ea typeface="Cambria" panose="02040503050406030204" pitchFamily="18" charset="0"/>
              <a:cs typeface="Consolas"/>
              <a:sym typeface="Consola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40D1E1B-9A7E-A797-FA31-A985680B3BAE}"/>
              </a:ext>
            </a:extLst>
          </p:cNvPr>
          <p:cNvSpPr txBox="1"/>
          <p:nvPr/>
        </p:nvSpPr>
        <p:spPr>
          <a:xfrm>
            <a:off x="144263" y="1821949"/>
            <a:ext cx="9083804" cy="83337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400" dirty="0">
                <a:solidFill>
                  <a:schemeClr val="accent6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 </a:t>
            </a:r>
            <a:r>
              <a:rPr lang="en-US" sz="2400" b="1" dirty="0">
                <a:solidFill>
                  <a:schemeClr val="accent6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Deployment</a:t>
            </a:r>
            <a:r>
              <a:rPr lang="en-US" sz="2400" dirty="0">
                <a:solidFill>
                  <a:schemeClr val="accent6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4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is one of the most common Kubernetes resources for running </a:t>
            </a:r>
            <a:r>
              <a:rPr lang="en-US" sz="24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stateless applications</a:t>
            </a:r>
            <a:r>
              <a:rPr lang="en-US" sz="24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  <a:p>
            <a:pPr algn="just">
              <a:lnSpc>
                <a:spcPct val="150000"/>
              </a:lnSpc>
            </a:pPr>
            <a:r>
              <a:rPr lang="en-US" sz="24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It manages a </a:t>
            </a:r>
            <a:r>
              <a:rPr lang="en-US" sz="2400" b="1" dirty="0" err="1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ReplicaSet</a:t>
            </a:r>
            <a:r>
              <a:rPr lang="en-US" sz="24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, which in turn creates and maintains the required number of </a:t>
            </a:r>
            <a:r>
              <a:rPr lang="en-US" sz="24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Pods</a:t>
            </a:r>
            <a:r>
              <a:rPr lang="en-US" sz="24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  <a:p>
            <a:pPr algn="just">
              <a:lnSpc>
                <a:spcPct val="150000"/>
              </a:lnSpc>
            </a:pPr>
            <a:r>
              <a:rPr lang="en-US" sz="24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Kubernetes continuously works to keep </a:t>
            </a:r>
            <a:r>
              <a:rPr lang="en-US" sz="24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3 Pods running</a:t>
            </a:r>
            <a:r>
              <a:rPr lang="en-US" sz="24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  <a:p>
            <a:pPr algn="just">
              <a:lnSpc>
                <a:spcPct val="150000"/>
              </a:lnSpc>
            </a:pPr>
            <a:r>
              <a:rPr lang="en-US" sz="2400" b="1" dirty="0">
                <a:solidFill>
                  <a:schemeClr val="accent6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Key Features</a:t>
            </a:r>
          </a:p>
          <a:p>
            <a:pPr marL="342900" lvl="0" indent="-342900" algn="just">
              <a:lnSpc>
                <a:spcPct val="150000"/>
              </a:lnSpc>
              <a:buClr>
                <a:schemeClr val="accent6"/>
              </a:buClr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6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Replica Management:</a:t>
            </a:r>
            <a:r>
              <a:rPr lang="en-US" sz="2400" dirty="0">
                <a:solidFill>
                  <a:schemeClr val="accent6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4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The </a:t>
            </a:r>
            <a:r>
              <a:rPr lang="en-US" sz="2400" dirty="0" err="1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ReplicaSet</a:t>
            </a:r>
            <a:r>
              <a:rPr lang="en-US" sz="24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ensures the desired number of Pod replicas are running and replaces Pods when they fail.</a:t>
            </a:r>
          </a:p>
          <a:p>
            <a:pPr marL="342900" lvl="0" indent="-342900" algn="just">
              <a:lnSpc>
                <a:spcPct val="150000"/>
              </a:lnSpc>
              <a:buClr>
                <a:schemeClr val="accent6"/>
              </a:buClr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6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Rolling Updates:</a:t>
            </a:r>
            <a:r>
              <a:rPr lang="en-US" sz="2400" dirty="0">
                <a:solidFill>
                  <a:schemeClr val="accent6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4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Deploy a new application version gradually by replacing old Pods with new ones, helping maintain service availability.</a:t>
            </a:r>
          </a:p>
          <a:p>
            <a:pPr marL="342900" lvl="0" indent="-342900" algn="just">
              <a:lnSpc>
                <a:spcPct val="150000"/>
              </a:lnSpc>
              <a:buClr>
                <a:schemeClr val="accent6"/>
              </a:buClr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6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Rollback:</a:t>
            </a:r>
            <a:r>
              <a:rPr lang="en-US" sz="2400" dirty="0">
                <a:solidFill>
                  <a:schemeClr val="accent6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4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If a deployment causes problems, you can return to a previous revision.</a:t>
            </a:r>
          </a:p>
          <a:p>
            <a:pPr algn="just">
              <a:lnSpc>
                <a:spcPct val="150000"/>
              </a:lnSpc>
            </a:pPr>
            <a:endParaRPr lang="en-US" sz="2400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77AB2BE-4C30-CDA3-39FC-5FAB1A2B6DB6}"/>
              </a:ext>
            </a:extLst>
          </p:cNvPr>
          <p:cNvSpPr txBox="1"/>
          <p:nvPr/>
        </p:nvSpPr>
        <p:spPr>
          <a:xfrm>
            <a:off x="9670318" y="1911846"/>
            <a:ext cx="8199300" cy="32316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400" i="1" dirty="0" err="1">
                <a:solidFill>
                  <a:schemeClr val="accent6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kubectl</a:t>
            </a:r>
            <a:r>
              <a:rPr lang="en-US" sz="2400" i="1" dirty="0">
                <a:solidFill>
                  <a:schemeClr val="accent6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rollout undo deployment/web</a:t>
            </a:r>
          </a:p>
          <a:p>
            <a:pPr lvl="0" algn="just">
              <a:lnSpc>
                <a:spcPct val="150000"/>
              </a:lnSpc>
            </a:pPr>
            <a:r>
              <a:rPr lang="en-US" sz="24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Revision History:</a:t>
            </a:r>
            <a:r>
              <a:rPr lang="en-US" sz="24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Kubernetes maintains Deployment revisions, allowing you to inspect previous versions and deployment changes.</a:t>
            </a:r>
          </a:p>
          <a:p>
            <a:pPr algn="just">
              <a:lnSpc>
                <a:spcPct val="150000"/>
              </a:lnSpc>
            </a:pPr>
            <a:r>
              <a:rPr lang="en-US" sz="2400" i="1" dirty="0" err="1">
                <a:solidFill>
                  <a:schemeClr val="accent6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kubectl</a:t>
            </a:r>
            <a:r>
              <a:rPr lang="en-US" sz="2400" i="1" dirty="0">
                <a:solidFill>
                  <a:schemeClr val="accent6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rollout history deployment/web</a:t>
            </a:r>
          </a:p>
          <a:p>
            <a:pPr algn="just"/>
            <a:endParaRPr lang="en-US" sz="2400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B4F10E5-F153-5B7F-75A2-D514C9D357F7}"/>
              </a:ext>
            </a:extLst>
          </p:cNvPr>
          <p:cNvSpPr txBox="1"/>
          <p:nvPr/>
        </p:nvSpPr>
        <p:spPr>
          <a:xfrm>
            <a:off x="9670318" y="4976043"/>
            <a:ext cx="8164376" cy="16857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Key Takeaway: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 A </a:t>
            </a:r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Deployment manages the desired state of your application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, while the </a:t>
            </a:r>
            <a:r>
              <a:rPr lang="en-US" sz="2400" b="1" dirty="0" err="1">
                <a:latin typeface="Cambria" panose="02040503050406030204" pitchFamily="18" charset="0"/>
                <a:ea typeface="Cambria" panose="02040503050406030204" pitchFamily="18" charset="0"/>
              </a:rPr>
              <a:t>ReplicaSet</a:t>
            </a:r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 maintains the required Pods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 and supports updates and recovery.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g39783d9389a_0_103"/>
          <p:cNvSpPr/>
          <p:nvPr/>
        </p:nvSpPr>
        <p:spPr>
          <a:xfrm>
            <a:off x="252014" y="153766"/>
            <a:ext cx="17783973" cy="9979469"/>
          </a:xfrm>
          <a:custGeom>
            <a:avLst/>
            <a:gdLst/>
            <a:ahLst/>
            <a:cxnLst/>
            <a:rect l="l" t="t" r="r" b="b"/>
            <a:pathLst>
              <a:path w="17783973" h="9979469" extrusionOk="0">
                <a:moveTo>
                  <a:pt x="0" y="0"/>
                </a:moveTo>
                <a:lnTo>
                  <a:pt x="17783972" y="0"/>
                </a:lnTo>
                <a:lnTo>
                  <a:pt x="17783972" y="9979468"/>
                </a:lnTo>
                <a:lnTo>
                  <a:pt x="0" y="997946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4000"/>
            </a:blip>
            <a:stretch>
              <a:fillRect l="-2130" t="-130" b="-6510"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grpSp>
        <p:nvGrpSpPr>
          <p:cNvPr id="504" name="Google Shape;504;g39783d9389a_0_103"/>
          <p:cNvGrpSpPr/>
          <p:nvPr/>
        </p:nvGrpSpPr>
        <p:grpSpPr>
          <a:xfrm>
            <a:off x="530603" y="553241"/>
            <a:ext cx="4536332" cy="836104"/>
            <a:chOff x="0" y="0"/>
            <a:chExt cx="6048443" cy="1114806"/>
          </a:xfrm>
        </p:grpSpPr>
        <p:sp>
          <p:nvSpPr>
            <p:cNvPr id="505" name="Google Shape;505;g39783d9389a_0_103" descr="Insights on ACTD Accreditation from a Leading Body"/>
            <p:cNvSpPr/>
            <p:nvPr/>
          </p:nvSpPr>
          <p:spPr>
            <a:xfrm>
              <a:off x="2976677" y="44434"/>
              <a:ext cx="1070372" cy="1070372"/>
            </a:xfrm>
            <a:custGeom>
              <a:avLst/>
              <a:gdLst/>
              <a:ahLst/>
              <a:cxnLst/>
              <a:rect l="l" t="t" r="r" b="b"/>
              <a:pathLst>
                <a:path w="2952750" h="2952750" extrusionOk="0">
                  <a:moveTo>
                    <a:pt x="0" y="0"/>
                  </a:moveTo>
                  <a:lnTo>
                    <a:pt x="2952750" y="0"/>
                  </a:lnTo>
                  <a:lnTo>
                    <a:pt x="2952750" y="2952750"/>
                  </a:lnTo>
                  <a:lnTo>
                    <a:pt x="0" y="295275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06" name="Google Shape;506;g39783d9389a_0_103"/>
            <p:cNvSpPr txBox="1"/>
            <p:nvPr/>
          </p:nvSpPr>
          <p:spPr>
            <a:xfrm>
              <a:off x="4168343" y="157841"/>
              <a:ext cx="1880100" cy="532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1992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63"/>
                <a:buFont typeface="Arial"/>
                <a:buNone/>
              </a:pPr>
              <a:r>
                <a:rPr lang="en-US" sz="763" b="0" i="0" u="none" strike="noStrike" cap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ACCREDITED BY THE AMERICAN COUNCIL OF TRAINING AND DEVELOPMENT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7" name="Google Shape;507;g39783d9389a_0_103"/>
            <p:cNvSpPr/>
            <p:nvPr/>
          </p:nvSpPr>
          <p:spPr>
            <a:xfrm>
              <a:off x="0" y="44434"/>
              <a:ext cx="2756281" cy="810768"/>
            </a:xfrm>
            <a:custGeom>
              <a:avLst/>
              <a:gdLst/>
              <a:ahLst/>
              <a:cxnLst/>
              <a:rect l="l" t="t" r="r" b="b"/>
              <a:pathLst>
                <a:path w="2756281" h="810768" extrusionOk="0">
                  <a:moveTo>
                    <a:pt x="0" y="0"/>
                  </a:moveTo>
                  <a:lnTo>
                    <a:pt x="2756281" y="0"/>
                  </a:lnTo>
                  <a:lnTo>
                    <a:pt x="2756281" y="810768"/>
                  </a:lnTo>
                  <a:lnTo>
                    <a:pt x="0" y="81076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 t="-30" b="-40"/>
              </a:stretch>
            </a:blip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cxnSp>
          <p:nvCxnSpPr>
            <p:cNvPr id="508" name="Google Shape;508;g39783d9389a_0_103"/>
            <p:cNvCxnSpPr/>
            <p:nvPr/>
          </p:nvCxnSpPr>
          <p:spPr>
            <a:xfrm>
              <a:off x="2900823" y="0"/>
              <a:ext cx="0" cy="860100"/>
            </a:xfrm>
            <a:prstGeom prst="straightConnector1">
              <a:avLst/>
            </a:prstGeom>
            <a:noFill/>
            <a:ln w="254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509" name="Google Shape;509;g39783d9389a_0_103"/>
          <p:cNvSpPr/>
          <p:nvPr/>
        </p:nvSpPr>
        <p:spPr>
          <a:xfrm>
            <a:off x="5217319" y="592422"/>
            <a:ext cx="12067792" cy="95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8F8"/>
              </a:buClr>
              <a:buSzPts val="5832"/>
              <a:buFont typeface="Trebuchet MS"/>
              <a:buNone/>
            </a:pPr>
            <a:r>
              <a:rPr lang="en-US" sz="4800" dirty="0">
                <a:solidFill>
                  <a:srgbClr val="434343"/>
                </a:solidFill>
                <a:latin typeface="Cambria" panose="02040503050406030204" pitchFamily="18" charset="0"/>
                <a:ea typeface="Cambria" panose="02040503050406030204" pitchFamily="18" charset="0"/>
                <a:cs typeface="Poppins"/>
                <a:sym typeface="Poppins"/>
              </a:rPr>
              <a:t>Deployment YAML: The Application Blueprint</a:t>
            </a:r>
            <a:endParaRPr sz="4800" dirty="0">
              <a:solidFill>
                <a:srgbClr val="434343"/>
              </a:solidFill>
              <a:latin typeface="Cambria" panose="02040503050406030204" pitchFamily="18" charset="0"/>
              <a:ea typeface="Cambria" panose="02040503050406030204" pitchFamily="18" charset="0"/>
              <a:cs typeface="Poppins"/>
              <a:sym typeface="Poppins"/>
            </a:endParaRPr>
          </a:p>
        </p:txBody>
      </p:sp>
      <p:sp>
        <p:nvSpPr>
          <p:cNvPr id="511" name="Google Shape;511;g39783d9389a_0_103"/>
          <p:cNvSpPr/>
          <p:nvPr/>
        </p:nvSpPr>
        <p:spPr>
          <a:xfrm>
            <a:off x="108249" y="1549122"/>
            <a:ext cx="11203761" cy="8629053"/>
          </a:xfrm>
          <a:prstGeom prst="roundRect">
            <a:avLst>
              <a:gd name="adj" fmla="val 8602"/>
            </a:avLst>
          </a:prstGeom>
          <a:solidFill>
            <a:srgbClr val="343434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BF55B5A-74F1-69AE-B843-DD4E467BB0E7}"/>
              </a:ext>
            </a:extLst>
          </p:cNvPr>
          <p:cNvSpPr txBox="1"/>
          <p:nvPr/>
        </p:nvSpPr>
        <p:spPr>
          <a:xfrm>
            <a:off x="252000" y="1578520"/>
            <a:ext cx="11060010" cy="8887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accent6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 </a:t>
            </a:r>
            <a:r>
              <a:rPr lang="en-US" sz="2400" b="1" dirty="0">
                <a:solidFill>
                  <a:schemeClr val="accent6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Deployment </a:t>
            </a:r>
            <a:r>
              <a:rPr lang="en-US" sz="24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YAML manifest</a:t>
            </a:r>
            <a:r>
              <a:rPr lang="en-US" sz="24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describes the desired state of your application. It acts as the </a:t>
            </a:r>
            <a:r>
              <a:rPr lang="en-US" sz="24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configuration blueprint</a:t>
            </a:r>
            <a:r>
              <a:rPr lang="en-US" sz="24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Kubernetes uses to create, update, and manage your Pods.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Understanding the key fields helps you confidently manage Kubernetes workloads.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chemeClr val="accent6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Important Deployment Fields</a:t>
            </a:r>
          </a:p>
          <a:p>
            <a:pPr marL="342900" lvl="0" indent="-342900">
              <a:lnSpc>
                <a:spcPct val="150000"/>
              </a:lnSpc>
              <a:buClr>
                <a:schemeClr val="accent6"/>
              </a:buClr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replicas: 3</a:t>
            </a:r>
            <a:r>
              <a:rPr lang="en-US" sz="24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— Defines the desired number of Pod replicas Kubernetes should maintain.</a:t>
            </a:r>
          </a:p>
          <a:p>
            <a:pPr marL="342900" lvl="0" indent="-342900">
              <a:lnSpc>
                <a:spcPct val="150000"/>
              </a:lnSpc>
              <a:buClr>
                <a:schemeClr val="accent6"/>
              </a:buClr>
              <a:buFont typeface="Arial" panose="020B0604020202020204" pitchFamily="34" charset="0"/>
              <a:buChar char="•"/>
            </a:pPr>
            <a:r>
              <a:rPr lang="en-US" sz="2400" b="1" dirty="0" err="1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selector.matchLabels</a:t>
            </a:r>
            <a:r>
              <a:rPr lang="en-US" sz="24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— Defines which Pods belong to and are managed by the Deployment.</a:t>
            </a:r>
          </a:p>
          <a:p>
            <a:pPr marL="342900" lvl="0" indent="-342900">
              <a:lnSpc>
                <a:spcPct val="150000"/>
              </a:lnSpc>
              <a:buClr>
                <a:schemeClr val="accent6"/>
              </a:buClr>
              <a:buFont typeface="Arial" panose="020B0604020202020204" pitchFamily="34" charset="0"/>
              <a:buChar char="•"/>
            </a:pPr>
            <a:r>
              <a:rPr lang="en-US" sz="2400" b="1" dirty="0" err="1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template.spec.containers</a:t>
            </a:r>
            <a:r>
              <a:rPr lang="en-US" sz="24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— Defines the containers to run, including the </a:t>
            </a:r>
            <a:r>
              <a:rPr lang="en-US" sz="24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image, ports, environment variables, and resource settings</a:t>
            </a:r>
            <a:r>
              <a:rPr lang="en-US" sz="24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  <a:p>
            <a:pPr marL="342900" lvl="0" indent="-342900">
              <a:lnSpc>
                <a:spcPct val="150000"/>
              </a:lnSpc>
              <a:buClr>
                <a:schemeClr val="accent6"/>
              </a:buClr>
              <a:buFont typeface="Arial" panose="020B0604020202020204" pitchFamily="34" charset="0"/>
              <a:buChar char="•"/>
            </a:pPr>
            <a:r>
              <a:rPr lang="en-US" sz="2400" b="1" dirty="0" err="1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resources.requests</a:t>
            </a:r>
            <a:r>
              <a:rPr lang="en-US" sz="24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— Specifies the CPU and memory resources a container requests. Kubernetes uses these values when scheduling Pods.</a:t>
            </a:r>
          </a:p>
          <a:p>
            <a:pPr marL="342900" lvl="0" indent="-342900">
              <a:lnSpc>
                <a:spcPct val="150000"/>
              </a:lnSpc>
              <a:buClr>
                <a:schemeClr val="accent6"/>
              </a:buClr>
              <a:buFont typeface="Arial" panose="020B0604020202020204" pitchFamily="34" charset="0"/>
              <a:buChar char="•"/>
            </a:pPr>
            <a:r>
              <a:rPr lang="en-US" sz="2400" b="1" dirty="0" err="1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resources.limits</a:t>
            </a:r>
            <a:r>
              <a:rPr lang="en-US" sz="24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— Defines the maximum CPU and memory resources a container can consume.</a:t>
            </a:r>
          </a:p>
          <a:p>
            <a:pPr>
              <a:lnSpc>
                <a:spcPct val="150000"/>
              </a:lnSpc>
            </a:pPr>
            <a:endParaRPr lang="en-US" sz="2400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Google Shape;511;g39783d9389a_0_103">
            <a:extLst>
              <a:ext uri="{FF2B5EF4-FFF2-40B4-BE49-F238E27FC236}">
                <a16:creationId xmlns:a16="http://schemas.microsoft.com/office/drawing/2014/main" id="{881D549C-9B07-71FD-D5C4-181AF51531F2}"/>
              </a:ext>
            </a:extLst>
          </p:cNvPr>
          <p:cNvSpPr/>
          <p:nvPr/>
        </p:nvSpPr>
        <p:spPr>
          <a:xfrm>
            <a:off x="11455761" y="1946643"/>
            <a:ext cx="6723990" cy="7433327"/>
          </a:xfrm>
          <a:prstGeom prst="roundRect">
            <a:avLst>
              <a:gd name="adj" fmla="val 8602"/>
            </a:avLst>
          </a:prstGeom>
          <a:solidFill>
            <a:srgbClr val="343434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0D57FB6-06BF-C584-A9E1-D5568330FB7E}"/>
              </a:ext>
            </a:extLst>
          </p:cNvPr>
          <p:cNvSpPr txBox="1"/>
          <p:nvPr/>
        </p:nvSpPr>
        <p:spPr>
          <a:xfrm>
            <a:off x="11509255" y="2326991"/>
            <a:ext cx="6617002" cy="5563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chemeClr val="accent6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Rolling Update Controls</a:t>
            </a:r>
          </a:p>
          <a:p>
            <a:pPr lvl="0" algn="just">
              <a:lnSpc>
                <a:spcPct val="150000"/>
              </a:lnSpc>
            </a:pPr>
            <a:r>
              <a:rPr lang="en-US" sz="2400" b="1" dirty="0" err="1">
                <a:solidFill>
                  <a:schemeClr val="accent6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maxUnavailable</a:t>
            </a:r>
            <a:r>
              <a:rPr lang="en-US" sz="2400" b="1" dirty="0">
                <a:solidFill>
                  <a:schemeClr val="accent6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: </a:t>
            </a:r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1-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Maximum number of Pods that can be unavailable during a rolling update.</a:t>
            </a:r>
          </a:p>
          <a:p>
            <a:pPr lvl="0" algn="just">
              <a:lnSpc>
                <a:spcPct val="150000"/>
              </a:lnSpc>
            </a:pPr>
            <a:r>
              <a:rPr lang="en-US" sz="2400" b="1" dirty="0" err="1">
                <a:solidFill>
                  <a:schemeClr val="accent6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maxSurge</a:t>
            </a:r>
            <a:r>
              <a:rPr lang="en-US" sz="2400" b="1" dirty="0">
                <a:solidFill>
                  <a:schemeClr val="accent6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: </a:t>
            </a:r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1-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Maximum number of additional Pods that can temporarily run above the desired replica count during an update.</a:t>
            </a:r>
          </a:p>
          <a:p>
            <a:pPr lvl="0" algn="just">
              <a:lnSpc>
                <a:spcPct val="150000"/>
              </a:lnSpc>
            </a:pPr>
            <a:r>
              <a:rPr lang="en-US" sz="2400" b="1" dirty="0">
                <a:solidFill>
                  <a:schemeClr val="accent6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Key Takeaway:</a:t>
            </a:r>
            <a:r>
              <a:rPr lang="en-US" sz="2400" dirty="0">
                <a:solidFill>
                  <a:schemeClr val="accent6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The Deployment manifest defines </a:t>
            </a:r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what you want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, while Kubernetes uses that configuration to </a:t>
            </a:r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create, scale, update, and maintain the application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2">
          <a:extLst>
            <a:ext uri="{FF2B5EF4-FFF2-40B4-BE49-F238E27FC236}">
              <a16:creationId xmlns:a16="http://schemas.microsoft.com/office/drawing/2014/main" id="{DA87713A-B7E6-DFFB-1724-BE2A98CED8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g39783d9389a_0_103">
            <a:extLst>
              <a:ext uri="{FF2B5EF4-FFF2-40B4-BE49-F238E27FC236}">
                <a16:creationId xmlns:a16="http://schemas.microsoft.com/office/drawing/2014/main" id="{C864D9CB-E2B1-6ED9-3C3E-5A89C9F8C9CA}"/>
              </a:ext>
            </a:extLst>
          </p:cNvPr>
          <p:cNvSpPr/>
          <p:nvPr/>
        </p:nvSpPr>
        <p:spPr>
          <a:xfrm>
            <a:off x="252014" y="153766"/>
            <a:ext cx="17783973" cy="9979469"/>
          </a:xfrm>
          <a:custGeom>
            <a:avLst/>
            <a:gdLst/>
            <a:ahLst/>
            <a:cxnLst/>
            <a:rect l="l" t="t" r="r" b="b"/>
            <a:pathLst>
              <a:path w="17783973" h="9979469" extrusionOk="0">
                <a:moveTo>
                  <a:pt x="0" y="0"/>
                </a:moveTo>
                <a:lnTo>
                  <a:pt x="17783972" y="0"/>
                </a:lnTo>
                <a:lnTo>
                  <a:pt x="17783972" y="9979468"/>
                </a:lnTo>
                <a:lnTo>
                  <a:pt x="0" y="997946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4000"/>
            </a:blip>
            <a:stretch>
              <a:fillRect l="-2130" t="-130" b="-6510"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grpSp>
        <p:nvGrpSpPr>
          <p:cNvPr id="504" name="Google Shape;504;g39783d9389a_0_103">
            <a:extLst>
              <a:ext uri="{FF2B5EF4-FFF2-40B4-BE49-F238E27FC236}">
                <a16:creationId xmlns:a16="http://schemas.microsoft.com/office/drawing/2014/main" id="{7AA42FBC-633C-5AE3-FE12-C58513240036}"/>
              </a:ext>
            </a:extLst>
          </p:cNvPr>
          <p:cNvGrpSpPr/>
          <p:nvPr/>
        </p:nvGrpSpPr>
        <p:grpSpPr>
          <a:xfrm>
            <a:off x="530603" y="553241"/>
            <a:ext cx="4536332" cy="836104"/>
            <a:chOff x="0" y="0"/>
            <a:chExt cx="6048443" cy="1114806"/>
          </a:xfrm>
        </p:grpSpPr>
        <p:sp>
          <p:nvSpPr>
            <p:cNvPr id="505" name="Google Shape;505;g39783d9389a_0_103" descr="Insights on ACTD Accreditation from a Leading Body">
              <a:extLst>
                <a:ext uri="{FF2B5EF4-FFF2-40B4-BE49-F238E27FC236}">
                  <a16:creationId xmlns:a16="http://schemas.microsoft.com/office/drawing/2014/main" id="{3F8A6632-FDBF-DD7E-F737-E6BCF37A702D}"/>
                </a:ext>
              </a:extLst>
            </p:cNvPr>
            <p:cNvSpPr/>
            <p:nvPr/>
          </p:nvSpPr>
          <p:spPr>
            <a:xfrm>
              <a:off x="2976677" y="44434"/>
              <a:ext cx="1070372" cy="1070372"/>
            </a:xfrm>
            <a:custGeom>
              <a:avLst/>
              <a:gdLst/>
              <a:ahLst/>
              <a:cxnLst/>
              <a:rect l="l" t="t" r="r" b="b"/>
              <a:pathLst>
                <a:path w="2952750" h="2952750" extrusionOk="0">
                  <a:moveTo>
                    <a:pt x="0" y="0"/>
                  </a:moveTo>
                  <a:lnTo>
                    <a:pt x="2952750" y="0"/>
                  </a:lnTo>
                  <a:lnTo>
                    <a:pt x="2952750" y="2952750"/>
                  </a:lnTo>
                  <a:lnTo>
                    <a:pt x="0" y="295275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06" name="Google Shape;506;g39783d9389a_0_103">
              <a:extLst>
                <a:ext uri="{FF2B5EF4-FFF2-40B4-BE49-F238E27FC236}">
                  <a16:creationId xmlns:a16="http://schemas.microsoft.com/office/drawing/2014/main" id="{068AB63E-D1E0-E039-13C9-5E9079D067C6}"/>
                </a:ext>
              </a:extLst>
            </p:cNvPr>
            <p:cNvSpPr txBox="1"/>
            <p:nvPr/>
          </p:nvSpPr>
          <p:spPr>
            <a:xfrm>
              <a:off x="4168343" y="157841"/>
              <a:ext cx="1880100" cy="532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1992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63"/>
                <a:buFont typeface="Arial"/>
                <a:buNone/>
              </a:pPr>
              <a:r>
                <a:rPr lang="en-US" sz="763" b="0" i="0" u="none" strike="noStrike" cap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ACCREDITED BY THE AMERICAN COUNCIL OF TRAINING AND DEVELOPMENT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7" name="Google Shape;507;g39783d9389a_0_103">
              <a:extLst>
                <a:ext uri="{FF2B5EF4-FFF2-40B4-BE49-F238E27FC236}">
                  <a16:creationId xmlns:a16="http://schemas.microsoft.com/office/drawing/2014/main" id="{C3AFC7D9-10F8-D4D4-FC54-4166D939F722}"/>
                </a:ext>
              </a:extLst>
            </p:cNvPr>
            <p:cNvSpPr/>
            <p:nvPr/>
          </p:nvSpPr>
          <p:spPr>
            <a:xfrm>
              <a:off x="0" y="44434"/>
              <a:ext cx="2756281" cy="810768"/>
            </a:xfrm>
            <a:custGeom>
              <a:avLst/>
              <a:gdLst/>
              <a:ahLst/>
              <a:cxnLst/>
              <a:rect l="l" t="t" r="r" b="b"/>
              <a:pathLst>
                <a:path w="2756281" h="810768" extrusionOk="0">
                  <a:moveTo>
                    <a:pt x="0" y="0"/>
                  </a:moveTo>
                  <a:lnTo>
                    <a:pt x="2756281" y="0"/>
                  </a:lnTo>
                  <a:lnTo>
                    <a:pt x="2756281" y="810768"/>
                  </a:lnTo>
                  <a:lnTo>
                    <a:pt x="0" y="81076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 t="-30" b="-40"/>
              </a:stretch>
            </a:blip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cxnSp>
          <p:nvCxnSpPr>
            <p:cNvPr id="508" name="Google Shape;508;g39783d9389a_0_103">
              <a:extLst>
                <a:ext uri="{FF2B5EF4-FFF2-40B4-BE49-F238E27FC236}">
                  <a16:creationId xmlns:a16="http://schemas.microsoft.com/office/drawing/2014/main" id="{3E8E0FDF-33F8-893B-CADB-20681FF54208}"/>
                </a:ext>
              </a:extLst>
            </p:cNvPr>
            <p:cNvCxnSpPr/>
            <p:nvPr/>
          </p:nvCxnSpPr>
          <p:spPr>
            <a:xfrm>
              <a:off x="2900823" y="0"/>
              <a:ext cx="0" cy="860100"/>
            </a:xfrm>
            <a:prstGeom prst="straightConnector1">
              <a:avLst/>
            </a:prstGeom>
            <a:noFill/>
            <a:ln w="254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511" name="Google Shape;511;g39783d9389a_0_103">
            <a:extLst>
              <a:ext uri="{FF2B5EF4-FFF2-40B4-BE49-F238E27FC236}">
                <a16:creationId xmlns:a16="http://schemas.microsoft.com/office/drawing/2014/main" id="{77387AC6-7AE6-7DBF-4E0A-7F94BAF28B0E}"/>
              </a:ext>
            </a:extLst>
          </p:cNvPr>
          <p:cNvSpPr/>
          <p:nvPr/>
        </p:nvSpPr>
        <p:spPr>
          <a:xfrm>
            <a:off x="108250" y="1549122"/>
            <a:ext cx="10650600" cy="8629053"/>
          </a:xfrm>
          <a:prstGeom prst="roundRect">
            <a:avLst>
              <a:gd name="adj" fmla="val 8602"/>
            </a:avLst>
          </a:prstGeom>
          <a:solidFill>
            <a:srgbClr val="343434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" name="Google Shape;514;g39783d9389a_0_103">
            <a:extLst>
              <a:ext uri="{FF2B5EF4-FFF2-40B4-BE49-F238E27FC236}">
                <a16:creationId xmlns:a16="http://schemas.microsoft.com/office/drawing/2014/main" id="{27816FF3-D5FC-046C-5B9F-7C5DAB098744}"/>
              </a:ext>
            </a:extLst>
          </p:cNvPr>
          <p:cNvSpPr/>
          <p:nvPr/>
        </p:nvSpPr>
        <p:spPr>
          <a:xfrm rot="5400000">
            <a:off x="10981618" y="1916995"/>
            <a:ext cx="6831600" cy="6825361"/>
          </a:xfrm>
          <a:prstGeom prst="rect">
            <a:avLst/>
          </a:prstGeom>
          <a:solidFill>
            <a:srgbClr val="3A3A3A"/>
          </a:solidFill>
          <a:ln w="26450" cap="flat" cmpd="sng">
            <a:solidFill>
              <a:srgbClr val="3A3A3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90425" tIns="190425" rIns="190425" bIns="190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A598358-1525-093E-325B-834A8887CFA0}"/>
              </a:ext>
            </a:extLst>
          </p:cNvPr>
          <p:cNvSpPr txBox="1"/>
          <p:nvPr/>
        </p:nvSpPr>
        <p:spPr>
          <a:xfrm>
            <a:off x="881850" y="2409291"/>
            <a:ext cx="8715018" cy="58407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3600" b="1" dirty="0">
                <a:solidFill>
                  <a:schemeClr val="accent6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Common Deployment Commands</a:t>
            </a:r>
          </a:p>
          <a:p>
            <a:pPr algn="just">
              <a:lnSpc>
                <a:spcPct val="150000"/>
              </a:lnSpc>
            </a:pPr>
            <a:r>
              <a:rPr lang="en-US" sz="2400" b="1" dirty="0">
                <a:solidFill>
                  <a:schemeClr val="accent6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Scale the application:</a:t>
            </a:r>
            <a:endParaRPr lang="en-US" sz="2400" dirty="0">
              <a:solidFill>
                <a:schemeClr val="accent6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sz="2400" i="1" dirty="0" err="1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kubectl</a:t>
            </a:r>
            <a:r>
              <a:rPr lang="en-US" sz="2400" i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scale deployment/web --replicas=10</a:t>
            </a:r>
          </a:p>
          <a:p>
            <a:pPr algn="just">
              <a:lnSpc>
                <a:spcPct val="150000"/>
              </a:lnSpc>
            </a:pPr>
            <a:r>
              <a:rPr lang="en-US" sz="24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Changes the desired number of replicas to </a:t>
            </a:r>
            <a:r>
              <a:rPr lang="en-US" sz="24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10</a:t>
            </a:r>
            <a:r>
              <a:rPr lang="en-US" sz="24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  <a:p>
            <a:pPr algn="just">
              <a:lnSpc>
                <a:spcPct val="150000"/>
              </a:lnSpc>
            </a:pPr>
            <a:r>
              <a:rPr lang="en-US" sz="2400" b="1" dirty="0">
                <a:solidFill>
                  <a:schemeClr val="accent6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Update the container image:</a:t>
            </a:r>
            <a:endParaRPr lang="en-US" sz="2400" dirty="0">
              <a:solidFill>
                <a:schemeClr val="accent6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sz="2400" i="1" dirty="0" err="1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kubectl</a:t>
            </a:r>
            <a:r>
              <a:rPr lang="en-US" sz="2400" i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set image deployment/web web=nginx:1.26</a:t>
            </a:r>
          </a:p>
          <a:p>
            <a:pPr algn="just">
              <a:lnSpc>
                <a:spcPct val="150000"/>
              </a:lnSpc>
            </a:pPr>
            <a:r>
              <a:rPr lang="en-US" sz="24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Changes the application's container image and triggers a rollout.</a:t>
            </a:r>
          </a:p>
          <a:p>
            <a:pPr algn="just">
              <a:lnSpc>
                <a:spcPct val="150000"/>
              </a:lnSpc>
            </a:pPr>
            <a:r>
              <a:rPr lang="en-US" sz="2400" b="1" dirty="0">
                <a:solidFill>
                  <a:schemeClr val="accent6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Rollback to a previous revision:</a:t>
            </a:r>
            <a:endParaRPr lang="en-US" sz="2400" dirty="0">
              <a:solidFill>
                <a:schemeClr val="accent6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sz="2400" i="1" dirty="0" err="1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kubectl</a:t>
            </a:r>
            <a:r>
              <a:rPr lang="en-US" sz="2400" i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rollout undo deployment/web --to-revision=2</a:t>
            </a:r>
          </a:p>
          <a:p>
            <a:pPr algn="just">
              <a:lnSpc>
                <a:spcPct val="150000"/>
              </a:lnSpc>
            </a:pPr>
            <a:r>
              <a:rPr lang="en-US" sz="24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Restores the Deployment to </a:t>
            </a:r>
            <a:r>
              <a:rPr lang="en-US" sz="24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revision 2</a:t>
            </a:r>
            <a:r>
              <a:rPr lang="en-US" sz="24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10BE4C4-F499-5C50-5A26-B8F472FE7335}"/>
              </a:ext>
            </a:extLst>
          </p:cNvPr>
          <p:cNvSpPr txBox="1"/>
          <p:nvPr/>
        </p:nvSpPr>
        <p:spPr>
          <a:xfrm>
            <a:off x="11761740" y="2051854"/>
            <a:ext cx="4660490" cy="65556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How the Pieces Connect</a:t>
            </a:r>
          </a:p>
          <a:p>
            <a:pPr algn="ctr"/>
            <a:r>
              <a:rPr lang="en-US" sz="28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       Deployment YAML</a:t>
            </a:r>
          </a:p>
          <a:p>
            <a:pPr algn="ctr"/>
            <a:r>
              <a:rPr lang="en-US" sz="28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             │</a:t>
            </a:r>
          </a:p>
          <a:p>
            <a:pPr algn="ctr"/>
            <a:r>
              <a:rPr lang="en-US" sz="28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             ▼</a:t>
            </a:r>
          </a:p>
          <a:p>
            <a:pPr algn="ctr"/>
            <a:r>
              <a:rPr lang="en-US" sz="28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       Deployment</a:t>
            </a:r>
          </a:p>
          <a:p>
            <a:pPr algn="ctr"/>
            <a:r>
              <a:rPr lang="en-US" sz="28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             │</a:t>
            </a:r>
          </a:p>
          <a:p>
            <a:pPr algn="ctr"/>
            <a:r>
              <a:rPr lang="en-US" sz="28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             ▼</a:t>
            </a:r>
          </a:p>
          <a:p>
            <a:pPr algn="ctr"/>
            <a:r>
              <a:rPr lang="en-US" sz="28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        </a:t>
            </a:r>
            <a:r>
              <a:rPr lang="en-US" sz="2800" dirty="0" err="1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ReplicaSet</a:t>
            </a:r>
            <a:endParaRPr lang="en-US" sz="2800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ctr"/>
            <a:r>
              <a:rPr lang="en-US" sz="28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             │</a:t>
            </a:r>
          </a:p>
          <a:p>
            <a:pPr algn="ctr"/>
            <a:r>
              <a:rPr lang="en-US" sz="28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             ▼</a:t>
            </a:r>
          </a:p>
          <a:p>
            <a:pPr algn="ctr"/>
            <a:r>
              <a:rPr lang="en-US" sz="28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      Desired # of Pods</a:t>
            </a:r>
          </a:p>
          <a:p>
            <a:pPr algn="ctr"/>
            <a:r>
              <a:rPr lang="en-US" sz="28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             │</a:t>
            </a:r>
          </a:p>
          <a:p>
            <a:pPr algn="ctr"/>
            <a:r>
              <a:rPr lang="en-US" sz="28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             ▼</a:t>
            </a:r>
          </a:p>
          <a:p>
            <a:pPr algn="ctr"/>
            <a:r>
              <a:rPr lang="en-US" sz="28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      Running Workload</a:t>
            </a:r>
          </a:p>
          <a:p>
            <a:pPr algn="ctr"/>
            <a:endParaRPr lang="en-US" sz="2800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544312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640">
          <a:extLst>
            <a:ext uri="{FF2B5EF4-FFF2-40B4-BE49-F238E27FC236}">
              <a16:creationId xmlns:a16="http://schemas.microsoft.com/office/drawing/2014/main" id="{3E85064F-EBC5-1D50-1F79-74A2C51C00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ED55A19D-297C-4231-AD1F-08EF9B4AA8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BAB6C56-3D38-4923-996E-BD474BBB91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866900" y="993253"/>
            <a:ext cx="15433549" cy="8541272"/>
          </a:xfrm>
          <a:prstGeom prst="rect">
            <a:avLst/>
          </a:pr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0CD21DB-082D-417D-A5AB-FC838AF9D9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866900" y="993253"/>
            <a:ext cx="15433549" cy="8541272"/>
          </a:xfrm>
          <a:prstGeom prst="rect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E385254-7594-D74F-666B-2EC85FA676A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9778"/>
          <a:stretch>
            <a:fillRect/>
          </a:stretch>
        </p:blipFill>
        <p:spPr>
          <a:xfrm>
            <a:off x="1257300" y="350710"/>
            <a:ext cx="15703299" cy="8833106"/>
          </a:xfrm>
          <a:prstGeom prst="rect">
            <a:avLst/>
          </a:prstGeom>
          <a:ln w="28575">
            <a:solidFill>
              <a:schemeClr val="bg1"/>
            </a:solidFill>
          </a:ln>
        </p:spPr>
      </p:pic>
    </p:spTree>
    <p:extLst>
      <p:ext uri="{BB962C8B-B14F-4D97-AF65-F5344CB8AC3E}">
        <p14:creationId xmlns:p14="http://schemas.microsoft.com/office/powerpoint/2010/main" val="337091158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g3dae939ee2c_0_196"/>
          <p:cNvSpPr/>
          <p:nvPr/>
        </p:nvSpPr>
        <p:spPr>
          <a:xfrm>
            <a:off x="252014" y="153766"/>
            <a:ext cx="17783973" cy="9979469"/>
          </a:xfrm>
          <a:custGeom>
            <a:avLst/>
            <a:gdLst/>
            <a:ahLst/>
            <a:cxnLst/>
            <a:rect l="l" t="t" r="r" b="b"/>
            <a:pathLst>
              <a:path w="17783973" h="9979469" extrusionOk="0">
                <a:moveTo>
                  <a:pt x="0" y="0"/>
                </a:moveTo>
                <a:lnTo>
                  <a:pt x="17783972" y="0"/>
                </a:lnTo>
                <a:lnTo>
                  <a:pt x="17783972" y="9979468"/>
                </a:lnTo>
                <a:lnTo>
                  <a:pt x="0" y="997946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4000"/>
            </a:blip>
            <a:stretch>
              <a:fillRect l="-2130" t="-130" b="-6510"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grpSp>
        <p:nvGrpSpPr>
          <p:cNvPr id="525" name="Google Shape;525;g3dae939ee2c_0_196"/>
          <p:cNvGrpSpPr/>
          <p:nvPr/>
        </p:nvGrpSpPr>
        <p:grpSpPr>
          <a:xfrm>
            <a:off x="530603" y="553241"/>
            <a:ext cx="4536332" cy="836104"/>
            <a:chOff x="0" y="0"/>
            <a:chExt cx="6048443" cy="1114806"/>
          </a:xfrm>
        </p:grpSpPr>
        <p:sp>
          <p:nvSpPr>
            <p:cNvPr id="526" name="Google Shape;526;g3dae939ee2c_0_196" descr="Insights on ACTD Accreditation from a Leading Body"/>
            <p:cNvSpPr/>
            <p:nvPr/>
          </p:nvSpPr>
          <p:spPr>
            <a:xfrm>
              <a:off x="2976677" y="44434"/>
              <a:ext cx="1070372" cy="1070372"/>
            </a:xfrm>
            <a:custGeom>
              <a:avLst/>
              <a:gdLst/>
              <a:ahLst/>
              <a:cxnLst/>
              <a:rect l="l" t="t" r="r" b="b"/>
              <a:pathLst>
                <a:path w="2952750" h="2952750" extrusionOk="0">
                  <a:moveTo>
                    <a:pt x="0" y="0"/>
                  </a:moveTo>
                  <a:lnTo>
                    <a:pt x="2952750" y="0"/>
                  </a:lnTo>
                  <a:lnTo>
                    <a:pt x="2952750" y="2952750"/>
                  </a:lnTo>
                  <a:lnTo>
                    <a:pt x="0" y="295275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27" name="Google Shape;527;g3dae939ee2c_0_196"/>
            <p:cNvSpPr txBox="1"/>
            <p:nvPr/>
          </p:nvSpPr>
          <p:spPr>
            <a:xfrm>
              <a:off x="4168343" y="157841"/>
              <a:ext cx="1880100" cy="532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1992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63"/>
                <a:buFont typeface="Arial"/>
                <a:buNone/>
              </a:pPr>
              <a:r>
                <a:rPr lang="en-US" sz="763" b="0" i="0" u="none" strike="noStrike" cap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ACCREDITED BY THE AMERICAN COUNCIL OF TRAINING AND DEVELOPMENT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8" name="Google Shape;528;g3dae939ee2c_0_196"/>
            <p:cNvSpPr/>
            <p:nvPr/>
          </p:nvSpPr>
          <p:spPr>
            <a:xfrm>
              <a:off x="0" y="44434"/>
              <a:ext cx="2756281" cy="810768"/>
            </a:xfrm>
            <a:custGeom>
              <a:avLst/>
              <a:gdLst/>
              <a:ahLst/>
              <a:cxnLst/>
              <a:rect l="l" t="t" r="r" b="b"/>
              <a:pathLst>
                <a:path w="2756281" h="810768" extrusionOk="0">
                  <a:moveTo>
                    <a:pt x="0" y="0"/>
                  </a:moveTo>
                  <a:lnTo>
                    <a:pt x="2756281" y="0"/>
                  </a:lnTo>
                  <a:lnTo>
                    <a:pt x="2756281" y="810768"/>
                  </a:lnTo>
                  <a:lnTo>
                    <a:pt x="0" y="81076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 t="-30" b="-40"/>
              </a:stretch>
            </a:blip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cxnSp>
          <p:nvCxnSpPr>
            <p:cNvPr id="529" name="Google Shape;529;g3dae939ee2c_0_196"/>
            <p:cNvCxnSpPr/>
            <p:nvPr/>
          </p:nvCxnSpPr>
          <p:spPr>
            <a:xfrm>
              <a:off x="2900823" y="0"/>
              <a:ext cx="0" cy="860100"/>
            </a:xfrm>
            <a:prstGeom prst="straightConnector1">
              <a:avLst/>
            </a:prstGeom>
            <a:noFill/>
            <a:ln w="254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530" name="Google Shape;530;g3dae939ee2c_0_196"/>
          <p:cNvSpPr/>
          <p:nvPr/>
        </p:nvSpPr>
        <p:spPr>
          <a:xfrm>
            <a:off x="5900553" y="507429"/>
            <a:ext cx="8696844" cy="95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8F8"/>
              </a:buClr>
              <a:buSzPts val="5832"/>
              <a:buFont typeface="Trebuchet MS"/>
              <a:buNone/>
            </a:pPr>
            <a:r>
              <a:rPr lang="en-US" sz="4800" dirty="0">
                <a:solidFill>
                  <a:srgbClr val="434343"/>
                </a:solidFill>
                <a:latin typeface="Poppins"/>
                <a:ea typeface="Poppins"/>
                <a:cs typeface="Poppins"/>
                <a:sym typeface="Poppins"/>
              </a:rPr>
              <a:t>Kubernetes Rolling Update</a:t>
            </a:r>
            <a:endParaRPr sz="4800" b="0" i="0" u="none" strike="noStrike" cap="none" dirty="0">
              <a:solidFill>
                <a:srgbClr val="43434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32" name="Google Shape;532;g3dae939ee2c_0_196"/>
          <p:cNvSpPr/>
          <p:nvPr/>
        </p:nvSpPr>
        <p:spPr>
          <a:xfrm>
            <a:off x="108250" y="1464129"/>
            <a:ext cx="10171376" cy="8714046"/>
          </a:xfrm>
          <a:prstGeom prst="roundRect">
            <a:avLst>
              <a:gd name="adj" fmla="val 8602"/>
            </a:avLst>
          </a:prstGeom>
          <a:solidFill>
            <a:srgbClr val="343434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5" name="Google Shape;535;g3dae939ee2c_0_196"/>
          <p:cNvSpPr/>
          <p:nvPr/>
        </p:nvSpPr>
        <p:spPr>
          <a:xfrm rot="5400000">
            <a:off x="10114905" y="2078325"/>
            <a:ext cx="8233286" cy="7608875"/>
          </a:xfrm>
          <a:prstGeom prst="rect">
            <a:avLst/>
          </a:prstGeom>
          <a:solidFill>
            <a:srgbClr val="3A3A3A"/>
          </a:solidFill>
          <a:ln w="26450" cap="flat" cmpd="sng">
            <a:solidFill>
              <a:srgbClr val="3A3A3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90425" tIns="190425" rIns="190425" bIns="190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A2BDB58-A630-9547-76B8-3F9C97E66AA1}"/>
              </a:ext>
            </a:extLst>
          </p:cNvPr>
          <p:cNvSpPr txBox="1"/>
          <p:nvPr/>
        </p:nvSpPr>
        <p:spPr>
          <a:xfrm>
            <a:off x="251975" y="1655158"/>
            <a:ext cx="10027651" cy="8887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chemeClr val="accent6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What Is a Rolling Update?</a:t>
            </a:r>
          </a:p>
          <a:p>
            <a:pPr algn="just">
              <a:lnSpc>
                <a:spcPct val="150000"/>
              </a:lnSpc>
            </a:pPr>
            <a:r>
              <a:rPr lang="en-US" sz="24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Rolling Update</a:t>
            </a:r>
            <a:r>
              <a:rPr lang="en-US" sz="24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is the default Deployment strategy in Kubernetes.</a:t>
            </a:r>
          </a:p>
          <a:p>
            <a:pPr algn="just">
              <a:lnSpc>
                <a:spcPct val="150000"/>
              </a:lnSpc>
            </a:pPr>
            <a:r>
              <a:rPr lang="en-US" sz="24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Instead of stopping all existing Pods and starting new ones at once, Kubernetes </a:t>
            </a:r>
            <a:r>
              <a:rPr lang="en-US" sz="24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gradually replaces old Pods with new Pods</a:t>
            </a:r>
            <a:r>
              <a:rPr lang="en-US" sz="24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  <a:p>
            <a:pPr algn="just">
              <a:lnSpc>
                <a:spcPct val="150000"/>
              </a:lnSpc>
            </a:pPr>
            <a:r>
              <a:rPr lang="en-US" sz="24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This helps keep the application </a:t>
            </a:r>
            <a:r>
              <a:rPr lang="en-US" sz="24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available throughout the update process</a:t>
            </a:r>
            <a:r>
              <a:rPr lang="en-US" sz="24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  <a:p>
            <a:pPr algn="just">
              <a:lnSpc>
                <a:spcPct val="150000"/>
              </a:lnSpc>
            </a:pPr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🔄 </a:t>
            </a:r>
            <a:r>
              <a:rPr lang="en-US" sz="24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Rolling Update Process</a:t>
            </a:r>
          </a:p>
          <a:p>
            <a:pPr lvl="0" algn="just">
              <a:lnSpc>
                <a:spcPct val="150000"/>
              </a:lnSpc>
            </a:pPr>
            <a:r>
              <a:rPr lang="en-US" sz="2400" b="1" dirty="0">
                <a:solidFill>
                  <a:schemeClr val="accent6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Create a New Pod</a:t>
            </a:r>
            <a:endParaRPr lang="en-US" sz="2400" dirty="0">
              <a:solidFill>
                <a:schemeClr val="accent6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1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Kubernetes creates a new Pod using the updated container image.</a:t>
            </a:r>
          </a:p>
          <a:p>
            <a:pPr lvl="0" algn="just">
              <a:lnSpc>
                <a:spcPct val="150000"/>
              </a:lnSpc>
            </a:pPr>
            <a:r>
              <a:rPr lang="en-US" sz="2400" b="1" dirty="0">
                <a:solidFill>
                  <a:schemeClr val="accent6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Check Readiness</a:t>
            </a:r>
            <a:endParaRPr lang="en-US" sz="2400" dirty="0">
              <a:solidFill>
                <a:schemeClr val="accent6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1" indent="-342900" algn="just">
              <a:lnSpc>
                <a:spcPct val="150000"/>
              </a:lnSpc>
              <a:buClr>
                <a:schemeClr val="accent6"/>
              </a:buCl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Kubernetes waits for the new Pod to pass its </a:t>
            </a:r>
            <a:r>
              <a:rPr lang="en-US" sz="2400" b="1" dirty="0" err="1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readinessProbe</a:t>
            </a:r>
            <a:r>
              <a:rPr lang="en-US" sz="24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  <a:p>
            <a:pPr marL="342900" lvl="1" indent="-342900" algn="just">
              <a:lnSpc>
                <a:spcPct val="150000"/>
              </a:lnSpc>
              <a:buClr>
                <a:schemeClr val="accent6"/>
              </a:buCl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 Pod that is not ready does </a:t>
            </a:r>
            <a:r>
              <a:rPr lang="en-US" sz="24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not</a:t>
            </a:r>
            <a:r>
              <a:rPr lang="en-US" sz="24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receive application traffic.</a:t>
            </a:r>
          </a:p>
          <a:p>
            <a:pPr lvl="0" algn="just">
              <a:lnSpc>
                <a:spcPct val="150000"/>
              </a:lnSpc>
            </a:pPr>
            <a:r>
              <a:rPr lang="en-US" sz="2400" b="1" dirty="0">
                <a:solidFill>
                  <a:schemeClr val="accent6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Remove an Old Pod from Service</a:t>
            </a:r>
            <a:endParaRPr lang="en-US" sz="2400" dirty="0">
              <a:solidFill>
                <a:schemeClr val="accent6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1" indent="-342900" algn="just">
              <a:lnSpc>
                <a:spcPct val="150000"/>
              </a:lnSpc>
              <a:buClr>
                <a:schemeClr val="accent6"/>
              </a:buCl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Once the new Pod is ready, Kubernetes removes an old Pod from the Service's available endpoints.</a:t>
            </a:r>
          </a:p>
          <a:p>
            <a:pPr marL="342900" lvl="1" indent="-342900" algn="just">
              <a:lnSpc>
                <a:spcPct val="150000"/>
              </a:lnSpc>
              <a:buClr>
                <a:schemeClr val="accent6"/>
              </a:buCl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Traffic is no longer sent to that Pod.</a:t>
            </a:r>
          </a:p>
          <a:p>
            <a:pPr lvl="1">
              <a:lnSpc>
                <a:spcPct val="150000"/>
              </a:lnSpc>
            </a:pPr>
            <a:endParaRPr 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060D115-89C5-CF8B-F56D-F3E62D3C6DE3}"/>
              </a:ext>
            </a:extLst>
          </p:cNvPr>
          <p:cNvSpPr txBox="1"/>
          <p:nvPr/>
        </p:nvSpPr>
        <p:spPr>
          <a:xfrm>
            <a:off x="10423351" y="1942623"/>
            <a:ext cx="7608876" cy="5847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just">
              <a:lnSpc>
                <a:spcPct val="150000"/>
              </a:lnSpc>
            </a:pPr>
            <a:r>
              <a:rPr lang="en-US" sz="2400" b="1" dirty="0">
                <a:solidFill>
                  <a:schemeClr val="accent6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Gracefully Terminate the Old Pod</a:t>
            </a:r>
            <a:endParaRPr lang="en-US" sz="2400" dirty="0">
              <a:solidFill>
                <a:schemeClr val="accent6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1" indent="-342900" algn="just">
              <a:lnSpc>
                <a:spcPct val="150000"/>
              </a:lnSpc>
              <a:buClr>
                <a:schemeClr val="accent6"/>
              </a:buCl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Kubernetes sends </a:t>
            </a:r>
            <a:r>
              <a:rPr lang="en-US" sz="24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SIGTERM</a:t>
            </a:r>
            <a:r>
              <a:rPr lang="en-US" sz="24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to allow the application to shut down cleanly.</a:t>
            </a:r>
          </a:p>
          <a:p>
            <a:pPr marL="342900" lvl="1" indent="-342900" algn="just">
              <a:lnSpc>
                <a:spcPct val="150000"/>
              </a:lnSpc>
              <a:buClr>
                <a:schemeClr val="accent6"/>
              </a:buCl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It waits for the configured termination period.</a:t>
            </a:r>
          </a:p>
          <a:p>
            <a:pPr marL="342900" lvl="1" indent="-342900" algn="just">
              <a:lnSpc>
                <a:spcPct val="150000"/>
              </a:lnSpc>
              <a:buClr>
                <a:schemeClr val="accent6"/>
              </a:buCl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If the container does not stop, Kubernetes eventually sends </a:t>
            </a:r>
            <a:r>
              <a:rPr lang="en-US" sz="24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SIGKILL</a:t>
            </a:r>
            <a:r>
              <a:rPr lang="en-US" sz="24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  <a:p>
            <a:pPr lvl="0" algn="just">
              <a:lnSpc>
                <a:spcPct val="150000"/>
              </a:lnSpc>
            </a:pPr>
            <a:r>
              <a:rPr lang="en-US" sz="2400" b="1" dirty="0">
                <a:solidFill>
                  <a:schemeClr val="accent6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Repeat the Process</a:t>
            </a:r>
            <a:endParaRPr lang="en-US" sz="2400" dirty="0">
              <a:solidFill>
                <a:schemeClr val="accent6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1" indent="-342900" algn="just">
              <a:lnSpc>
                <a:spcPct val="150000"/>
              </a:lnSpc>
              <a:buClr>
                <a:schemeClr val="accent6"/>
              </a:buCl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Kubernetes continues creating new Pods and removing old Pods until </a:t>
            </a:r>
            <a:r>
              <a:rPr lang="en-US" sz="24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all Pods are running the new version</a:t>
            </a:r>
            <a:r>
              <a:rPr lang="en-US" sz="24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3">
          <a:extLst>
            <a:ext uri="{FF2B5EF4-FFF2-40B4-BE49-F238E27FC236}">
              <a16:creationId xmlns:a16="http://schemas.microsoft.com/office/drawing/2014/main" id="{D067A3CA-10BC-2A29-8406-232FEC3C4C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g3dae939ee2c_0_196">
            <a:extLst>
              <a:ext uri="{FF2B5EF4-FFF2-40B4-BE49-F238E27FC236}">
                <a16:creationId xmlns:a16="http://schemas.microsoft.com/office/drawing/2014/main" id="{8E1F4670-0FA9-84A3-98DC-A1944B5E32DF}"/>
              </a:ext>
            </a:extLst>
          </p:cNvPr>
          <p:cNvSpPr/>
          <p:nvPr/>
        </p:nvSpPr>
        <p:spPr>
          <a:xfrm>
            <a:off x="252052" y="108825"/>
            <a:ext cx="17783973" cy="9979469"/>
          </a:xfrm>
          <a:custGeom>
            <a:avLst/>
            <a:gdLst/>
            <a:ahLst/>
            <a:cxnLst/>
            <a:rect l="l" t="t" r="r" b="b"/>
            <a:pathLst>
              <a:path w="17783973" h="9979469" extrusionOk="0">
                <a:moveTo>
                  <a:pt x="0" y="0"/>
                </a:moveTo>
                <a:lnTo>
                  <a:pt x="17783972" y="0"/>
                </a:lnTo>
                <a:lnTo>
                  <a:pt x="17783972" y="9979468"/>
                </a:lnTo>
                <a:lnTo>
                  <a:pt x="0" y="997946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4000"/>
            </a:blip>
            <a:stretch>
              <a:fillRect l="-2130" t="-130" b="-6510"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grpSp>
        <p:nvGrpSpPr>
          <p:cNvPr id="525" name="Google Shape;525;g3dae939ee2c_0_196">
            <a:extLst>
              <a:ext uri="{FF2B5EF4-FFF2-40B4-BE49-F238E27FC236}">
                <a16:creationId xmlns:a16="http://schemas.microsoft.com/office/drawing/2014/main" id="{06E1DACB-3EAA-C121-3870-763E88DC6CA2}"/>
              </a:ext>
            </a:extLst>
          </p:cNvPr>
          <p:cNvGrpSpPr/>
          <p:nvPr/>
        </p:nvGrpSpPr>
        <p:grpSpPr>
          <a:xfrm>
            <a:off x="530603" y="553241"/>
            <a:ext cx="4536332" cy="836104"/>
            <a:chOff x="0" y="0"/>
            <a:chExt cx="6048443" cy="1114806"/>
          </a:xfrm>
        </p:grpSpPr>
        <p:sp>
          <p:nvSpPr>
            <p:cNvPr id="526" name="Google Shape;526;g3dae939ee2c_0_196" descr="Insights on ACTD Accreditation from a Leading Body">
              <a:extLst>
                <a:ext uri="{FF2B5EF4-FFF2-40B4-BE49-F238E27FC236}">
                  <a16:creationId xmlns:a16="http://schemas.microsoft.com/office/drawing/2014/main" id="{313B6BC0-45B9-A77E-31CA-024E9B8E995B}"/>
                </a:ext>
              </a:extLst>
            </p:cNvPr>
            <p:cNvSpPr/>
            <p:nvPr/>
          </p:nvSpPr>
          <p:spPr>
            <a:xfrm>
              <a:off x="2976677" y="44434"/>
              <a:ext cx="1070372" cy="1070372"/>
            </a:xfrm>
            <a:custGeom>
              <a:avLst/>
              <a:gdLst/>
              <a:ahLst/>
              <a:cxnLst/>
              <a:rect l="l" t="t" r="r" b="b"/>
              <a:pathLst>
                <a:path w="2952750" h="2952750" extrusionOk="0">
                  <a:moveTo>
                    <a:pt x="0" y="0"/>
                  </a:moveTo>
                  <a:lnTo>
                    <a:pt x="2952750" y="0"/>
                  </a:lnTo>
                  <a:lnTo>
                    <a:pt x="2952750" y="2952750"/>
                  </a:lnTo>
                  <a:lnTo>
                    <a:pt x="0" y="295275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27" name="Google Shape;527;g3dae939ee2c_0_196">
              <a:extLst>
                <a:ext uri="{FF2B5EF4-FFF2-40B4-BE49-F238E27FC236}">
                  <a16:creationId xmlns:a16="http://schemas.microsoft.com/office/drawing/2014/main" id="{80732BA9-7ACC-882B-4AE3-A5CE73CACA55}"/>
                </a:ext>
              </a:extLst>
            </p:cNvPr>
            <p:cNvSpPr txBox="1"/>
            <p:nvPr/>
          </p:nvSpPr>
          <p:spPr>
            <a:xfrm>
              <a:off x="4168343" y="157841"/>
              <a:ext cx="1880100" cy="532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1992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63"/>
                <a:buFont typeface="Arial"/>
                <a:buNone/>
              </a:pPr>
              <a:r>
                <a:rPr lang="en-US" sz="763" b="0" i="0" u="none" strike="noStrike" cap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ACCREDITED BY THE AMERICAN COUNCIL OF TRAINING AND DEVELOPMENT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8" name="Google Shape;528;g3dae939ee2c_0_196">
              <a:extLst>
                <a:ext uri="{FF2B5EF4-FFF2-40B4-BE49-F238E27FC236}">
                  <a16:creationId xmlns:a16="http://schemas.microsoft.com/office/drawing/2014/main" id="{E516890D-D562-EB51-CF8E-575ADACBABAD}"/>
                </a:ext>
              </a:extLst>
            </p:cNvPr>
            <p:cNvSpPr/>
            <p:nvPr/>
          </p:nvSpPr>
          <p:spPr>
            <a:xfrm>
              <a:off x="0" y="44434"/>
              <a:ext cx="2756281" cy="810768"/>
            </a:xfrm>
            <a:custGeom>
              <a:avLst/>
              <a:gdLst/>
              <a:ahLst/>
              <a:cxnLst/>
              <a:rect l="l" t="t" r="r" b="b"/>
              <a:pathLst>
                <a:path w="2756281" h="810768" extrusionOk="0">
                  <a:moveTo>
                    <a:pt x="0" y="0"/>
                  </a:moveTo>
                  <a:lnTo>
                    <a:pt x="2756281" y="0"/>
                  </a:lnTo>
                  <a:lnTo>
                    <a:pt x="2756281" y="810768"/>
                  </a:lnTo>
                  <a:lnTo>
                    <a:pt x="0" y="81076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 t="-30" b="-40"/>
              </a:stretch>
            </a:blip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cxnSp>
          <p:nvCxnSpPr>
            <p:cNvPr id="529" name="Google Shape;529;g3dae939ee2c_0_196">
              <a:extLst>
                <a:ext uri="{FF2B5EF4-FFF2-40B4-BE49-F238E27FC236}">
                  <a16:creationId xmlns:a16="http://schemas.microsoft.com/office/drawing/2014/main" id="{8AD75231-513C-368C-CE26-6F60DCC3525D}"/>
                </a:ext>
              </a:extLst>
            </p:cNvPr>
            <p:cNvCxnSpPr/>
            <p:nvPr/>
          </p:nvCxnSpPr>
          <p:spPr>
            <a:xfrm>
              <a:off x="2900823" y="0"/>
              <a:ext cx="0" cy="860100"/>
            </a:xfrm>
            <a:prstGeom prst="straightConnector1">
              <a:avLst/>
            </a:prstGeom>
            <a:noFill/>
            <a:ln w="254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531" name="Google Shape;531;g3dae939ee2c_0_196">
            <a:extLst>
              <a:ext uri="{FF2B5EF4-FFF2-40B4-BE49-F238E27FC236}">
                <a16:creationId xmlns:a16="http://schemas.microsoft.com/office/drawing/2014/main" id="{BDC46ECB-6028-75E1-74CD-58FE033C5166}"/>
              </a:ext>
            </a:extLst>
          </p:cNvPr>
          <p:cNvSpPr/>
          <p:nvPr/>
        </p:nvSpPr>
        <p:spPr>
          <a:xfrm>
            <a:off x="5706447" y="553241"/>
            <a:ext cx="6751823" cy="8027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2603"/>
              <a:buFont typeface="Calibri"/>
              <a:buNone/>
            </a:pPr>
            <a:r>
              <a:rPr lang="en-US" sz="4800" i="1" dirty="0">
                <a:solidFill>
                  <a:srgbClr val="434343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  <a:sym typeface="Calibri"/>
              </a:rPr>
              <a:t>Why Readiness Matters</a:t>
            </a:r>
            <a:endParaRPr sz="4800" i="1" dirty="0">
              <a:solidFill>
                <a:srgbClr val="434343"/>
              </a:solidFill>
              <a:latin typeface="Cambria" panose="02040503050406030204" pitchFamily="18" charset="0"/>
              <a:ea typeface="Cambria" panose="02040503050406030204" pitchFamily="18" charset="0"/>
              <a:cs typeface="Calibri"/>
              <a:sym typeface="Calibri"/>
            </a:endParaRPr>
          </a:p>
        </p:txBody>
      </p:sp>
      <p:sp>
        <p:nvSpPr>
          <p:cNvPr id="532" name="Google Shape;532;g3dae939ee2c_0_196">
            <a:extLst>
              <a:ext uri="{FF2B5EF4-FFF2-40B4-BE49-F238E27FC236}">
                <a16:creationId xmlns:a16="http://schemas.microsoft.com/office/drawing/2014/main" id="{8B1AFE67-9013-4592-8D10-5E30CDE9A515}"/>
              </a:ext>
            </a:extLst>
          </p:cNvPr>
          <p:cNvSpPr/>
          <p:nvPr/>
        </p:nvSpPr>
        <p:spPr>
          <a:xfrm>
            <a:off x="108250" y="1922415"/>
            <a:ext cx="9395700" cy="7046400"/>
          </a:xfrm>
          <a:prstGeom prst="roundRect">
            <a:avLst>
              <a:gd name="adj" fmla="val 8602"/>
            </a:avLst>
          </a:prstGeom>
          <a:solidFill>
            <a:srgbClr val="343434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6" name="Google Shape;536;g3dae939ee2c_0_196">
            <a:extLst>
              <a:ext uri="{FF2B5EF4-FFF2-40B4-BE49-F238E27FC236}">
                <a16:creationId xmlns:a16="http://schemas.microsoft.com/office/drawing/2014/main" id="{624D8DA9-3AD3-63A5-8171-15B8F6E0FA52}"/>
              </a:ext>
            </a:extLst>
          </p:cNvPr>
          <p:cNvSpPr/>
          <p:nvPr/>
        </p:nvSpPr>
        <p:spPr>
          <a:xfrm>
            <a:off x="9967075" y="2639407"/>
            <a:ext cx="8199300" cy="4616799"/>
          </a:xfrm>
          <a:prstGeom prst="roundRect">
            <a:avLst>
              <a:gd name="adj" fmla="val 8602"/>
            </a:avLst>
          </a:prstGeom>
          <a:solidFill>
            <a:srgbClr val="0D0D0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9775" tIns="79775" rIns="79775" bIns="797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22"/>
              <a:buFont typeface="Arial"/>
              <a:buNone/>
            </a:pPr>
            <a:endParaRPr sz="1222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8" name="Google Shape;538;g3dae939ee2c_0_196">
            <a:extLst>
              <a:ext uri="{FF2B5EF4-FFF2-40B4-BE49-F238E27FC236}">
                <a16:creationId xmlns:a16="http://schemas.microsoft.com/office/drawing/2014/main" id="{4F1912A6-A3BD-F7E3-B336-DDA45C1C49D5}"/>
              </a:ext>
            </a:extLst>
          </p:cNvPr>
          <p:cNvSpPr/>
          <p:nvPr/>
        </p:nvSpPr>
        <p:spPr>
          <a:xfrm>
            <a:off x="10134700" y="2866354"/>
            <a:ext cx="7966500" cy="41686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EF4FF"/>
              </a:buClr>
              <a:buSzPts val="2143"/>
              <a:buFont typeface="Consolas"/>
              <a:buNone/>
            </a:pPr>
            <a:r>
              <a:rPr lang="en-US" sz="2400" dirty="0">
                <a:solidFill>
                  <a:srgbClr val="EEF4FF"/>
                </a:solidFill>
                <a:latin typeface="Cambria" panose="02040503050406030204" pitchFamily="18" charset="0"/>
                <a:ea typeface="Cambria" panose="02040503050406030204" pitchFamily="18" charset="0"/>
                <a:cs typeface="Consolas"/>
                <a:sym typeface="Consolas"/>
              </a:rPr>
              <a:t># Update image</a:t>
            </a:r>
            <a:endParaRPr sz="2400" dirty="0">
              <a:solidFill>
                <a:srgbClr val="EEF4FF"/>
              </a:solidFill>
              <a:latin typeface="Cambria" panose="02040503050406030204" pitchFamily="18" charset="0"/>
              <a:ea typeface="Cambria" panose="02040503050406030204" pitchFamily="18" charset="0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EF4FF"/>
              </a:buClr>
              <a:buSzPts val="2143"/>
              <a:buFont typeface="Consolas"/>
              <a:buNone/>
            </a:pPr>
            <a:r>
              <a:rPr lang="en-US" sz="2400" dirty="0" err="1">
                <a:solidFill>
                  <a:srgbClr val="EEF4FF"/>
                </a:solidFill>
                <a:latin typeface="Cambria" panose="02040503050406030204" pitchFamily="18" charset="0"/>
                <a:ea typeface="Cambria" panose="02040503050406030204" pitchFamily="18" charset="0"/>
                <a:cs typeface="Courier New"/>
                <a:sym typeface="Courier New"/>
              </a:rPr>
              <a:t>kubectl</a:t>
            </a:r>
            <a:r>
              <a:rPr lang="en-US" sz="2400" dirty="0">
                <a:solidFill>
                  <a:srgbClr val="EEF4FF"/>
                </a:solidFill>
                <a:latin typeface="Cambria" panose="02040503050406030204" pitchFamily="18" charset="0"/>
                <a:ea typeface="Cambria" panose="02040503050406030204" pitchFamily="18" charset="0"/>
                <a:cs typeface="Courier New"/>
                <a:sym typeface="Courier New"/>
              </a:rPr>
              <a:t> set image deploy/web web=myapp:v2.0.0</a:t>
            </a:r>
            <a:endParaRPr sz="2400" dirty="0">
              <a:solidFill>
                <a:srgbClr val="EEF4FF"/>
              </a:solidFill>
              <a:latin typeface="Cambria" panose="02040503050406030204" pitchFamily="18" charset="0"/>
              <a:ea typeface="Cambria" panose="02040503050406030204" pitchFamily="18" charset="0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EF4FF"/>
              </a:buClr>
              <a:buSzPts val="2143"/>
              <a:buFont typeface="Consolas"/>
              <a:buNone/>
            </a:pPr>
            <a:endParaRPr sz="2400" dirty="0">
              <a:solidFill>
                <a:srgbClr val="EEF4FF"/>
              </a:solidFill>
              <a:latin typeface="Cambria" panose="02040503050406030204" pitchFamily="18" charset="0"/>
              <a:ea typeface="Cambria" panose="02040503050406030204" pitchFamily="18" charset="0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EF4FF"/>
              </a:buClr>
              <a:buSzPts val="2143"/>
              <a:buFont typeface="Consolas"/>
              <a:buNone/>
            </a:pPr>
            <a:r>
              <a:rPr lang="en-US" sz="2400" dirty="0">
                <a:solidFill>
                  <a:srgbClr val="EEF4FF"/>
                </a:solidFill>
                <a:latin typeface="Cambria" panose="02040503050406030204" pitchFamily="18" charset="0"/>
                <a:ea typeface="Cambria" panose="02040503050406030204" pitchFamily="18" charset="0"/>
                <a:cs typeface="Consolas"/>
                <a:sym typeface="Consolas"/>
              </a:rPr>
              <a:t># Watch it happen in real-time</a:t>
            </a:r>
            <a:endParaRPr sz="2400" dirty="0">
              <a:solidFill>
                <a:srgbClr val="EEF4FF"/>
              </a:solidFill>
              <a:latin typeface="Cambria" panose="02040503050406030204" pitchFamily="18" charset="0"/>
              <a:ea typeface="Cambria" panose="02040503050406030204" pitchFamily="18" charset="0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EF4FF"/>
              </a:buClr>
              <a:buSzPts val="2143"/>
              <a:buFont typeface="Consolas"/>
              <a:buNone/>
            </a:pPr>
            <a:r>
              <a:rPr lang="en-US" sz="2400" dirty="0" err="1">
                <a:solidFill>
                  <a:srgbClr val="EEF4FF"/>
                </a:solidFill>
                <a:latin typeface="Cambria" panose="02040503050406030204" pitchFamily="18" charset="0"/>
                <a:ea typeface="Cambria" panose="02040503050406030204" pitchFamily="18" charset="0"/>
                <a:cs typeface="Courier New"/>
                <a:sym typeface="Courier New"/>
              </a:rPr>
              <a:t>kubectl</a:t>
            </a:r>
            <a:r>
              <a:rPr lang="en-US" sz="2400" dirty="0">
                <a:solidFill>
                  <a:srgbClr val="EEF4FF"/>
                </a:solidFill>
                <a:latin typeface="Cambria" panose="02040503050406030204" pitchFamily="18" charset="0"/>
                <a:ea typeface="Cambria" panose="02040503050406030204" pitchFamily="18" charset="0"/>
                <a:cs typeface="Courier New"/>
                <a:sym typeface="Courier New"/>
              </a:rPr>
              <a:t> rollout status deploy/web</a:t>
            </a:r>
            <a:endParaRPr sz="2400" dirty="0">
              <a:solidFill>
                <a:srgbClr val="EEF4FF"/>
              </a:solidFill>
              <a:latin typeface="Cambria" panose="02040503050406030204" pitchFamily="18" charset="0"/>
              <a:ea typeface="Cambria" panose="02040503050406030204" pitchFamily="18" charset="0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EF4FF"/>
              </a:buClr>
              <a:buSzPts val="2143"/>
              <a:buFont typeface="Consolas"/>
              <a:buNone/>
            </a:pPr>
            <a:endParaRPr sz="2400" dirty="0">
              <a:solidFill>
                <a:srgbClr val="EEF4FF"/>
              </a:solidFill>
              <a:latin typeface="Cambria" panose="02040503050406030204" pitchFamily="18" charset="0"/>
              <a:ea typeface="Cambria" panose="02040503050406030204" pitchFamily="18" charset="0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EF4FF"/>
              </a:buClr>
              <a:buSzPts val="2143"/>
              <a:buFont typeface="Consolas"/>
              <a:buNone/>
            </a:pPr>
            <a:r>
              <a:rPr lang="en-US" sz="2400" dirty="0">
                <a:solidFill>
                  <a:srgbClr val="EEF4FF"/>
                </a:solidFill>
                <a:latin typeface="Cambria" panose="02040503050406030204" pitchFamily="18" charset="0"/>
                <a:ea typeface="Cambria" panose="02040503050406030204" pitchFamily="18" charset="0"/>
                <a:cs typeface="Consolas"/>
                <a:sym typeface="Consolas"/>
              </a:rPr>
              <a:t># Something wrong? Instant rollback!</a:t>
            </a:r>
            <a:endParaRPr sz="2400" dirty="0">
              <a:solidFill>
                <a:srgbClr val="EEF4FF"/>
              </a:solidFill>
              <a:latin typeface="Cambria" panose="02040503050406030204" pitchFamily="18" charset="0"/>
              <a:ea typeface="Cambria" panose="02040503050406030204" pitchFamily="18" charset="0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EF4FF"/>
              </a:buClr>
              <a:buSzPts val="2143"/>
              <a:buFont typeface="Consolas"/>
              <a:buNone/>
            </a:pPr>
            <a:r>
              <a:rPr lang="en-US" sz="2400" dirty="0" err="1">
                <a:solidFill>
                  <a:srgbClr val="EEF4FF"/>
                </a:solidFill>
                <a:latin typeface="Cambria" panose="02040503050406030204" pitchFamily="18" charset="0"/>
                <a:ea typeface="Cambria" panose="02040503050406030204" pitchFamily="18" charset="0"/>
                <a:cs typeface="Courier New"/>
                <a:sym typeface="Courier New"/>
              </a:rPr>
              <a:t>kubectl</a:t>
            </a:r>
            <a:r>
              <a:rPr lang="en-US" sz="2400" dirty="0">
                <a:solidFill>
                  <a:srgbClr val="EEF4FF"/>
                </a:solidFill>
                <a:latin typeface="Cambria" panose="02040503050406030204" pitchFamily="18" charset="0"/>
                <a:ea typeface="Cambria" panose="02040503050406030204" pitchFamily="18" charset="0"/>
                <a:cs typeface="Courier New"/>
                <a:sym typeface="Courier New"/>
              </a:rPr>
              <a:t> rollout undo deploy/web</a:t>
            </a:r>
            <a:endParaRPr sz="2400" dirty="0">
              <a:solidFill>
                <a:srgbClr val="EEF4FF"/>
              </a:solidFill>
              <a:latin typeface="Cambria" panose="02040503050406030204" pitchFamily="18" charset="0"/>
              <a:ea typeface="Cambria" panose="02040503050406030204" pitchFamily="18" charset="0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EF4FF"/>
              </a:buClr>
              <a:buSzPts val="2143"/>
              <a:buFont typeface="Consolas"/>
              <a:buNone/>
            </a:pPr>
            <a:endParaRPr sz="2400" dirty="0">
              <a:solidFill>
                <a:srgbClr val="EEF4FF"/>
              </a:solidFill>
              <a:latin typeface="Cambria" panose="02040503050406030204" pitchFamily="18" charset="0"/>
              <a:ea typeface="Cambria" panose="02040503050406030204" pitchFamily="18" charset="0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EF4FF"/>
              </a:buClr>
              <a:buSzPts val="2143"/>
              <a:buFont typeface="Consolas"/>
              <a:buNone/>
            </a:pPr>
            <a:r>
              <a:rPr lang="en-US" sz="2400" dirty="0">
                <a:solidFill>
                  <a:srgbClr val="EEF4FF"/>
                </a:solidFill>
                <a:latin typeface="Cambria" panose="02040503050406030204" pitchFamily="18" charset="0"/>
                <a:ea typeface="Cambria" panose="02040503050406030204" pitchFamily="18" charset="0"/>
                <a:cs typeface="Consolas"/>
                <a:sym typeface="Consolas"/>
              </a:rPr>
              <a:t># Go back to a specific version</a:t>
            </a:r>
            <a:endParaRPr sz="2400" dirty="0">
              <a:solidFill>
                <a:srgbClr val="EEF4FF"/>
              </a:solidFill>
              <a:latin typeface="Cambria" panose="02040503050406030204" pitchFamily="18" charset="0"/>
              <a:ea typeface="Cambria" panose="02040503050406030204" pitchFamily="18" charset="0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EF4FF"/>
              </a:buClr>
              <a:buSzPts val="2143"/>
              <a:buFont typeface="Consolas"/>
              <a:buNone/>
            </a:pPr>
            <a:r>
              <a:rPr lang="en-US" sz="2400" dirty="0" err="1">
                <a:solidFill>
                  <a:srgbClr val="EEF4FF"/>
                </a:solidFill>
                <a:latin typeface="Cambria" panose="02040503050406030204" pitchFamily="18" charset="0"/>
                <a:ea typeface="Cambria" panose="02040503050406030204" pitchFamily="18" charset="0"/>
                <a:cs typeface="Courier New"/>
                <a:sym typeface="Courier New"/>
              </a:rPr>
              <a:t>kubectl</a:t>
            </a:r>
            <a:r>
              <a:rPr lang="en-US" sz="2400" dirty="0">
                <a:solidFill>
                  <a:srgbClr val="EEF4FF"/>
                </a:solidFill>
                <a:latin typeface="Cambria" panose="02040503050406030204" pitchFamily="18" charset="0"/>
                <a:ea typeface="Cambria" panose="02040503050406030204" pitchFamily="18" charset="0"/>
                <a:cs typeface="Courier New"/>
                <a:sym typeface="Courier New"/>
              </a:rPr>
              <a:t> rollout undo deploy/web --to-revision=3</a:t>
            </a:r>
            <a:endParaRPr sz="2400" dirty="0">
              <a:solidFill>
                <a:srgbClr val="EEF4FF"/>
              </a:solidFill>
              <a:latin typeface="Cambria" panose="02040503050406030204" pitchFamily="18" charset="0"/>
              <a:ea typeface="Cambria" panose="02040503050406030204" pitchFamily="18" charset="0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EF4FF"/>
              </a:buClr>
              <a:buSzPts val="2143"/>
              <a:buFont typeface="Consolas"/>
              <a:buNone/>
            </a:pPr>
            <a:endParaRPr sz="2400" dirty="0">
              <a:solidFill>
                <a:srgbClr val="EEF4FF"/>
              </a:solidFill>
              <a:latin typeface="Cambria" panose="02040503050406030204" pitchFamily="18" charset="0"/>
              <a:ea typeface="Cambria" panose="02040503050406030204" pitchFamily="18" charset="0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EF4FF"/>
              </a:buClr>
              <a:buSzPts val="2143"/>
              <a:buFont typeface="Consolas"/>
              <a:buNone/>
            </a:pPr>
            <a:endParaRPr sz="2400" dirty="0">
              <a:solidFill>
                <a:srgbClr val="EEF4FF"/>
              </a:solidFill>
              <a:latin typeface="Cambria" panose="02040503050406030204" pitchFamily="18" charset="0"/>
              <a:ea typeface="Cambria" panose="02040503050406030204" pitchFamily="18" charset="0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EF4FF"/>
              </a:buClr>
              <a:buSzPts val="2143"/>
              <a:buFont typeface="Consolas"/>
              <a:buNone/>
            </a:pPr>
            <a:endParaRPr sz="2400" dirty="0">
              <a:solidFill>
                <a:srgbClr val="EEF4FF"/>
              </a:solidFill>
              <a:latin typeface="Cambria" panose="02040503050406030204" pitchFamily="18" charset="0"/>
              <a:ea typeface="Cambria" panose="02040503050406030204" pitchFamily="18" charset="0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EF4FF"/>
              </a:buClr>
              <a:buSzPts val="2143"/>
              <a:buFont typeface="Consolas"/>
              <a:buNone/>
            </a:pPr>
            <a:endParaRPr sz="2400" dirty="0">
              <a:solidFill>
                <a:srgbClr val="EEF4FF"/>
              </a:solidFill>
              <a:latin typeface="Cambria" panose="02040503050406030204" pitchFamily="18" charset="0"/>
              <a:ea typeface="Cambria" panose="02040503050406030204" pitchFamily="18" charset="0"/>
              <a:cs typeface="Consolas"/>
              <a:sym typeface="Consola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A4E737F-8121-8DF3-A09A-FAAD7525D308}"/>
              </a:ext>
            </a:extLst>
          </p:cNvPr>
          <p:cNvSpPr txBox="1"/>
          <p:nvPr/>
        </p:nvSpPr>
        <p:spPr>
          <a:xfrm>
            <a:off x="251975" y="1955521"/>
            <a:ext cx="8949335" cy="72257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4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🚦 </a:t>
            </a:r>
            <a:r>
              <a:rPr lang="en-US" sz="2400" b="1" dirty="0">
                <a:solidFill>
                  <a:schemeClr val="accent6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Why Readiness Matters</a:t>
            </a:r>
          </a:p>
          <a:p>
            <a:pPr algn="just">
              <a:lnSpc>
                <a:spcPct val="150000"/>
              </a:lnSpc>
            </a:pPr>
            <a:r>
              <a:rPr lang="en-US" sz="24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 Kubernetes </a:t>
            </a:r>
            <a:r>
              <a:rPr lang="en-US" sz="24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Service</a:t>
            </a:r>
            <a:r>
              <a:rPr lang="en-US" sz="24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sends traffic only to Pods that are considered </a:t>
            </a:r>
            <a:r>
              <a:rPr lang="en-US" sz="24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Ready</a:t>
            </a:r>
            <a:r>
              <a:rPr lang="en-US" sz="24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  <a:p>
            <a:pPr algn="just">
              <a:lnSpc>
                <a:spcPct val="150000"/>
              </a:lnSpc>
            </a:pPr>
            <a:r>
              <a:rPr lang="en-US" sz="2400" dirty="0">
                <a:solidFill>
                  <a:schemeClr val="accent6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Therefore:</a:t>
            </a:r>
          </a:p>
          <a:p>
            <a:pPr algn="just">
              <a:lnSpc>
                <a:spcPct val="150000"/>
              </a:lnSpc>
            </a:pPr>
            <a:r>
              <a:rPr lang="en-US" sz="24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New Pod → Readiness Check → Ready ✓ → Receives Traffic</a:t>
            </a:r>
            <a:endParaRPr lang="en-US" sz="2400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sz="24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If the new Pod fails its readiness check, Kubernetes does not send normal Service traffic to it.</a:t>
            </a:r>
          </a:p>
          <a:p>
            <a:pPr algn="just">
              <a:lnSpc>
                <a:spcPct val="150000"/>
              </a:lnSpc>
            </a:pPr>
            <a:r>
              <a:rPr lang="en-US" sz="2400" b="1" dirty="0">
                <a:solidFill>
                  <a:schemeClr val="accent6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Key Takeaway</a:t>
            </a:r>
          </a:p>
          <a:p>
            <a:pPr algn="just">
              <a:lnSpc>
                <a:spcPct val="150000"/>
              </a:lnSpc>
            </a:pPr>
            <a:r>
              <a:rPr lang="en-US" sz="24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Rolling Updates allow Kubernetes to deploy a new application version gradually while keeping the existing service available.</a:t>
            </a:r>
            <a:endParaRPr lang="en-US" sz="2400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chemeClr val="accent6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In simple terms:</a:t>
            </a:r>
            <a:br>
              <a:rPr lang="en-US" sz="24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sz="24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Create → Test → Send Traffic → Remove Old → Repeat</a:t>
            </a:r>
            <a:endParaRPr lang="en-US" sz="2400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just">
              <a:lnSpc>
                <a:spcPct val="150000"/>
              </a:lnSpc>
            </a:pPr>
            <a:endParaRPr lang="en-US" sz="2400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363017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g3dae939ee2c_0_471"/>
          <p:cNvSpPr/>
          <p:nvPr/>
        </p:nvSpPr>
        <p:spPr>
          <a:xfrm>
            <a:off x="252014" y="153766"/>
            <a:ext cx="17783973" cy="9979469"/>
          </a:xfrm>
          <a:custGeom>
            <a:avLst/>
            <a:gdLst/>
            <a:ahLst/>
            <a:cxnLst/>
            <a:rect l="l" t="t" r="r" b="b"/>
            <a:pathLst>
              <a:path w="17783973" h="9979469" extrusionOk="0">
                <a:moveTo>
                  <a:pt x="0" y="0"/>
                </a:moveTo>
                <a:lnTo>
                  <a:pt x="17783972" y="0"/>
                </a:lnTo>
                <a:lnTo>
                  <a:pt x="17783972" y="9979468"/>
                </a:lnTo>
                <a:lnTo>
                  <a:pt x="0" y="997946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4000"/>
            </a:blip>
            <a:stretch>
              <a:fillRect l="-2130" t="-130" b="-6510"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grpSp>
        <p:nvGrpSpPr>
          <p:cNvPr id="548" name="Google Shape;548;g3dae939ee2c_0_471"/>
          <p:cNvGrpSpPr/>
          <p:nvPr/>
        </p:nvGrpSpPr>
        <p:grpSpPr>
          <a:xfrm>
            <a:off x="530603" y="553241"/>
            <a:ext cx="4536332" cy="836104"/>
            <a:chOff x="0" y="0"/>
            <a:chExt cx="6048443" cy="1114806"/>
          </a:xfrm>
        </p:grpSpPr>
        <p:sp>
          <p:nvSpPr>
            <p:cNvPr id="549" name="Google Shape;549;g3dae939ee2c_0_471" descr="Insights on ACTD Accreditation from a Leading Body"/>
            <p:cNvSpPr/>
            <p:nvPr/>
          </p:nvSpPr>
          <p:spPr>
            <a:xfrm>
              <a:off x="2976677" y="44434"/>
              <a:ext cx="1070372" cy="1070372"/>
            </a:xfrm>
            <a:custGeom>
              <a:avLst/>
              <a:gdLst/>
              <a:ahLst/>
              <a:cxnLst/>
              <a:rect l="l" t="t" r="r" b="b"/>
              <a:pathLst>
                <a:path w="2952750" h="2952750" extrusionOk="0">
                  <a:moveTo>
                    <a:pt x="0" y="0"/>
                  </a:moveTo>
                  <a:lnTo>
                    <a:pt x="2952750" y="0"/>
                  </a:lnTo>
                  <a:lnTo>
                    <a:pt x="2952750" y="2952750"/>
                  </a:lnTo>
                  <a:lnTo>
                    <a:pt x="0" y="295275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50" name="Google Shape;550;g3dae939ee2c_0_471"/>
            <p:cNvSpPr txBox="1"/>
            <p:nvPr/>
          </p:nvSpPr>
          <p:spPr>
            <a:xfrm>
              <a:off x="4168343" y="157841"/>
              <a:ext cx="1880100" cy="532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1992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63"/>
                <a:buFont typeface="Arial"/>
                <a:buNone/>
              </a:pPr>
              <a:r>
                <a:rPr lang="en-US" sz="763" b="0" i="0" u="none" strike="noStrike" cap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ACCREDITED BY THE AMERICAN COUNCIL OF TRAINING AND DEVELOPMENT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1" name="Google Shape;551;g3dae939ee2c_0_471"/>
            <p:cNvSpPr/>
            <p:nvPr/>
          </p:nvSpPr>
          <p:spPr>
            <a:xfrm>
              <a:off x="0" y="44434"/>
              <a:ext cx="2756281" cy="810768"/>
            </a:xfrm>
            <a:custGeom>
              <a:avLst/>
              <a:gdLst/>
              <a:ahLst/>
              <a:cxnLst/>
              <a:rect l="l" t="t" r="r" b="b"/>
              <a:pathLst>
                <a:path w="2756281" h="810768" extrusionOk="0">
                  <a:moveTo>
                    <a:pt x="0" y="0"/>
                  </a:moveTo>
                  <a:lnTo>
                    <a:pt x="2756281" y="0"/>
                  </a:lnTo>
                  <a:lnTo>
                    <a:pt x="2756281" y="810768"/>
                  </a:lnTo>
                  <a:lnTo>
                    <a:pt x="0" y="81076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 t="-30" b="-40"/>
              </a:stretch>
            </a:blip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cxnSp>
          <p:nvCxnSpPr>
            <p:cNvPr id="552" name="Google Shape;552;g3dae939ee2c_0_471"/>
            <p:cNvCxnSpPr/>
            <p:nvPr/>
          </p:nvCxnSpPr>
          <p:spPr>
            <a:xfrm>
              <a:off x="2900823" y="0"/>
              <a:ext cx="0" cy="860100"/>
            </a:xfrm>
            <a:prstGeom prst="straightConnector1">
              <a:avLst/>
            </a:prstGeom>
            <a:noFill/>
            <a:ln w="254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553" name="Google Shape;553;g3dae939ee2c_0_471"/>
          <p:cNvSpPr/>
          <p:nvPr/>
        </p:nvSpPr>
        <p:spPr>
          <a:xfrm>
            <a:off x="6562625" y="553241"/>
            <a:ext cx="5737530" cy="95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8F8"/>
              </a:buClr>
              <a:buSzPts val="5832"/>
              <a:buFont typeface="Trebuchet MS"/>
              <a:buNone/>
            </a:pPr>
            <a:r>
              <a:rPr lang="en-US" sz="4800" dirty="0">
                <a:solidFill>
                  <a:srgbClr val="434343"/>
                </a:solidFill>
                <a:latin typeface="Cambria" panose="02040503050406030204" pitchFamily="18" charset="0"/>
                <a:ea typeface="Cambria" panose="02040503050406030204" pitchFamily="18" charset="0"/>
                <a:cs typeface="Poppins"/>
                <a:sym typeface="Poppins"/>
              </a:rPr>
              <a:t>Kubernetes Service</a:t>
            </a:r>
            <a:endParaRPr sz="4800" b="0" i="0" u="none" strike="noStrike" cap="none" dirty="0">
              <a:solidFill>
                <a:srgbClr val="434343"/>
              </a:solidFill>
              <a:latin typeface="Cambria" panose="02040503050406030204" pitchFamily="18" charset="0"/>
              <a:ea typeface="Cambria" panose="02040503050406030204" pitchFamily="18" charset="0"/>
              <a:cs typeface="Poppins"/>
              <a:sym typeface="Poppins"/>
            </a:endParaRPr>
          </a:p>
        </p:txBody>
      </p:sp>
      <p:sp>
        <p:nvSpPr>
          <p:cNvPr id="554" name="Google Shape;554;g3dae939ee2c_0_471"/>
          <p:cNvSpPr/>
          <p:nvPr/>
        </p:nvSpPr>
        <p:spPr>
          <a:xfrm>
            <a:off x="462996" y="1244879"/>
            <a:ext cx="3567856" cy="8027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r>
              <a:rPr lang="en-US" sz="2800" b="1" dirty="0">
                <a:latin typeface="Cambria" panose="02040503050406030204" pitchFamily="18" charset="0"/>
                <a:ea typeface="Cambria" panose="02040503050406030204" pitchFamily="18" charset="0"/>
              </a:rPr>
              <a:t>What Is a Service?</a:t>
            </a:r>
          </a:p>
        </p:txBody>
      </p:sp>
      <p:sp>
        <p:nvSpPr>
          <p:cNvPr id="555" name="Google Shape;555;g3dae939ee2c_0_471"/>
          <p:cNvSpPr/>
          <p:nvPr/>
        </p:nvSpPr>
        <p:spPr>
          <a:xfrm>
            <a:off x="108250" y="1852956"/>
            <a:ext cx="18179750" cy="8325220"/>
          </a:xfrm>
          <a:prstGeom prst="roundRect">
            <a:avLst>
              <a:gd name="adj" fmla="val 8602"/>
            </a:avLst>
          </a:prstGeom>
          <a:solidFill>
            <a:srgbClr val="343434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23638D9-C985-2246-62F9-6D81BD638F0B}"/>
              </a:ext>
            </a:extLst>
          </p:cNvPr>
          <p:cNvSpPr txBox="1"/>
          <p:nvPr/>
        </p:nvSpPr>
        <p:spPr>
          <a:xfrm>
            <a:off x="158176" y="1909580"/>
            <a:ext cx="17971648" cy="99957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4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Kubernetes </a:t>
            </a:r>
            <a:r>
              <a:rPr lang="en-US" sz="24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Pods are ephemeral</a:t>
            </a:r>
            <a:r>
              <a:rPr lang="en-US" sz="24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, meaning they can be created, destroyed, restarted, or rescheduled at any time.</a:t>
            </a:r>
          </a:p>
          <a:p>
            <a:pPr algn="just">
              <a:lnSpc>
                <a:spcPct val="150000"/>
              </a:lnSpc>
            </a:pPr>
            <a:r>
              <a:rPr lang="en-US" sz="24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Because Pods can receive </a:t>
            </a:r>
            <a:r>
              <a:rPr lang="en-US" sz="24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new IP addresses</a:t>
            </a:r>
            <a:r>
              <a:rPr lang="en-US" sz="24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, connecting directly to Pod IPs is unreliable.</a:t>
            </a:r>
          </a:p>
          <a:p>
            <a:pPr algn="just">
              <a:lnSpc>
                <a:spcPct val="150000"/>
              </a:lnSpc>
            </a:pPr>
            <a:r>
              <a:rPr lang="en-US" sz="2400" dirty="0">
                <a:solidFill>
                  <a:schemeClr val="accent6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 </a:t>
            </a:r>
            <a:r>
              <a:rPr lang="en-US" sz="2400" b="1" dirty="0">
                <a:solidFill>
                  <a:schemeClr val="accent6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Service</a:t>
            </a:r>
            <a:r>
              <a:rPr lang="en-US" sz="2400" dirty="0">
                <a:solidFill>
                  <a:schemeClr val="accent6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4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provides a </a:t>
            </a:r>
            <a:r>
              <a:rPr lang="en-US" sz="24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stable virtual IP address and DNS name</a:t>
            </a:r>
            <a:r>
              <a:rPr lang="en-US" sz="24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that routes traffic to the appropriate healthy Pods.</a:t>
            </a:r>
          </a:p>
          <a:p>
            <a:pPr algn="just">
              <a:lnSpc>
                <a:spcPct val="150000"/>
              </a:lnSpc>
            </a:pPr>
            <a:r>
              <a:rPr lang="en-US" sz="2400" b="1" dirty="0">
                <a:solidFill>
                  <a:schemeClr val="accent6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🌐 What Does a Service Provide?</a:t>
            </a:r>
          </a:p>
          <a:p>
            <a:pPr algn="just">
              <a:lnSpc>
                <a:spcPct val="150000"/>
              </a:lnSpc>
            </a:pPr>
            <a:r>
              <a:rPr lang="en-US" sz="2400" b="1" dirty="0">
                <a:solidFill>
                  <a:schemeClr val="accent6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1. Stable Endpoint</a:t>
            </a:r>
          </a:p>
          <a:p>
            <a:pPr marL="342900" lvl="0" indent="-342900" algn="just">
              <a:lnSpc>
                <a:spcPct val="150000"/>
              </a:lnSpc>
              <a:buClr>
                <a:schemeClr val="accent6"/>
              </a:buCl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The Service gets a stable </a:t>
            </a:r>
            <a:r>
              <a:rPr lang="en-US" sz="2400" b="1" dirty="0" err="1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ClusterIP</a:t>
            </a:r>
            <a:r>
              <a:rPr lang="en-US" sz="24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and DNS name.</a:t>
            </a:r>
          </a:p>
          <a:p>
            <a:pPr marL="342900" lvl="0" indent="-342900" algn="just">
              <a:lnSpc>
                <a:spcPct val="150000"/>
              </a:lnSpc>
              <a:buClr>
                <a:schemeClr val="accent6"/>
              </a:buCl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The Service address remains available even when Pods restart or are replaced.</a:t>
            </a:r>
          </a:p>
          <a:p>
            <a:pPr marL="342900" lvl="0" indent="-342900" algn="just">
              <a:lnSpc>
                <a:spcPct val="150000"/>
              </a:lnSpc>
              <a:buClr>
                <a:schemeClr val="accent6"/>
              </a:buCl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Applications do not need to know individual Pod IP addresses.</a:t>
            </a:r>
          </a:p>
          <a:p>
            <a:pPr algn="just">
              <a:lnSpc>
                <a:spcPct val="150000"/>
              </a:lnSpc>
            </a:pPr>
            <a:r>
              <a:rPr lang="en-US" sz="2400" b="1" dirty="0">
                <a:solidFill>
                  <a:schemeClr val="accent6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2. Service Discovery</a:t>
            </a:r>
          </a:p>
          <a:p>
            <a:pPr marL="342900" indent="-342900" algn="just">
              <a:lnSpc>
                <a:spcPct val="150000"/>
              </a:lnSpc>
              <a:buClr>
                <a:schemeClr val="accent6"/>
              </a:buCl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Other Pods can access a Service using its </a:t>
            </a:r>
            <a:r>
              <a:rPr lang="en-US" sz="24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DNS name</a:t>
            </a:r>
            <a:r>
              <a:rPr lang="en-US" sz="24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instead of a hardcoded IP address.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chemeClr val="accent6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3. Load Balancing</a:t>
            </a:r>
          </a:p>
          <a:p>
            <a:pPr marL="342900" lvl="0" indent="-342900">
              <a:lnSpc>
                <a:spcPct val="150000"/>
              </a:lnSpc>
              <a:buClr>
                <a:schemeClr val="accent6"/>
              </a:buCl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The Service distributes requests across matching </a:t>
            </a:r>
            <a:r>
              <a:rPr lang="en-US" sz="24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Ready/healthy endpoints</a:t>
            </a:r>
            <a:r>
              <a:rPr lang="en-US" sz="24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  <a:p>
            <a:pPr marL="342900" lvl="0" indent="-342900">
              <a:lnSpc>
                <a:spcPct val="150000"/>
              </a:lnSpc>
              <a:buClr>
                <a:schemeClr val="accent6"/>
              </a:buCl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This allows multiple Pods to serve the same application.</a:t>
            </a:r>
          </a:p>
          <a:p>
            <a:pPr marL="342900" lvl="0" indent="-342900">
              <a:lnSpc>
                <a:spcPct val="150000"/>
              </a:lnSpc>
              <a:buClr>
                <a:schemeClr val="accent6"/>
              </a:buCl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Kubernetes provides load balancing across the Service's endpoints; the exact distribution behavior depends on the networking implementation rather than guaranteeing strict round-robin.</a:t>
            </a:r>
          </a:p>
          <a:p>
            <a:pPr lvl="0" algn="just">
              <a:lnSpc>
                <a:spcPct val="150000"/>
              </a:lnSpc>
              <a:buClr>
                <a:schemeClr val="accent6"/>
              </a:buClr>
            </a:pPr>
            <a:endParaRPr lang="en-US" sz="2400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just">
              <a:lnSpc>
                <a:spcPct val="150000"/>
              </a:lnSpc>
            </a:pPr>
            <a:endParaRPr 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just">
              <a:lnSpc>
                <a:spcPct val="150000"/>
              </a:lnSpc>
            </a:pPr>
            <a:endParaRPr 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6">
          <a:extLst>
            <a:ext uri="{FF2B5EF4-FFF2-40B4-BE49-F238E27FC236}">
              <a16:creationId xmlns:a16="http://schemas.microsoft.com/office/drawing/2014/main" id="{4A9A071B-83CA-2242-5956-C2AC7C67FA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g3dae939ee2c_0_471">
            <a:extLst>
              <a:ext uri="{FF2B5EF4-FFF2-40B4-BE49-F238E27FC236}">
                <a16:creationId xmlns:a16="http://schemas.microsoft.com/office/drawing/2014/main" id="{A672BF44-63CE-E9BF-A17A-9EFFE1F9EB7C}"/>
              </a:ext>
            </a:extLst>
          </p:cNvPr>
          <p:cNvSpPr/>
          <p:nvPr/>
        </p:nvSpPr>
        <p:spPr>
          <a:xfrm>
            <a:off x="252014" y="153766"/>
            <a:ext cx="17783973" cy="9979469"/>
          </a:xfrm>
          <a:custGeom>
            <a:avLst/>
            <a:gdLst/>
            <a:ahLst/>
            <a:cxnLst/>
            <a:rect l="l" t="t" r="r" b="b"/>
            <a:pathLst>
              <a:path w="17783973" h="9979469" extrusionOk="0">
                <a:moveTo>
                  <a:pt x="0" y="0"/>
                </a:moveTo>
                <a:lnTo>
                  <a:pt x="17783972" y="0"/>
                </a:lnTo>
                <a:lnTo>
                  <a:pt x="17783972" y="9979468"/>
                </a:lnTo>
                <a:lnTo>
                  <a:pt x="0" y="997946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4000"/>
            </a:blip>
            <a:stretch>
              <a:fillRect l="-2130" t="-130" b="-6510"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grpSp>
        <p:nvGrpSpPr>
          <p:cNvPr id="548" name="Google Shape;548;g3dae939ee2c_0_471">
            <a:extLst>
              <a:ext uri="{FF2B5EF4-FFF2-40B4-BE49-F238E27FC236}">
                <a16:creationId xmlns:a16="http://schemas.microsoft.com/office/drawing/2014/main" id="{7880DAED-30C1-164E-5CA9-69D8816F2D54}"/>
              </a:ext>
            </a:extLst>
          </p:cNvPr>
          <p:cNvGrpSpPr/>
          <p:nvPr/>
        </p:nvGrpSpPr>
        <p:grpSpPr>
          <a:xfrm>
            <a:off x="530603" y="553241"/>
            <a:ext cx="4536332" cy="836104"/>
            <a:chOff x="0" y="0"/>
            <a:chExt cx="6048443" cy="1114806"/>
          </a:xfrm>
        </p:grpSpPr>
        <p:sp>
          <p:nvSpPr>
            <p:cNvPr id="549" name="Google Shape;549;g3dae939ee2c_0_471" descr="Insights on ACTD Accreditation from a Leading Body">
              <a:extLst>
                <a:ext uri="{FF2B5EF4-FFF2-40B4-BE49-F238E27FC236}">
                  <a16:creationId xmlns:a16="http://schemas.microsoft.com/office/drawing/2014/main" id="{A840CFCE-E6ED-58EF-AF11-3B29F6DDED29}"/>
                </a:ext>
              </a:extLst>
            </p:cNvPr>
            <p:cNvSpPr/>
            <p:nvPr/>
          </p:nvSpPr>
          <p:spPr>
            <a:xfrm>
              <a:off x="2976677" y="44434"/>
              <a:ext cx="1070372" cy="1070372"/>
            </a:xfrm>
            <a:custGeom>
              <a:avLst/>
              <a:gdLst/>
              <a:ahLst/>
              <a:cxnLst/>
              <a:rect l="l" t="t" r="r" b="b"/>
              <a:pathLst>
                <a:path w="2952750" h="2952750" extrusionOk="0">
                  <a:moveTo>
                    <a:pt x="0" y="0"/>
                  </a:moveTo>
                  <a:lnTo>
                    <a:pt x="2952750" y="0"/>
                  </a:lnTo>
                  <a:lnTo>
                    <a:pt x="2952750" y="2952750"/>
                  </a:lnTo>
                  <a:lnTo>
                    <a:pt x="0" y="295275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50" name="Google Shape;550;g3dae939ee2c_0_471">
              <a:extLst>
                <a:ext uri="{FF2B5EF4-FFF2-40B4-BE49-F238E27FC236}">
                  <a16:creationId xmlns:a16="http://schemas.microsoft.com/office/drawing/2014/main" id="{41886C4D-A148-9899-7209-FAC6025A789A}"/>
                </a:ext>
              </a:extLst>
            </p:cNvPr>
            <p:cNvSpPr txBox="1"/>
            <p:nvPr/>
          </p:nvSpPr>
          <p:spPr>
            <a:xfrm>
              <a:off x="4168343" y="157841"/>
              <a:ext cx="1880100" cy="532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1992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63"/>
                <a:buFont typeface="Arial"/>
                <a:buNone/>
              </a:pPr>
              <a:r>
                <a:rPr lang="en-US" sz="763" b="0" i="0" u="none" strike="noStrike" cap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ACCREDITED BY THE AMERICAN COUNCIL OF TRAINING AND DEVELOPMENT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1" name="Google Shape;551;g3dae939ee2c_0_471">
              <a:extLst>
                <a:ext uri="{FF2B5EF4-FFF2-40B4-BE49-F238E27FC236}">
                  <a16:creationId xmlns:a16="http://schemas.microsoft.com/office/drawing/2014/main" id="{72C0B4BD-2A9E-B910-C528-4D114C76628D}"/>
                </a:ext>
              </a:extLst>
            </p:cNvPr>
            <p:cNvSpPr/>
            <p:nvPr/>
          </p:nvSpPr>
          <p:spPr>
            <a:xfrm>
              <a:off x="0" y="44434"/>
              <a:ext cx="2756281" cy="810768"/>
            </a:xfrm>
            <a:custGeom>
              <a:avLst/>
              <a:gdLst/>
              <a:ahLst/>
              <a:cxnLst/>
              <a:rect l="l" t="t" r="r" b="b"/>
              <a:pathLst>
                <a:path w="2756281" h="810768" extrusionOk="0">
                  <a:moveTo>
                    <a:pt x="0" y="0"/>
                  </a:moveTo>
                  <a:lnTo>
                    <a:pt x="2756281" y="0"/>
                  </a:lnTo>
                  <a:lnTo>
                    <a:pt x="2756281" y="810768"/>
                  </a:lnTo>
                  <a:lnTo>
                    <a:pt x="0" y="81076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 t="-30" b="-40"/>
              </a:stretch>
            </a:blip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cxnSp>
          <p:nvCxnSpPr>
            <p:cNvPr id="552" name="Google Shape;552;g3dae939ee2c_0_471">
              <a:extLst>
                <a:ext uri="{FF2B5EF4-FFF2-40B4-BE49-F238E27FC236}">
                  <a16:creationId xmlns:a16="http://schemas.microsoft.com/office/drawing/2014/main" id="{B02B411D-A319-390F-76EE-A6DAD9303F63}"/>
                </a:ext>
              </a:extLst>
            </p:cNvPr>
            <p:cNvCxnSpPr/>
            <p:nvPr/>
          </p:nvCxnSpPr>
          <p:spPr>
            <a:xfrm>
              <a:off x="2900823" y="0"/>
              <a:ext cx="0" cy="860100"/>
            </a:xfrm>
            <a:prstGeom prst="straightConnector1">
              <a:avLst/>
            </a:prstGeom>
            <a:noFill/>
            <a:ln w="254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553" name="Google Shape;553;g3dae939ee2c_0_471">
            <a:extLst>
              <a:ext uri="{FF2B5EF4-FFF2-40B4-BE49-F238E27FC236}">
                <a16:creationId xmlns:a16="http://schemas.microsoft.com/office/drawing/2014/main" id="{7025AB4E-077C-DC2B-A30B-EA04BFFD3C0D}"/>
              </a:ext>
            </a:extLst>
          </p:cNvPr>
          <p:cNvSpPr/>
          <p:nvPr/>
        </p:nvSpPr>
        <p:spPr>
          <a:xfrm>
            <a:off x="6562625" y="553241"/>
            <a:ext cx="5737530" cy="95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8F8"/>
              </a:buClr>
              <a:buSzPts val="5832"/>
              <a:buFont typeface="Trebuchet MS"/>
              <a:buNone/>
            </a:pPr>
            <a:r>
              <a:rPr lang="en-US" sz="4800" dirty="0">
                <a:solidFill>
                  <a:srgbClr val="434343"/>
                </a:solidFill>
                <a:latin typeface="Cambria" panose="02040503050406030204" pitchFamily="18" charset="0"/>
                <a:ea typeface="Cambria" panose="02040503050406030204" pitchFamily="18" charset="0"/>
                <a:cs typeface="Poppins"/>
                <a:sym typeface="Poppins"/>
              </a:rPr>
              <a:t>Kubernetes Service</a:t>
            </a:r>
            <a:endParaRPr sz="4800" b="0" i="0" u="none" strike="noStrike" cap="none" dirty="0">
              <a:solidFill>
                <a:srgbClr val="434343"/>
              </a:solidFill>
              <a:latin typeface="Cambria" panose="02040503050406030204" pitchFamily="18" charset="0"/>
              <a:ea typeface="Cambria" panose="02040503050406030204" pitchFamily="18" charset="0"/>
              <a:cs typeface="Poppins"/>
              <a:sym typeface="Poppins"/>
            </a:endParaRPr>
          </a:p>
        </p:txBody>
      </p:sp>
      <p:sp>
        <p:nvSpPr>
          <p:cNvPr id="555" name="Google Shape;555;g3dae939ee2c_0_471">
            <a:extLst>
              <a:ext uri="{FF2B5EF4-FFF2-40B4-BE49-F238E27FC236}">
                <a16:creationId xmlns:a16="http://schemas.microsoft.com/office/drawing/2014/main" id="{D9D67AF6-9118-9A26-849C-50DC073B6DE4}"/>
              </a:ext>
            </a:extLst>
          </p:cNvPr>
          <p:cNvSpPr/>
          <p:nvPr/>
        </p:nvSpPr>
        <p:spPr>
          <a:xfrm>
            <a:off x="108249" y="1712498"/>
            <a:ext cx="10232717" cy="5097358"/>
          </a:xfrm>
          <a:prstGeom prst="roundRect">
            <a:avLst>
              <a:gd name="adj" fmla="val 8602"/>
            </a:avLst>
          </a:prstGeom>
          <a:solidFill>
            <a:srgbClr val="343434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g3dae939ee2c_0_471">
            <a:extLst>
              <a:ext uri="{FF2B5EF4-FFF2-40B4-BE49-F238E27FC236}">
                <a16:creationId xmlns:a16="http://schemas.microsoft.com/office/drawing/2014/main" id="{D9B4B13A-A12F-2ACF-70C5-DDC4C2AAC06F}"/>
              </a:ext>
            </a:extLst>
          </p:cNvPr>
          <p:cNvSpPr/>
          <p:nvPr/>
        </p:nvSpPr>
        <p:spPr>
          <a:xfrm>
            <a:off x="10484732" y="5141253"/>
            <a:ext cx="7695020" cy="4956900"/>
          </a:xfrm>
          <a:prstGeom prst="roundRect">
            <a:avLst>
              <a:gd name="adj" fmla="val 8602"/>
            </a:avLst>
          </a:prstGeom>
          <a:solidFill>
            <a:srgbClr val="0D0D0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9775" tIns="79775" rIns="79775" bIns="797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22"/>
              <a:buFont typeface="Arial"/>
              <a:buNone/>
            </a:pPr>
            <a:endParaRPr sz="1222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1" name="Google Shape;561;g3dae939ee2c_0_471">
            <a:extLst>
              <a:ext uri="{FF2B5EF4-FFF2-40B4-BE49-F238E27FC236}">
                <a16:creationId xmlns:a16="http://schemas.microsoft.com/office/drawing/2014/main" id="{27E8E75D-13C5-AF91-F2E3-039F550D5B45}"/>
              </a:ext>
            </a:extLst>
          </p:cNvPr>
          <p:cNvSpPr/>
          <p:nvPr/>
        </p:nvSpPr>
        <p:spPr>
          <a:xfrm>
            <a:off x="10660713" y="5377575"/>
            <a:ext cx="7966500" cy="45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EF4FF"/>
              </a:buClr>
              <a:buSzPts val="2143"/>
              <a:buFont typeface="Consolas"/>
              <a:buNone/>
            </a:pPr>
            <a:r>
              <a:rPr lang="en-US" sz="2400" dirty="0">
                <a:solidFill>
                  <a:srgbClr val="EEF4FF"/>
                </a:solidFill>
                <a:latin typeface="Cambria" panose="02040503050406030204" pitchFamily="18" charset="0"/>
                <a:ea typeface="Cambria" panose="02040503050406030204" pitchFamily="18" charset="0"/>
                <a:cs typeface="Consolas"/>
                <a:sym typeface="Consolas"/>
              </a:rPr>
              <a:t>Create a Service for a Deployment</a:t>
            </a:r>
            <a:endParaRPr sz="2400" dirty="0">
              <a:solidFill>
                <a:srgbClr val="EEF4FF"/>
              </a:solidFill>
              <a:latin typeface="Cambria" panose="02040503050406030204" pitchFamily="18" charset="0"/>
              <a:ea typeface="Cambria" panose="02040503050406030204" pitchFamily="18" charset="0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EF4FF"/>
              </a:buClr>
              <a:buSzPts val="2143"/>
              <a:buFont typeface="Consolas"/>
              <a:buNone/>
            </a:pPr>
            <a:r>
              <a:rPr lang="en-US" sz="2400" dirty="0" err="1">
                <a:solidFill>
                  <a:srgbClr val="EEF4FF"/>
                </a:solidFill>
                <a:latin typeface="Cambria" panose="02040503050406030204" pitchFamily="18" charset="0"/>
                <a:ea typeface="Cambria" panose="02040503050406030204" pitchFamily="18" charset="0"/>
                <a:cs typeface="Courier New"/>
                <a:sym typeface="Courier New"/>
              </a:rPr>
              <a:t>kubectl</a:t>
            </a:r>
            <a:r>
              <a:rPr lang="en-US" sz="2400" dirty="0">
                <a:solidFill>
                  <a:srgbClr val="EEF4FF"/>
                </a:solidFill>
                <a:latin typeface="Cambria" panose="02040503050406030204" pitchFamily="18" charset="0"/>
                <a:ea typeface="Cambria" panose="02040503050406030204" pitchFamily="18" charset="0"/>
                <a:cs typeface="Courier New"/>
                <a:sym typeface="Courier New"/>
              </a:rPr>
              <a:t> expose deploy/web --port=80 --target-port=8080</a:t>
            </a:r>
            <a:endParaRPr sz="2400" dirty="0">
              <a:solidFill>
                <a:srgbClr val="EEF4FF"/>
              </a:solidFill>
              <a:latin typeface="Cambria" panose="02040503050406030204" pitchFamily="18" charset="0"/>
              <a:ea typeface="Cambria" panose="02040503050406030204" pitchFamily="18" charset="0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EF4FF"/>
              </a:buClr>
              <a:buSzPts val="2143"/>
              <a:buFont typeface="Consolas"/>
              <a:buNone/>
            </a:pPr>
            <a:endParaRPr sz="2400" dirty="0">
              <a:solidFill>
                <a:srgbClr val="EEF4FF"/>
              </a:solidFill>
              <a:latin typeface="Cambria" panose="02040503050406030204" pitchFamily="18" charset="0"/>
              <a:ea typeface="Cambria" panose="02040503050406030204" pitchFamily="18" charset="0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EF4FF"/>
              </a:buClr>
              <a:buSzPts val="2143"/>
              <a:buFont typeface="Consolas"/>
              <a:buNone/>
            </a:pPr>
            <a:r>
              <a:rPr lang="en-US" sz="2400" dirty="0">
                <a:solidFill>
                  <a:srgbClr val="EEF4FF"/>
                </a:solidFill>
                <a:latin typeface="Cambria" panose="02040503050406030204" pitchFamily="18" charset="0"/>
                <a:ea typeface="Cambria" panose="02040503050406030204" pitchFamily="18" charset="0"/>
                <a:cs typeface="Consolas"/>
                <a:sym typeface="Consolas"/>
              </a:rPr>
              <a:t># Or apply from YAML</a:t>
            </a:r>
            <a:endParaRPr sz="2400" dirty="0">
              <a:solidFill>
                <a:srgbClr val="EEF4FF"/>
              </a:solidFill>
              <a:latin typeface="Cambria" panose="02040503050406030204" pitchFamily="18" charset="0"/>
              <a:ea typeface="Cambria" panose="02040503050406030204" pitchFamily="18" charset="0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EF4FF"/>
              </a:buClr>
              <a:buSzPts val="2143"/>
              <a:buFont typeface="Consolas"/>
              <a:buNone/>
            </a:pPr>
            <a:r>
              <a:rPr lang="en-US" sz="2400" dirty="0" err="1">
                <a:solidFill>
                  <a:srgbClr val="EEF4FF"/>
                </a:solidFill>
                <a:latin typeface="Cambria" panose="02040503050406030204" pitchFamily="18" charset="0"/>
                <a:ea typeface="Cambria" panose="02040503050406030204" pitchFamily="18" charset="0"/>
                <a:cs typeface="Courier New"/>
                <a:sym typeface="Courier New"/>
              </a:rPr>
              <a:t>kubectl</a:t>
            </a:r>
            <a:r>
              <a:rPr lang="en-US" sz="2400" dirty="0">
                <a:solidFill>
                  <a:srgbClr val="EEF4FF"/>
                </a:solidFill>
                <a:latin typeface="Cambria" panose="02040503050406030204" pitchFamily="18" charset="0"/>
                <a:ea typeface="Cambria" panose="02040503050406030204" pitchFamily="18" charset="0"/>
                <a:cs typeface="Courier New"/>
                <a:sym typeface="Courier New"/>
              </a:rPr>
              <a:t> apply -f </a:t>
            </a:r>
            <a:r>
              <a:rPr lang="en-US" sz="2400" dirty="0" err="1">
                <a:solidFill>
                  <a:srgbClr val="EEF4FF"/>
                </a:solidFill>
                <a:latin typeface="Cambria" panose="02040503050406030204" pitchFamily="18" charset="0"/>
                <a:ea typeface="Cambria" panose="02040503050406030204" pitchFamily="18" charset="0"/>
                <a:cs typeface="Courier New"/>
                <a:sym typeface="Courier New"/>
              </a:rPr>
              <a:t>service.yaml</a:t>
            </a:r>
            <a:endParaRPr sz="2400" dirty="0">
              <a:solidFill>
                <a:srgbClr val="EEF4FF"/>
              </a:solidFill>
              <a:latin typeface="Cambria" panose="02040503050406030204" pitchFamily="18" charset="0"/>
              <a:ea typeface="Cambria" panose="02040503050406030204" pitchFamily="18" charset="0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EF4FF"/>
              </a:buClr>
              <a:buSzPts val="2143"/>
              <a:buFont typeface="Consolas"/>
              <a:buNone/>
            </a:pPr>
            <a:endParaRPr sz="2400" dirty="0">
              <a:solidFill>
                <a:srgbClr val="EEF4FF"/>
              </a:solidFill>
              <a:latin typeface="Cambria" panose="02040503050406030204" pitchFamily="18" charset="0"/>
              <a:ea typeface="Cambria" panose="02040503050406030204" pitchFamily="18" charset="0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EF4FF"/>
              </a:buClr>
              <a:buSzPts val="2143"/>
              <a:buFont typeface="Consolas"/>
              <a:buNone/>
            </a:pPr>
            <a:r>
              <a:rPr lang="en-US" sz="2400" dirty="0">
                <a:solidFill>
                  <a:srgbClr val="EEF4FF"/>
                </a:solidFill>
                <a:latin typeface="Cambria" panose="02040503050406030204" pitchFamily="18" charset="0"/>
                <a:ea typeface="Cambria" panose="02040503050406030204" pitchFamily="18" charset="0"/>
                <a:cs typeface="Consolas"/>
                <a:sym typeface="Consolas"/>
              </a:rPr>
              <a:t># See all services and their IPs</a:t>
            </a:r>
            <a:endParaRPr sz="2400" dirty="0">
              <a:solidFill>
                <a:srgbClr val="EEF4FF"/>
              </a:solidFill>
              <a:latin typeface="Cambria" panose="02040503050406030204" pitchFamily="18" charset="0"/>
              <a:ea typeface="Cambria" panose="02040503050406030204" pitchFamily="18" charset="0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EF4FF"/>
              </a:buClr>
              <a:buSzPts val="2143"/>
              <a:buFont typeface="Consolas"/>
              <a:buNone/>
            </a:pPr>
            <a:r>
              <a:rPr lang="en-US" sz="2400" dirty="0" err="1">
                <a:solidFill>
                  <a:srgbClr val="EEF4FF"/>
                </a:solidFill>
                <a:latin typeface="Cambria" panose="02040503050406030204" pitchFamily="18" charset="0"/>
                <a:ea typeface="Cambria" panose="02040503050406030204" pitchFamily="18" charset="0"/>
                <a:cs typeface="Courier New"/>
                <a:sym typeface="Courier New"/>
              </a:rPr>
              <a:t>kubectl</a:t>
            </a:r>
            <a:r>
              <a:rPr lang="en-US" sz="2400" dirty="0">
                <a:solidFill>
                  <a:srgbClr val="EEF4FF"/>
                </a:solidFill>
                <a:latin typeface="Cambria" panose="02040503050406030204" pitchFamily="18" charset="0"/>
                <a:ea typeface="Cambria" panose="02040503050406030204" pitchFamily="18" charset="0"/>
                <a:cs typeface="Courier New"/>
                <a:sym typeface="Courier New"/>
              </a:rPr>
              <a:t> get svc</a:t>
            </a:r>
            <a:endParaRPr sz="2400" dirty="0">
              <a:solidFill>
                <a:srgbClr val="EEF4FF"/>
              </a:solidFill>
              <a:latin typeface="Cambria" panose="02040503050406030204" pitchFamily="18" charset="0"/>
              <a:ea typeface="Cambria" panose="02040503050406030204" pitchFamily="18" charset="0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EF4FF"/>
              </a:buClr>
              <a:buSzPts val="2143"/>
              <a:buFont typeface="Consolas"/>
              <a:buNone/>
            </a:pPr>
            <a:endParaRPr sz="2400" dirty="0">
              <a:solidFill>
                <a:srgbClr val="EEF4FF"/>
              </a:solidFill>
              <a:latin typeface="Cambria" panose="02040503050406030204" pitchFamily="18" charset="0"/>
              <a:ea typeface="Cambria" panose="02040503050406030204" pitchFamily="18" charset="0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EF4FF"/>
              </a:buClr>
              <a:buSzPts val="2143"/>
              <a:buFont typeface="Consolas"/>
              <a:buNone/>
            </a:pPr>
            <a:r>
              <a:rPr lang="en-US" sz="2400" dirty="0">
                <a:solidFill>
                  <a:srgbClr val="EEF4FF"/>
                </a:solidFill>
                <a:latin typeface="Cambria" panose="02040503050406030204" pitchFamily="18" charset="0"/>
                <a:ea typeface="Cambria" panose="02040503050406030204" pitchFamily="18" charset="0"/>
                <a:cs typeface="Consolas"/>
                <a:sym typeface="Consolas"/>
              </a:rPr>
              <a:t># Test from inside cluster</a:t>
            </a:r>
            <a:endParaRPr sz="2400" dirty="0">
              <a:solidFill>
                <a:srgbClr val="EEF4FF"/>
              </a:solidFill>
              <a:latin typeface="Cambria" panose="02040503050406030204" pitchFamily="18" charset="0"/>
              <a:ea typeface="Cambria" panose="02040503050406030204" pitchFamily="18" charset="0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EF4FF"/>
              </a:buClr>
              <a:buSzPts val="2143"/>
              <a:buFont typeface="Consolas"/>
              <a:buNone/>
            </a:pPr>
            <a:r>
              <a:rPr lang="en-US" sz="2400" dirty="0" err="1">
                <a:solidFill>
                  <a:srgbClr val="EEF4FF"/>
                </a:solidFill>
                <a:latin typeface="Cambria" panose="02040503050406030204" pitchFamily="18" charset="0"/>
                <a:ea typeface="Cambria" panose="02040503050406030204" pitchFamily="18" charset="0"/>
                <a:cs typeface="Courier New"/>
                <a:sym typeface="Courier New"/>
              </a:rPr>
              <a:t>kubectl</a:t>
            </a:r>
            <a:r>
              <a:rPr lang="en-US" sz="2400" dirty="0">
                <a:solidFill>
                  <a:srgbClr val="EEF4FF"/>
                </a:solidFill>
                <a:latin typeface="Cambria" panose="02040503050406030204" pitchFamily="18" charset="0"/>
                <a:ea typeface="Cambria" panose="02040503050406030204" pitchFamily="18" charset="0"/>
                <a:cs typeface="Courier New"/>
                <a:sym typeface="Courier New"/>
              </a:rPr>
              <a:t> run test --rm -it --image=</a:t>
            </a:r>
            <a:r>
              <a:rPr lang="en-US" sz="2400" dirty="0" err="1">
                <a:solidFill>
                  <a:srgbClr val="EEF4FF"/>
                </a:solidFill>
                <a:latin typeface="Cambria" panose="02040503050406030204" pitchFamily="18" charset="0"/>
                <a:ea typeface="Cambria" panose="02040503050406030204" pitchFamily="18" charset="0"/>
                <a:cs typeface="Courier New"/>
                <a:sym typeface="Courier New"/>
              </a:rPr>
              <a:t>busybox</a:t>
            </a:r>
            <a:r>
              <a:rPr lang="en-US" sz="2400" dirty="0">
                <a:solidFill>
                  <a:srgbClr val="EEF4FF"/>
                </a:solidFill>
                <a:latin typeface="Cambria" panose="02040503050406030204" pitchFamily="18" charset="0"/>
                <a:ea typeface="Cambria" panose="02040503050406030204" pitchFamily="18" charset="0"/>
                <a:cs typeface="Courier New"/>
                <a:sym typeface="Courier New"/>
              </a:rPr>
              <a:t> -- </a:t>
            </a:r>
            <a:r>
              <a:rPr lang="en-US" sz="2400" dirty="0" err="1">
                <a:solidFill>
                  <a:srgbClr val="EEF4FF"/>
                </a:solidFill>
                <a:latin typeface="Cambria" panose="02040503050406030204" pitchFamily="18" charset="0"/>
                <a:ea typeface="Cambria" panose="02040503050406030204" pitchFamily="18" charset="0"/>
                <a:cs typeface="Courier New"/>
                <a:sym typeface="Courier New"/>
              </a:rPr>
              <a:t>wget</a:t>
            </a:r>
            <a:r>
              <a:rPr lang="en-US" sz="2400" dirty="0">
                <a:solidFill>
                  <a:srgbClr val="EEF4FF"/>
                </a:solidFill>
                <a:latin typeface="Cambria" panose="02040503050406030204" pitchFamily="18" charset="0"/>
                <a:ea typeface="Cambria" panose="02040503050406030204" pitchFamily="18" charset="0"/>
                <a:cs typeface="Courier New"/>
                <a:sym typeface="Courier New"/>
              </a:rPr>
              <a:t> -q http://web-svc</a:t>
            </a:r>
            <a:endParaRPr sz="2400" dirty="0">
              <a:solidFill>
                <a:srgbClr val="EEF4FF"/>
              </a:solidFill>
              <a:latin typeface="Cambria" panose="02040503050406030204" pitchFamily="18" charset="0"/>
              <a:ea typeface="Cambria" panose="02040503050406030204" pitchFamily="18" charset="0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EF4FF"/>
              </a:buClr>
              <a:buSzPts val="2143"/>
              <a:buFont typeface="Consolas"/>
              <a:buNone/>
            </a:pPr>
            <a:endParaRPr sz="2400" dirty="0">
              <a:solidFill>
                <a:srgbClr val="EEF4FF"/>
              </a:solidFill>
              <a:latin typeface="Cambria" panose="02040503050406030204" pitchFamily="18" charset="0"/>
              <a:ea typeface="Cambria" panose="02040503050406030204" pitchFamily="18" charset="0"/>
              <a:cs typeface="Consolas"/>
              <a:sym typeface="Consola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8838427-0E77-771E-3B6C-22B97E6B44FE}"/>
              </a:ext>
            </a:extLst>
          </p:cNvPr>
          <p:cNvSpPr txBox="1"/>
          <p:nvPr/>
        </p:nvSpPr>
        <p:spPr>
          <a:xfrm>
            <a:off x="208102" y="2285755"/>
            <a:ext cx="9829169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6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4. Label Selector</a:t>
            </a:r>
          </a:p>
          <a:p>
            <a:pPr marL="342900" lvl="0" indent="-342900">
              <a:buClr>
                <a:schemeClr val="accent6"/>
              </a:buCl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 Service uses a </a:t>
            </a:r>
            <a:r>
              <a:rPr lang="en-US" sz="24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label selector</a:t>
            </a:r>
            <a:r>
              <a:rPr lang="en-US" sz="24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to identify which Pods should receive traffic.</a:t>
            </a:r>
          </a:p>
          <a:p>
            <a:pPr marL="342900" lvl="0" indent="-342900">
              <a:buClr>
                <a:schemeClr val="accent6"/>
              </a:buCl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New Pods with matching labels are automatically included as Service endpoints when they become ready.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chemeClr val="accent6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Key Takeaway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 Service provides a stable way to access dynamic Pods.</a:t>
            </a:r>
            <a:endParaRPr lang="en-US" sz="2400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chemeClr val="accent6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Remember:</a:t>
            </a:r>
            <a:br>
              <a:rPr lang="en-US" sz="24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sz="24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Pods change → Service stays stable → Traffic continues</a:t>
            </a:r>
            <a:endParaRPr lang="en-US" sz="2400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en-US" sz="2400" b="1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981336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g3dae939ee2c_0_218"/>
          <p:cNvSpPr/>
          <p:nvPr/>
        </p:nvSpPr>
        <p:spPr>
          <a:xfrm>
            <a:off x="252014" y="153766"/>
            <a:ext cx="17783973" cy="9979469"/>
          </a:xfrm>
          <a:custGeom>
            <a:avLst/>
            <a:gdLst/>
            <a:ahLst/>
            <a:cxnLst/>
            <a:rect l="l" t="t" r="r" b="b"/>
            <a:pathLst>
              <a:path w="17783973" h="9979469" extrusionOk="0">
                <a:moveTo>
                  <a:pt x="0" y="0"/>
                </a:moveTo>
                <a:lnTo>
                  <a:pt x="17783972" y="0"/>
                </a:lnTo>
                <a:lnTo>
                  <a:pt x="17783972" y="9979468"/>
                </a:lnTo>
                <a:lnTo>
                  <a:pt x="0" y="997946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4000"/>
            </a:blip>
            <a:stretch>
              <a:fillRect l="-2130" t="-130" b="-6510"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grpSp>
        <p:nvGrpSpPr>
          <p:cNvPr id="571" name="Google Shape;571;g3dae939ee2c_0_218"/>
          <p:cNvGrpSpPr/>
          <p:nvPr/>
        </p:nvGrpSpPr>
        <p:grpSpPr>
          <a:xfrm>
            <a:off x="530603" y="553241"/>
            <a:ext cx="4536332" cy="836104"/>
            <a:chOff x="0" y="0"/>
            <a:chExt cx="6048443" cy="1114806"/>
          </a:xfrm>
        </p:grpSpPr>
        <p:sp>
          <p:nvSpPr>
            <p:cNvPr id="572" name="Google Shape;572;g3dae939ee2c_0_218" descr="Insights on ACTD Accreditation from a Leading Body"/>
            <p:cNvSpPr/>
            <p:nvPr/>
          </p:nvSpPr>
          <p:spPr>
            <a:xfrm>
              <a:off x="2976677" y="44434"/>
              <a:ext cx="1070372" cy="1070372"/>
            </a:xfrm>
            <a:custGeom>
              <a:avLst/>
              <a:gdLst/>
              <a:ahLst/>
              <a:cxnLst/>
              <a:rect l="l" t="t" r="r" b="b"/>
              <a:pathLst>
                <a:path w="2952750" h="2952750" extrusionOk="0">
                  <a:moveTo>
                    <a:pt x="0" y="0"/>
                  </a:moveTo>
                  <a:lnTo>
                    <a:pt x="2952750" y="0"/>
                  </a:lnTo>
                  <a:lnTo>
                    <a:pt x="2952750" y="2952750"/>
                  </a:lnTo>
                  <a:lnTo>
                    <a:pt x="0" y="295275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73" name="Google Shape;573;g3dae939ee2c_0_218"/>
            <p:cNvSpPr txBox="1"/>
            <p:nvPr/>
          </p:nvSpPr>
          <p:spPr>
            <a:xfrm>
              <a:off x="4168343" y="157841"/>
              <a:ext cx="1880100" cy="532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1992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63"/>
                <a:buFont typeface="Arial"/>
                <a:buNone/>
              </a:pPr>
              <a:r>
                <a:rPr lang="en-US" sz="763" b="0" i="0" u="none" strike="noStrike" cap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ACCREDITED BY THE AMERICAN COUNCIL OF TRAINING AND DEVELOPMENT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4" name="Google Shape;574;g3dae939ee2c_0_218"/>
            <p:cNvSpPr/>
            <p:nvPr/>
          </p:nvSpPr>
          <p:spPr>
            <a:xfrm>
              <a:off x="0" y="44434"/>
              <a:ext cx="2756281" cy="810768"/>
            </a:xfrm>
            <a:custGeom>
              <a:avLst/>
              <a:gdLst/>
              <a:ahLst/>
              <a:cxnLst/>
              <a:rect l="l" t="t" r="r" b="b"/>
              <a:pathLst>
                <a:path w="2756281" h="810768" extrusionOk="0">
                  <a:moveTo>
                    <a:pt x="0" y="0"/>
                  </a:moveTo>
                  <a:lnTo>
                    <a:pt x="2756281" y="0"/>
                  </a:lnTo>
                  <a:lnTo>
                    <a:pt x="2756281" y="810768"/>
                  </a:lnTo>
                  <a:lnTo>
                    <a:pt x="0" y="81076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 t="-30" b="-40"/>
              </a:stretch>
            </a:blip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cxnSp>
          <p:nvCxnSpPr>
            <p:cNvPr id="575" name="Google Shape;575;g3dae939ee2c_0_218"/>
            <p:cNvCxnSpPr/>
            <p:nvPr/>
          </p:nvCxnSpPr>
          <p:spPr>
            <a:xfrm>
              <a:off x="2900823" y="0"/>
              <a:ext cx="0" cy="860100"/>
            </a:xfrm>
            <a:prstGeom prst="straightConnector1">
              <a:avLst/>
            </a:prstGeom>
            <a:noFill/>
            <a:ln w="254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576" name="Google Shape;576;g3dae939ee2c_0_218"/>
          <p:cNvSpPr/>
          <p:nvPr/>
        </p:nvSpPr>
        <p:spPr>
          <a:xfrm>
            <a:off x="7172247" y="392847"/>
            <a:ext cx="5321230" cy="95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8F8"/>
              </a:buClr>
              <a:buSzPts val="5832"/>
              <a:buFont typeface="Trebuchet MS"/>
              <a:buNone/>
            </a:pPr>
            <a:r>
              <a:rPr lang="en-US" sz="4800" dirty="0">
                <a:solidFill>
                  <a:srgbClr val="434343"/>
                </a:solidFill>
                <a:latin typeface="Cambria" panose="02040503050406030204" pitchFamily="18" charset="0"/>
                <a:ea typeface="Cambria" panose="02040503050406030204" pitchFamily="18" charset="0"/>
                <a:cs typeface="Poppins"/>
                <a:sym typeface="Poppins"/>
              </a:rPr>
              <a:t>Service Types</a:t>
            </a:r>
            <a:endParaRPr sz="4800" b="0" i="0" u="none" strike="noStrike" cap="none" dirty="0">
              <a:solidFill>
                <a:srgbClr val="434343"/>
              </a:solidFill>
              <a:latin typeface="Cambria" panose="02040503050406030204" pitchFamily="18" charset="0"/>
              <a:ea typeface="Cambria" panose="02040503050406030204" pitchFamily="18" charset="0"/>
              <a:cs typeface="Poppins"/>
              <a:sym typeface="Poppins"/>
            </a:endParaRPr>
          </a:p>
        </p:txBody>
      </p:sp>
      <p:sp>
        <p:nvSpPr>
          <p:cNvPr id="578" name="Google Shape;578;g3dae939ee2c_0_218"/>
          <p:cNvSpPr/>
          <p:nvPr/>
        </p:nvSpPr>
        <p:spPr>
          <a:xfrm>
            <a:off x="108250" y="1389345"/>
            <a:ext cx="9395700" cy="8788830"/>
          </a:xfrm>
          <a:prstGeom prst="roundRect">
            <a:avLst>
              <a:gd name="adj" fmla="val 8602"/>
            </a:avLst>
          </a:prstGeom>
          <a:solidFill>
            <a:srgbClr val="343434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0AD668C-60F2-3F17-EA7C-62811898CDAE}"/>
              </a:ext>
            </a:extLst>
          </p:cNvPr>
          <p:cNvSpPr txBox="1"/>
          <p:nvPr/>
        </p:nvSpPr>
        <p:spPr>
          <a:xfrm>
            <a:off x="209506" y="1822145"/>
            <a:ext cx="9193188" cy="7779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4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Kubernetes provides different ways to expose applications. </a:t>
            </a:r>
          </a:p>
          <a:p>
            <a:pPr algn="just">
              <a:lnSpc>
                <a:spcPct val="150000"/>
              </a:lnSpc>
            </a:pPr>
            <a:r>
              <a:rPr lang="en-US" sz="24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Each option serves a different </a:t>
            </a:r>
            <a:r>
              <a:rPr lang="en-US" sz="24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network traffic pattern</a:t>
            </a:r>
            <a:r>
              <a:rPr lang="en-US" sz="24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  <a:p>
            <a:pPr algn="just">
              <a:lnSpc>
                <a:spcPct val="150000"/>
              </a:lnSpc>
            </a:pPr>
            <a:r>
              <a:rPr lang="en-US" sz="24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Choosing the appropriate exposure method helps achieve the required </a:t>
            </a:r>
            <a:r>
              <a:rPr lang="en-US" sz="24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accessibility, security, and scalability</a:t>
            </a:r>
            <a:r>
              <a:rPr lang="en-US" sz="24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400" b="1" dirty="0">
                <a:solidFill>
                  <a:schemeClr val="accent6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Main Service Types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chemeClr val="accent6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1. </a:t>
            </a:r>
            <a:r>
              <a:rPr lang="en-US" sz="2400" b="1" dirty="0" err="1">
                <a:solidFill>
                  <a:schemeClr val="accent6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ClusterIP</a:t>
            </a:r>
            <a:r>
              <a:rPr lang="en-US" sz="2400" b="1" dirty="0">
                <a:solidFill>
                  <a:schemeClr val="accent6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— Internal Access</a:t>
            </a:r>
          </a:p>
          <a:p>
            <a:pPr marL="342900" indent="-342900">
              <a:lnSpc>
                <a:spcPct val="150000"/>
              </a:lnSpc>
              <a:buClr>
                <a:schemeClr val="accent6"/>
              </a:buClr>
              <a:buFont typeface="Arial" panose="020B0604020202020204" pitchFamily="34" charset="0"/>
              <a:buChar char="•"/>
            </a:pPr>
            <a:r>
              <a:rPr lang="en-US" sz="2400" b="1" dirty="0" err="1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ClusterIP</a:t>
            </a:r>
            <a:r>
              <a:rPr lang="en-US" sz="24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is the default Service type.</a:t>
            </a:r>
            <a:endParaRPr lang="en-US" sz="2400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342900">
              <a:lnSpc>
                <a:spcPct val="150000"/>
              </a:lnSpc>
              <a:buClr>
                <a:schemeClr val="accent6"/>
              </a:buCl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Accessible </a:t>
            </a:r>
            <a:r>
              <a:rPr lang="en-US" sz="24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only within the Kubernetes cluster</a:t>
            </a:r>
            <a:r>
              <a:rPr lang="en-US" sz="24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  <a:p>
            <a:pPr marL="342900" lvl="0" indent="-342900">
              <a:lnSpc>
                <a:spcPct val="150000"/>
              </a:lnSpc>
              <a:buClr>
                <a:schemeClr val="accent6"/>
              </a:buCl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Used when applications need to communicate internally.</a:t>
            </a:r>
          </a:p>
          <a:p>
            <a:pPr lvl="0">
              <a:lnSpc>
                <a:spcPct val="150000"/>
              </a:lnSpc>
            </a:pPr>
            <a:r>
              <a:rPr lang="en-US" sz="2400" dirty="0">
                <a:solidFill>
                  <a:schemeClr val="accent6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Common examples:</a:t>
            </a:r>
          </a:p>
          <a:p>
            <a:pPr marL="457200" lvl="1" indent="-457200">
              <a:lnSpc>
                <a:spcPct val="150000"/>
              </a:lnSpc>
              <a:buClr>
                <a:schemeClr val="accent6"/>
              </a:buClr>
              <a:buFont typeface="+mj-lt"/>
              <a:buAutoNum type="arabicPeriod"/>
            </a:pPr>
            <a:r>
              <a:rPr lang="en-US" sz="24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Databases</a:t>
            </a:r>
          </a:p>
          <a:p>
            <a:pPr marL="457200" lvl="1" indent="-457200">
              <a:lnSpc>
                <a:spcPct val="150000"/>
              </a:lnSpc>
              <a:buClr>
                <a:schemeClr val="accent6"/>
              </a:buClr>
              <a:buFont typeface="+mj-lt"/>
              <a:buAutoNum type="arabicPeriod"/>
            </a:pPr>
            <a:r>
              <a:rPr lang="en-US" sz="24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Redis/cache services</a:t>
            </a:r>
          </a:p>
          <a:p>
            <a:pPr marL="457200" lvl="1" indent="-457200">
              <a:lnSpc>
                <a:spcPct val="150000"/>
              </a:lnSpc>
              <a:buClr>
                <a:schemeClr val="accent6"/>
              </a:buClr>
              <a:buFont typeface="+mj-lt"/>
              <a:buAutoNum type="arabicPeriod"/>
            </a:pPr>
            <a:r>
              <a:rPr lang="en-US" sz="24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Internal APIs</a:t>
            </a:r>
          </a:p>
          <a:p>
            <a:pPr marL="457200" lvl="1" indent="-457200">
              <a:lnSpc>
                <a:spcPct val="150000"/>
              </a:lnSpc>
              <a:buClr>
                <a:schemeClr val="accent6"/>
              </a:buClr>
              <a:buFont typeface="+mj-lt"/>
              <a:buAutoNum type="arabicPeriod"/>
            </a:pPr>
            <a:r>
              <a:rPr lang="en-US" sz="24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Backend services</a:t>
            </a:r>
          </a:p>
        </p:txBody>
      </p:sp>
      <p:sp>
        <p:nvSpPr>
          <p:cNvPr id="4" name="Google Shape;578;g3dae939ee2c_0_218">
            <a:extLst>
              <a:ext uri="{FF2B5EF4-FFF2-40B4-BE49-F238E27FC236}">
                <a16:creationId xmlns:a16="http://schemas.microsoft.com/office/drawing/2014/main" id="{C492617E-E2B1-6CEE-A947-AB06E8D649B7}"/>
              </a:ext>
            </a:extLst>
          </p:cNvPr>
          <p:cNvSpPr/>
          <p:nvPr/>
        </p:nvSpPr>
        <p:spPr>
          <a:xfrm>
            <a:off x="9567991" y="1389345"/>
            <a:ext cx="8524886" cy="8788830"/>
          </a:xfrm>
          <a:prstGeom prst="roundRect">
            <a:avLst>
              <a:gd name="adj" fmla="val 8602"/>
            </a:avLst>
          </a:prstGeom>
          <a:solidFill>
            <a:srgbClr val="343434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874147B-7959-B64E-863C-F6B6F0BA1900}"/>
              </a:ext>
            </a:extLst>
          </p:cNvPr>
          <p:cNvSpPr txBox="1"/>
          <p:nvPr/>
        </p:nvSpPr>
        <p:spPr>
          <a:xfrm>
            <a:off x="9744963" y="1588628"/>
            <a:ext cx="8434787" cy="89562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6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2. </a:t>
            </a:r>
            <a:r>
              <a:rPr lang="en-US" sz="2400" b="1" dirty="0" err="1">
                <a:solidFill>
                  <a:schemeClr val="accent6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NodePort</a:t>
            </a:r>
            <a:r>
              <a:rPr lang="en-US" sz="2400" b="1" dirty="0">
                <a:solidFill>
                  <a:schemeClr val="accent6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— Basic External Access</a:t>
            </a:r>
          </a:p>
          <a:p>
            <a:pPr>
              <a:lnSpc>
                <a:spcPct val="150000"/>
              </a:lnSpc>
            </a:pPr>
            <a:r>
              <a:rPr lang="en-US" sz="2400" b="1" dirty="0" err="1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NodePort</a:t>
            </a:r>
            <a:r>
              <a:rPr lang="en-US" sz="24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exposes a Service through a port on each Kubernetes node.</a:t>
            </a:r>
            <a:endParaRPr lang="en-US" sz="2400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342900">
              <a:lnSpc>
                <a:spcPct val="150000"/>
              </a:lnSpc>
              <a:buClr>
                <a:schemeClr val="accent6"/>
              </a:buCl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External clients access the application using:</a:t>
            </a:r>
          </a:p>
          <a:p>
            <a:pPr>
              <a:lnSpc>
                <a:spcPct val="150000"/>
              </a:lnSpc>
            </a:pPr>
            <a:r>
              <a:rPr lang="en-US" sz="2400" dirty="0" err="1">
                <a:solidFill>
                  <a:schemeClr val="accent6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NodeIP:NodePort</a:t>
            </a:r>
            <a:endParaRPr lang="en-US" sz="2400" dirty="0">
              <a:solidFill>
                <a:schemeClr val="accent6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342900">
              <a:lnSpc>
                <a:spcPct val="150000"/>
              </a:lnSpc>
              <a:buClr>
                <a:schemeClr val="accent6"/>
              </a:buCl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Useful for </a:t>
            </a:r>
            <a:r>
              <a:rPr lang="en-US" sz="24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development, testing, and simple environments</a:t>
            </a:r>
            <a:r>
              <a:rPr lang="en-US" sz="24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  <a:p>
            <a:pPr marL="342900" lvl="0" indent="-342900">
              <a:lnSpc>
                <a:spcPct val="150000"/>
              </a:lnSpc>
              <a:buClr>
                <a:schemeClr val="accent6"/>
              </a:buCl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Typically exposes a port from the </a:t>
            </a:r>
            <a:r>
              <a:rPr lang="en-US" sz="2400" dirty="0" err="1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NodePort</a:t>
            </a:r>
            <a:r>
              <a:rPr lang="en-US" sz="24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range </a:t>
            </a:r>
            <a:r>
              <a:rPr lang="en-US" sz="24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30000–32767</a:t>
            </a:r>
            <a:r>
              <a:rPr lang="en-US" sz="24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by default.</a:t>
            </a:r>
          </a:p>
          <a:p>
            <a:r>
              <a:rPr lang="en-US" sz="24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Internet</a:t>
            </a:r>
          </a:p>
          <a:p>
            <a:r>
              <a:rPr lang="en-US" sz="24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   │</a:t>
            </a:r>
          </a:p>
          <a:p>
            <a:r>
              <a:rPr lang="en-US" sz="24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   ▼</a:t>
            </a:r>
          </a:p>
          <a:p>
            <a:r>
              <a:rPr lang="en-US" sz="24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NodeIP:30080</a:t>
            </a:r>
          </a:p>
          <a:p>
            <a:r>
              <a:rPr lang="en-US" sz="24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   │</a:t>
            </a:r>
          </a:p>
          <a:p>
            <a:r>
              <a:rPr lang="en-US" sz="24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   ▼</a:t>
            </a:r>
          </a:p>
          <a:p>
            <a:r>
              <a:rPr lang="en-US" sz="24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Service</a:t>
            </a:r>
          </a:p>
          <a:p>
            <a:r>
              <a:rPr lang="en-US" sz="24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   │</a:t>
            </a:r>
          </a:p>
          <a:p>
            <a:r>
              <a:rPr lang="en-US" sz="24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   ▼</a:t>
            </a:r>
          </a:p>
          <a:p>
            <a:r>
              <a:rPr lang="en-US" sz="24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Application Pods</a:t>
            </a:r>
          </a:p>
          <a:p>
            <a:endParaRPr lang="en-US" sz="2400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FEA4F91-919B-38DC-B2C2-6AD1052B187F}"/>
              </a:ext>
            </a:extLst>
          </p:cNvPr>
          <p:cNvSpPr txBox="1"/>
          <p:nvPr/>
        </p:nvSpPr>
        <p:spPr>
          <a:xfrm>
            <a:off x="12669770" y="8181578"/>
            <a:ext cx="4929888" cy="1420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Use when:</a:t>
            </a:r>
            <a:r>
              <a:rPr lang="en-US" sz="20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You need simple external access without a dedicated external load balancer.</a:t>
            </a:r>
          </a:p>
          <a:p>
            <a:pPr>
              <a:lnSpc>
                <a:spcPct val="150000"/>
              </a:lnSpc>
            </a:pPr>
            <a:endParaRPr lang="en-US" sz="2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9">
          <a:extLst>
            <a:ext uri="{FF2B5EF4-FFF2-40B4-BE49-F238E27FC236}">
              <a16:creationId xmlns:a16="http://schemas.microsoft.com/office/drawing/2014/main" id="{696A1431-F636-EE9E-729C-9D5C0DF894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g3dae939ee2c_0_218">
            <a:extLst>
              <a:ext uri="{FF2B5EF4-FFF2-40B4-BE49-F238E27FC236}">
                <a16:creationId xmlns:a16="http://schemas.microsoft.com/office/drawing/2014/main" id="{9884EFF2-97E1-721C-916B-6D8B89EAB244}"/>
              </a:ext>
            </a:extLst>
          </p:cNvPr>
          <p:cNvSpPr/>
          <p:nvPr/>
        </p:nvSpPr>
        <p:spPr>
          <a:xfrm>
            <a:off x="252014" y="153766"/>
            <a:ext cx="17783973" cy="9979469"/>
          </a:xfrm>
          <a:custGeom>
            <a:avLst/>
            <a:gdLst/>
            <a:ahLst/>
            <a:cxnLst/>
            <a:rect l="l" t="t" r="r" b="b"/>
            <a:pathLst>
              <a:path w="17783973" h="9979469" extrusionOk="0">
                <a:moveTo>
                  <a:pt x="0" y="0"/>
                </a:moveTo>
                <a:lnTo>
                  <a:pt x="17783972" y="0"/>
                </a:lnTo>
                <a:lnTo>
                  <a:pt x="17783972" y="9979468"/>
                </a:lnTo>
                <a:lnTo>
                  <a:pt x="0" y="997946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4000"/>
            </a:blip>
            <a:stretch>
              <a:fillRect l="-2130" t="-130" b="-6510"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grpSp>
        <p:nvGrpSpPr>
          <p:cNvPr id="571" name="Google Shape;571;g3dae939ee2c_0_218">
            <a:extLst>
              <a:ext uri="{FF2B5EF4-FFF2-40B4-BE49-F238E27FC236}">
                <a16:creationId xmlns:a16="http://schemas.microsoft.com/office/drawing/2014/main" id="{2678FBE1-E818-2133-03A5-8A63CD66BF1B}"/>
              </a:ext>
            </a:extLst>
          </p:cNvPr>
          <p:cNvGrpSpPr/>
          <p:nvPr/>
        </p:nvGrpSpPr>
        <p:grpSpPr>
          <a:xfrm>
            <a:off x="530603" y="553241"/>
            <a:ext cx="4536332" cy="836104"/>
            <a:chOff x="0" y="0"/>
            <a:chExt cx="6048443" cy="1114806"/>
          </a:xfrm>
        </p:grpSpPr>
        <p:sp>
          <p:nvSpPr>
            <p:cNvPr id="572" name="Google Shape;572;g3dae939ee2c_0_218" descr="Insights on ACTD Accreditation from a Leading Body">
              <a:extLst>
                <a:ext uri="{FF2B5EF4-FFF2-40B4-BE49-F238E27FC236}">
                  <a16:creationId xmlns:a16="http://schemas.microsoft.com/office/drawing/2014/main" id="{DA91BD9A-10EE-23E6-ACFF-3D71FC30F037}"/>
                </a:ext>
              </a:extLst>
            </p:cNvPr>
            <p:cNvSpPr/>
            <p:nvPr/>
          </p:nvSpPr>
          <p:spPr>
            <a:xfrm>
              <a:off x="2976677" y="44434"/>
              <a:ext cx="1070372" cy="1070372"/>
            </a:xfrm>
            <a:custGeom>
              <a:avLst/>
              <a:gdLst/>
              <a:ahLst/>
              <a:cxnLst/>
              <a:rect l="l" t="t" r="r" b="b"/>
              <a:pathLst>
                <a:path w="2952750" h="2952750" extrusionOk="0">
                  <a:moveTo>
                    <a:pt x="0" y="0"/>
                  </a:moveTo>
                  <a:lnTo>
                    <a:pt x="2952750" y="0"/>
                  </a:lnTo>
                  <a:lnTo>
                    <a:pt x="2952750" y="2952750"/>
                  </a:lnTo>
                  <a:lnTo>
                    <a:pt x="0" y="295275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73" name="Google Shape;573;g3dae939ee2c_0_218">
              <a:extLst>
                <a:ext uri="{FF2B5EF4-FFF2-40B4-BE49-F238E27FC236}">
                  <a16:creationId xmlns:a16="http://schemas.microsoft.com/office/drawing/2014/main" id="{01C3E78A-FE79-6B2F-CE64-5B1ADE27125A}"/>
                </a:ext>
              </a:extLst>
            </p:cNvPr>
            <p:cNvSpPr txBox="1"/>
            <p:nvPr/>
          </p:nvSpPr>
          <p:spPr>
            <a:xfrm>
              <a:off x="4168343" y="157841"/>
              <a:ext cx="1880100" cy="532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1992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63"/>
                <a:buFont typeface="Arial"/>
                <a:buNone/>
              </a:pPr>
              <a:r>
                <a:rPr lang="en-US" sz="763" b="0" i="0" u="none" strike="noStrike" cap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ACCREDITED BY THE AMERICAN COUNCIL OF TRAINING AND DEVELOPMENT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4" name="Google Shape;574;g3dae939ee2c_0_218">
              <a:extLst>
                <a:ext uri="{FF2B5EF4-FFF2-40B4-BE49-F238E27FC236}">
                  <a16:creationId xmlns:a16="http://schemas.microsoft.com/office/drawing/2014/main" id="{69151D94-443E-0623-4F7C-AD9A3BF858E5}"/>
                </a:ext>
              </a:extLst>
            </p:cNvPr>
            <p:cNvSpPr/>
            <p:nvPr/>
          </p:nvSpPr>
          <p:spPr>
            <a:xfrm>
              <a:off x="0" y="44434"/>
              <a:ext cx="2756281" cy="810768"/>
            </a:xfrm>
            <a:custGeom>
              <a:avLst/>
              <a:gdLst/>
              <a:ahLst/>
              <a:cxnLst/>
              <a:rect l="l" t="t" r="r" b="b"/>
              <a:pathLst>
                <a:path w="2756281" h="810768" extrusionOk="0">
                  <a:moveTo>
                    <a:pt x="0" y="0"/>
                  </a:moveTo>
                  <a:lnTo>
                    <a:pt x="2756281" y="0"/>
                  </a:lnTo>
                  <a:lnTo>
                    <a:pt x="2756281" y="810768"/>
                  </a:lnTo>
                  <a:lnTo>
                    <a:pt x="0" y="81076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 t="-30" b="-40"/>
              </a:stretch>
            </a:blip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cxnSp>
          <p:nvCxnSpPr>
            <p:cNvPr id="575" name="Google Shape;575;g3dae939ee2c_0_218">
              <a:extLst>
                <a:ext uri="{FF2B5EF4-FFF2-40B4-BE49-F238E27FC236}">
                  <a16:creationId xmlns:a16="http://schemas.microsoft.com/office/drawing/2014/main" id="{837E2811-8CEE-E0AA-A57A-B006ADA30898}"/>
                </a:ext>
              </a:extLst>
            </p:cNvPr>
            <p:cNvCxnSpPr/>
            <p:nvPr/>
          </p:nvCxnSpPr>
          <p:spPr>
            <a:xfrm>
              <a:off x="2900823" y="0"/>
              <a:ext cx="0" cy="860100"/>
            </a:xfrm>
            <a:prstGeom prst="straightConnector1">
              <a:avLst/>
            </a:prstGeom>
            <a:noFill/>
            <a:ln w="254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576" name="Google Shape;576;g3dae939ee2c_0_218">
            <a:extLst>
              <a:ext uri="{FF2B5EF4-FFF2-40B4-BE49-F238E27FC236}">
                <a16:creationId xmlns:a16="http://schemas.microsoft.com/office/drawing/2014/main" id="{3F99523A-2F1D-B35A-6815-1FDF5B4B20A2}"/>
              </a:ext>
            </a:extLst>
          </p:cNvPr>
          <p:cNvSpPr/>
          <p:nvPr/>
        </p:nvSpPr>
        <p:spPr>
          <a:xfrm>
            <a:off x="7172247" y="392847"/>
            <a:ext cx="5321230" cy="95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8F8"/>
              </a:buClr>
              <a:buSzPts val="5832"/>
              <a:buFont typeface="Trebuchet MS"/>
              <a:buNone/>
            </a:pPr>
            <a:r>
              <a:rPr lang="en-US" sz="4800" dirty="0">
                <a:solidFill>
                  <a:srgbClr val="434343"/>
                </a:solidFill>
                <a:latin typeface="Cambria" panose="02040503050406030204" pitchFamily="18" charset="0"/>
                <a:ea typeface="Cambria" panose="02040503050406030204" pitchFamily="18" charset="0"/>
                <a:cs typeface="Poppins"/>
                <a:sym typeface="Poppins"/>
              </a:rPr>
              <a:t>Service Types</a:t>
            </a:r>
            <a:endParaRPr sz="4800" b="0" i="0" u="none" strike="noStrike" cap="none" dirty="0">
              <a:solidFill>
                <a:srgbClr val="434343"/>
              </a:solidFill>
              <a:latin typeface="Cambria" panose="02040503050406030204" pitchFamily="18" charset="0"/>
              <a:ea typeface="Cambria" panose="02040503050406030204" pitchFamily="18" charset="0"/>
              <a:cs typeface="Poppins"/>
              <a:sym typeface="Poppins"/>
            </a:endParaRPr>
          </a:p>
        </p:txBody>
      </p:sp>
      <p:sp>
        <p:nvSpPr>
          <p:cNvPr id="578" name="Google Shape;578;g3dae939ee2c_0_218">
            <a:extLst>
              <a:ext uri="{FF2B5EF4-FFF2-40B4-BE49-F238E27FC236}">
                <a16:creationId xmlns:a16="http://schemas.microsoft.com/office/drawing/2014/main" id="{8A8FFB22-794F-7569-78BC-717E7B03CAC2}"/>
              </a:ext>
            </a:extLst>
          </p:cNvPr>
          <p:cNvSpPr/>
          <p:nvPr/>
        </p:nvSpPr>
        <p:spPr>
          <a:xfrm>
            <a:off x="108250" y="1389345"/>
            <a:ext cx="9395700" cy="8788830"/>
          </a:xfrm>
          <a:prstGeom prst="roundRect">
            <a:avLst>
              <a:gd name="adj" fmla="val 8602"/>
            </a:avLst>
          </a:prstGeom>
          <a:solidFill>
            <a:srgbClr val="343434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1" name="Google Shape;581;g3dae939ee2c_0_218">
            <a:extLst>
              <a:ext uri="{FF2B5EF4-FFF2-40B4-BE49-F238E27FC236}">
                <a16:creationId xmlns:a16="http://schemas.microsoft.com/office/drawing/2014/main" id="{B359349E-577B-BE86-9F31-D78CE9076747}"/>
              </a:ext>
            </a:extLst>
          </p:cNvPr>
          <p:cNvSpPr/>
          <p:nvPr/>
        </p:nvSpPr>
        <p:spPr>
          <a:xfrm rot="5400000">
            <a:off x="11049273" y="-52738"/>
            <a:ext cx="5441392" cy="8089669"/>
          </a:xfrm>
          <a:prstGeom prst="rect">
            <a:avLst/>
          </a:prstGeom>
          <a:solidFill>
            <a:srgbClr val="3A3A3A"/>
          </a:solidFill>
          <a:ln w="26450" cap="flat" cmpd="sng">
            <a:solidFill>
              <a:srgbClr val="3A3A3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90425" tIns="190425" rIns="190425" bIns="190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2" name="Google Shape;582;g3dae939ee2c_0_218">
            <a:extLst>
              <a:ext uri="{FF2B5EF4-FFF2-40B4-BE49-F238E27FC236}">
                <a16:creationId xmlns:a16="http://schemas.microsoft.com/office/drawing/2014/main" id="{C2ED430B-C091-B85B-FE63-9DFD68063A92}"/>
              </a:ext>
            </a:extLst>
          </p:cNvPr>
          <p:cNvSpPr/>
          <p:nvPr/>
        </p:nvSpPr>
        <p:spPr>
          <a:xfrm>
            <a:off x="9686857" y="6763590"/>
            <a:ext cx="8199300" cy="3563116"/>
          </a:xfrm>
          <a:prstGeom prst="roundRect">
            <a:avLst>
              <a:gd name="adj" fmla="val 8602"/>
            </a:avLst>
          </a:prstGeom>
          <a:solidFill>
            <a:srgbClr val="0D0D0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9775" tIns="79775" rIns="79775" bIns="797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22"/>
              <a:buFont typeface="Arial"/>
              <a:buNone/>
            </a:pPr>
            <a:endParaRPr sz="1222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4" name="Google Shape;584;g3dae939ee2c_0_218">
            <a:extLst>
              <a:ext uri="{FF2B5EF4-FFF2-40B4-BE49-F238E27FC236}">
                <a16:creationId xmlns:a16="http://schemas.microsoft.com/office/drawing/2014/main" id="{D4B4A42B-0A8C-5B54-940E-D5E248797405}"/>
              </a:ext>
            </a:extLst>
          </p:cNvPr>
          <p:cNvSpPr/>
          <p:nvPr/>
        </p:nvSpPr>
        <p:spPr>
          <a:xfrm>
            <a:off x="9725134" y="6712791"/>
            <a:ext cx="7966500" cy="36139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EF4FF"/>
              </a:buClr>
              <a:buSzPts val="2143"/>
              <a:buFont typeface="Consolas"/>
              <a:buNone/>
            </a:pPr>
            <a:r>
              <a:rPr lang="en-US" sz="2000" dirty="0">
                <a:solidFill>
                  <a:srgbClr val="EEF4FF"/>
                </a:solidFill>
                <a:latin typeface="Cambria" panose="02040503050406030204" pitchFamily="18" charset="0"/>
                <a:ea typeface="Cambria" panose="02040503050406030204" pitchFamily="18" charset="0"/>
                <a:cs typeface="Consolas"/>
                <a:sym typeface="Consolas"/>
              </a:rPr>
              <a:t># </a:t>
            </a:r>
            <a:r>
              <a:rPr lang="en-US" sz="2000" dirty="0" err="1">
                <a:solidFill>
                  <a:srgbClr val="EEF4FF"/>
                </a:solidFill>
                <a:latin typeface="Cambria" panose="02040503050406030204" pitchFamily="18" charset="0"/>
                <a:ea typeface="Cambria" panose="02040503050406030204" pitchFamily="18" charset="0"/>
                <a:cs typeface="Consolas"/>
                <a:sym typeface="Consolas"/>
              </a:rPr>
              <a:t>service.yaml</a:t>
            </a:r>
            <a:endParaRPr sz="2000" dirty="0">
              <a:solidFill>
                <a:srgbClr val="EEF4FF"/>
              </a:solidFill>
              <a:latin typeface="Cambria" panose="02040503050406030204" pitchFamily="18" charset="0"/>
              <a:ea typeface="Cambria" panose="02040503050406030204" pitchFamily="18" charset="0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EF4FF"/>
              </a:buClr>
              <a:buSzPts val="2143"/>
              <a:buFont typeface="Consolas"/>
              <a:buNone/>
            </a:pPr>
            <a:r>
              <a:rPr lang="en-US" sz="2000" dirty="0">
                <a:solidFill>
                  <a:srgbClr val="EEF4FF"/>
                </a:solidFill>
                <a:latin typeface="Cambria" panose="02040503050406030204" pitchFamily="18" charset="0"/>
                <a:ea typeface="Cambria" panose="02040503050406030204" pitchFamily="18" charset="0"/>
                <a:cs typeface="Consolas"/>
                <a:sym typeface="Consolas"/>
              </a:rPr>
              <a:t>spec:</a:t>
            </a:r>
            <a:endParaRPr sz="2000" dirty="0">
              <a:solidFill>
                <a:srgbClr val="EEF4FF"/>
              </a:solidFill>
              <a:latin typeface="Cambria" panose="02040503050406030204" pitchFamily="18" charset="0"/>
              <a:ea typeface="Cambria" panose="02040503050406030204" pitchFamily="18" charset="0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EF4FF"/>
              </a:buClr>
              <a:buSzPts val="2143"/>
              <a:buFont typeface="Consolas"/>
              <a:buNone/>
            </a:pPr>
            <a:r>
              <a:rPr lang="en-US" sz="2000" dirty="0">
                <a:solidFill>
                  <a:srgbClr val="EEF4FF"/>
                </a:solidFill>
                <a:latin typeface="Cambria" panose="02040503050406030204" pitchFamily="18" charset="0"/>
                <a:ea typeface="Cambria" panose="02040503050406030204" pitchFamily="18" charset="0"/>
                <a:cs typeface="Consolas"/>
                <a:sym typeface="Consolas"/>
              </a:rPr>
              <a:t>  type: </a:t>
            </a:r>
            <a:r>
              <a:rPr lang="en-US" sz="2000" dirty="0" err="1">
                <a:solidFill>
                  <a:srgbClr val="EEF4FF"/>
                </a:solidFill>
                <a:latin typeface="Cambria" panose="02040503050406030204" pitchFamily="18" charset="0"/>
                <a:ea typeface="Cambria" panose="02040503050406030204" pitchFamily="18" charset="0"/>
                <a:cs typeface="Consolas"/>
                <a:sym typeface="Consolas"/>
              </a:rPr>
              <a:t>LoadBalancer</a:t>
            </a:r>
            <a:r>
              <a:rPr lang="en-US" sz="2000" dirty="0">
                <a:solidFill>
                  <a:srgbClr val="EEF4FF"/>
                </a:solidFill>
                <a:latin typeface="Cambria" panose="02040503050406030204" pitchFamily="18" charset="0"/>
                <a:ea typeface="Cambria" panose="02040503050406030204" pitchFamily="18" charset="0"/>
                <a:cs typeface="Consolas"/>
                <a:sym typeface="Consolas"/>
              </a:rPr>
              <a:t>     # </a:t>
            </a:r>
            <a:r>
              <a:rPr lang="en-US" sz="2000" dirty="0" err="1">
                <a:solidFill>
                  <a:srgbClr val="EEF4FF"/>
                </a:solidFill>
                <a:latin typeface="Cambria" panose="02040503050406030204" pitchFamily="18" charset="0"/>
                <a:ea typeface="Cambria" panose="02040503050406030204" pitchFamily="18" charset="0"/>
                <a:cs typeface="Consolas"/>
                <a:sym typeface="Consolas"/>
              </a:rPr>
              <a:t>ClusterIP</a:t>
            </a:r>
            <a:r>
              <a:rPr lang="en-US" sz="2000" dirty="0">
                <a:solidFill>
                  <a:srgbClr val="EEF4FF"/>
                </a:solidFill>
                <a:latin typeface="Cambria" panose="02040503050406030204" pitchFamily="18" charset="0"/>
                <a:ea typeface="Cambria" panose="02040503050406030204" pitchFamily="18" charset="0"/>
                <a:cs typeface="Consolas"/>
                <a:sym typeface="Consolas"/>
              </a:rPr>
              <a:t> | </a:t>
            </a:r>
            <a:r>
              <a:rPr lang="en-US" sz="2000" dirty="0" err="1">
                <a:solidFill>
                  <a:srgbClr val="EEF4FF"/>
                </a:solidFill>
                <a:latin typeface="Cambria" panose="02040503050406030204" pitchFamily="18" charset="0"/>
                <a:ea typeface="Cambria" panose="02040503050406030204" pitchFamily="18" charset="0"/>
                <a:cs typeface="Consolas"/>
                <a:sym typeface="Consolas"/>
              </a:rPr>
              <a:t>NodePort</a:t>
            </a:r>
            <a:r>
              <a:rPr lang="en-US" sz="2000" dirty="0">
                <a:solidFill>
                  <a:srgbClr val="EEF4FF"/>
                </a:solidFill>
                <a:latin typeface="Cambria" panose="02040503050406030204" pitchFamily="18" charset="0"/>
                <a:ea typeface="Cambria" panose="02040503050406030204" pitchFamily="18" charset="0"/>
                <a:cs typeface="Consolas"/>
                <a:sym typeface="Consolas"/>
              </a:rPr>
              <a:t> | </a:t>
            </a:r>
            <a:r>
              <a:rPr lang="en-US" sz="2000" dirty="0" err="1">
                <a:solidFill>
                  <a:srgbClr val="EEF4FF"/>
                </a:solidFill>
                <a:latin typeface="Cambria" panose="02040503050406030204" pitchFamily="18" charset="0"/>
                <a:ea typeface="Cambria" panose="02040503050406030204" pitchFamily="18" charset="0"/>
                <a:cs typeface="Consolas"/>
                <a:sym typeface="Consolas"/>
              </a:rPr>
              <a:t>LoadBalancer</a:t>
            </a:r>
            <a:endParaRPr sz="2000" dirty="0">
              <a:solidFill>
                <a:srgbClr val="EEF4FF"/>
              </a:solidFill>
              <a:latin typeface="Cambria" panose="02040503050406030204" pitchFamily="18" charset="0"/>
              <a:ea typeface="Cambria" panose="02040503050406030204" pitchFamily="18" charset="0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EF4FF"/>
              </a:buClr>
              <a:buSzPts val="2143"/>
              <a:buFont typeface="Consolas"/>
              <a:buNone/>
            </a:pPr>
            <a:r>
              <a:rPr lang="en-US" sz="2000" dirty="0">
                <a:solidFill>
                  <a:srgbClr val="EEF4FF"/>
                </a:solidFill>
                <a:latin typeface="Cambria" panose="02040503050406030204" pitchFamily="18" charset="0"/>
                <a:ea typeface="Cambria" panose="02040503050406030204" pitchFamily="18" charset="0"/>
                <a:cs typeface="Consolas"/>
                <a:sym typeface="Consolas"/>
              </a:rPr>
              <a:t>  selector:</a:t>
            </a:r>
            <a:endParaRPr sz="2000" dirty="0">
              <a:solidFill>
                <a:srgbClr val="EEF4FF"/>
              </a:solidFill>
              <a:latin typeface="Cambria" panose="02040503050406030204" pitchFamily="18" charset="0"/>
              <a:ea typeface="Cambria" panose="02040503050406030204" pitchFamily="18" charset="0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EF4FF"/>
              </a:buClr>
              <a:buSzPts val="2143"/>
              <a:buFont typeface="Consolas"/>
              <a:buNone/>
            </a:pPr>
            <a:r>
              <a:rPr lang="en-US" sz="2000" dirty="0">
                <a:solidFill>
                  <a:srgbClr val="EEF4FF"/>
                </a:solidFill>
                <a:latin typeface="Cambria" panose="02040503050406030204" pitchFamily="18" charset="0"/>
                <a:ea typeface="Cambria" panose="02040503050406030204" pitchFamily="18" charset="0"/>
                <a:cs typeface="Consolas"/>
                <a:sym typeface="Consolas"/>
              </a:rPr>
              <a:t>    app: webserver         # Routes to pods with this label</a:t>
            </a:r>
            <a:endParaRPr sz="2000" dirty="0">
              <a:solidFill>
                <a:srgbClr val="EEF4FF"/>
              </a:solidFill>
              <a:latin typeface="Cambria" panose="02040503050406030204" pitchFamily="18" charset="0"/>
              <a:ea typeface="Cambria" panose="02040503050406030204" pitchFamily="18" charset="0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EF4FF"/>
              </a:buClr>
              <a:buSzPts val="2143"/>
              <a:buFont typeface="Consolas"/>
              <a:buNone/>
            </a:pPr>
            <a:r>
              <a:rPr lang="en-US" sz="2000" dirty="0">
                <a:solidFill>
                  <a:srgbClr val="EEF4FF"/>
                </a:solidFill>
                <a:latin typeface="Cambria" panose="02040503050406030204" pitchFamily="18" charset="0"/>
                <a:ea typeface="Cambria" panose="02040503050406030204" pitchFamily="18" charset="0"/>
                <a:cs typeface="Consolas"/>
                <a:sym typeface="Consolas"/>
              </a:rPr>
              <a:t>  ports:</a:t>
            </a:r>
            <a:endParaRPr sz="2000" dirty="0">
              <a:solidFill>
                <a:srgbClr val="EEF4FF"/>
              </a:solidFill>
              <a:latin typeface="Cambria" panose="02040503050406030204" pitchFamily="18" charset="0"/>
              <a:ea typeface="Cambria" panose="02040503050406030204" pitchFamily="18" charset="0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EF4FF"/>
              </a:buClr>
              <a:buSzPts val="2143"/>
              <a:buFont typeface="Consolas"/>
              <a:buNone/>
            </a:pPr>
            <a:r>
              <a:rPr lang="en-US" sz="2000" dirty="0">
                <a:solidFill>
                  <a:srgbClr val="EEF4FF"/>
                </a:solidFill>
                <a:latin typeface="Cambria" panose="02040503050406030204" pitchFamily="18" charset="0"/>
                <a:ea typeface="Cambria" panose="02040503050406030204" pitchFamily="18" charset="0"/>
                <a:cs typeface="Consolas"/>
                <a:sym typeface="Consolas"/>
              </a:rPr>
              <a:t>  - port: 80              # Port the Service listens on</a:t>
            </a:r>
            <a:endParaRPr sz="2000" dirty="0">
              <a:solidFill>
                <a:srgbClr val="EEF4FF"/>
              </a:solidFill>
              <a:latin typeface="Cambria" panose="02040503050406030204" pitchFamily="18" charset="0"/>
              <a:ea typeface="Cambria" panose="02040503050406030204" pitchFamily="18" charset="0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EF4FF"/>
              </a:buClr>
              <a:buSzPts val="2143"/>
              <a:buFont typeface="Consolas"/>
              <a:buNone/>
            </a:pPr>
            <a:r>
              <a:rPr lang="en-US" sz="2000" dirty="0">
                <a:solidFill>
                  <a:srgbClr val="EEF4FF"/>
                </a:solidFill>
                <a:latin typeface="Cambria" panose="02040503050406030204" pitchFamily="18" charset="0"/>
                <a:ea typeface="Cambria" panose="02040503050406030204" pitchFamily="18" charset="0"/>
                <a:cs typeface="Consolas"/>
                <a:sym typeface="Consolas"/>
              </a:rPr>
              <a:t>    </a:t>
            </a:r>
            <a:r>
              <a:rPr lang="en-US" sz="2000" dirty="0" err="1">
                <a:solidFill>
                  <a:srgbClr val="EEF4FF"/>
                </a:solidFill>
                <a:latin typeface="Cambria" panose="02040503050406030204" pitchFamily="18" charset="0"/>
                <a:ea typeface="Cambria" panose="02040503050406030204" pitchFamily="18" charset="0"/>
                <a:cs typeface="Consolas"/>
                <a:sym typeface="Consolas"/>
              </a:rPr>
              <a:t>targetPort</a:t>
            </a:r>
            <a:r>
              <a:rPr lang="en-US" sz="2000" dirty="0">
                <a:solidFill>
                  <a:srgbClr val="EEF4FF"/>
                </a:solidFill>
                <a:latin typeface="Cambria" panose="02040503050406030204" pitchFamily="18" charset="0"/>
                <a:ea typeface="Cambria" panose="02040503050406030204" pitchFamily="18" charset="0"/>
                <a:cs typeface="Consolas"/>
                <a:sym typeface="Consolas"/>
              </a:rPr>
              <a:t>: 8080      # Port the Pod listens on</a:t>
            </a:r>
            <a:endParaRPr sz="2000" dirty="0">
              <a:solidFill>
                <a:srgbClr val="EEF4FF"/>
              </a:solidFill>
              <a:latin typeface="Cambria" panose="02040503050406030204" pitchFamily="18" charset="0"/>
              <a:ea typeface="Cambria" panose="02040503050406030204" pitchFamily="18" charset="0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EF4FF"/>
              </a:buClr>
              <a:buSzPts val="2143"/>
              <a:buFont typeface="Consolas"/>
              <a:buNone/>
            </a:pPr>
            <a:endParaRPr sz="2000" dirty="0">
              <a:solidFill>
                <a:srgbClr val="EEF4FF"/>
              </a:solidFill>
              <a:latin typeface="Cambria" panose="02040503050406030204" pitchFamily="18" charset="0"/>
              <a:ea typeface="Cambria" panose="02040503050406030204" pitchFamily="18" charset="0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EF4FF"/>
              </a:buClr>
              <a:buSzPts val="2143"/>
              <a:buFont typeface="Consolas"/>
              <a:buNone/>
            </a:pPr>
            <a:endParaRPr sz="2000" dirty="0">
              <a:solidFill>
                <a:srgbClr val="EEF4FF"/>
              </a:solidFill>
              <a:latin typeface="Cambria" panose="02040503050406030204" pitchFamily="18" charset="0"/>
              <a:ea typeface="Cambria" panose="02040503050406030204" pitchFamily="18" charset="0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EF4FF"/>
              </a:buClr>
              <a:buSzPts val="2143"/>
              <a:buFont typeface="Consolas"/>
              <a:buNone/>
            </a:pPr>
            <a:endParaRPr sz="2000" dirty="0">
              <a:solidFill>
                <a:srgbClr val="EEF4FF"/>
              </a:solidFill>
              <a:latin typeface="Cambria" panose="02040503050406030204" pitchFamily="18" charset="0"/>
              <a:ea typeface="Cambria" panose="02040503050406030204" pitchFamily="18" charset="0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EF4FF"/>
              </a:buClr>
              <a:buSzPts val="2143"/>
              <a:buFont typeface="Consolas"/>
              <a:buNone/>
            </a:pPr>
            <a:endParaRPr sz="2000" dirty="0">
              <a:solidFill>
                <a:srgbClr val="EEF4FF"/>
              </a:solidFill>
              <a:latin typeface="Cambria" panose="02040503050406030204" pitchFamily="18" charset="0"/>
              <a:ea typeface="Cambria" panose="02040503050406030204" pitchFamily="18" charset="0"/>
              <a:cs typeface="Consolas"/>
              <a:sym typeface="Consola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EC6A6DE-FD7B-D33A-454D-CA93B7E7A494}"/>
              </a:ext>
            </a:extLst>
          </p:cNvPr>
          <p:cNvSpPr txBox="1"/>
          <p:nvPr/>
        </p:nvSpPr>
        <p:spPr>
          <a:xfrm>
            <a:off x="209506" y="1429143"/>
            <a:ext cx="9193188" cy="89562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400" b="1" dirty="0">
                <a:solidFill>
                  <a:schemeClr val="accent6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3. </a:t>
            </a:r>
            <a:r>
              <a:rPr lang="en-US" sz="2400" b="1" dirty="0" err="1">
                <a:solidFill>
                  <a:schemeClr val="accent6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LoadBalancer</a:t>
            </a:r>
            <a:r>
              <a:rPr lang="en-US" sz="2400" b="1" dirty="0">
                <a:solidFill>
                  <a:schemeClr val="accent6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— External Load Balancing</a:t>
            </a:r>
          </a:p>
          <a:p>
            <a:pPr algn="just">
              <a:lnSpc>
                <a:spcPct val="150000"/>
              </a:lnSpc>
            </a:pPr>
            <a:r>
              <a:rPr lang="en-US" sz="2400" b="1" dirty="0" err="1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LoadBalancer</a:t>
            </a:r>
            <a:r>
              <a:rPr lang="en-US" sz="24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exposes a Service through an external load balancer</a:t>
            </a:r>
            <a:r>
              <a:rPr lang="en-US" sz="24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, typically provided by a cloud or infrastructure platform.</a:t>
            </a:r>
          </a:p>
          <a:p>
            <a:pPr algn="just">
              <a:lnSpc>
                <a:spcPct val="150000"/>
              </a:lnSpc>
            </a:pPr>
            <a:r>
              <a:rPr lang="en-US" sz="2400" dirty="0">
                <a:solidFill>
                  <a:schemeClr val="accent6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Examples include:</a:t>
            </a:r>
          </a:p>
          <a:p>
            <a:pPr marL="342900" lvl="0" indent="-342900" algn="just">
              <a:lnSpc>
                <a:spcPct val="150000"/>
              </a:lnSpc>
              <a:buClr>
                <a:schemeClr val="accent6"/>
              </a:buCl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AWS Elastic Load Balancing</a:t>
            </a:r>
          </a:p>
          <a:p>
            <a:pPr marL="342900" lvl="0" indent="-342900" algn="just">
              <a:lnSpc>
                <a:spcPct val="150000"/>
              </a:lnSpc>
              <a:buClr>
                <a:schemeClr val="accent6"/>
              </a:buCl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Google Cloud Load Balancing</a:t>
            </a:r>
          </a:p>
          <a:p>
            <a:pPr marL="342900" lvl="0" indent="-342900" algn="just">
              <a:lnSpc>
                <a:spcPct val="150000"/>
              </a:lnSpc>
              <a:buClr>
                <a:schemeClr val="accent6"/>
              </a:buCl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Azure Load Balancer</a:t>
            </a:r>
          </a:p>
          <a:p>
            <a:pPr lvl="0" algn="just"/>
            <a:r>
              <a:rPr lang="en-US" sz="2400" b="1" dirty="0">
                <a:solidFill>
                  <a:schemeClr val="accent6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Use when:</a:t>
            </a:r>
            <a:r>
              <a:rPr lang="en-US" sz="2400" dirty="0">
                <a:solidFill>
                  <a:schemeClr val="accent6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4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 service needs direct external access through an external load-balancing solution.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chemeClr val="accent6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4. Ingress — HTTP/HTTPS Routing</a:t>
            </a:r>
          </a:p>
          <a:p>
            <a:pPr algn="just">
              <a:lnSpc>
                <a:spcPct val="150000"/>
              </a:lnSpc>
            </a:pPr>
            <a:r>
              <a:rPr lang="en-US" sz="24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Ingress provides Layer 7 HTTP/HTTPS routing into Kubernetes.</a:t>
            </a:r>
            <a:endParaRPr lang="en-US" sz="2400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sz="24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Instead of exposing every application through a separate external IP or port, an Ingress can route traffic to multiple Services based on:</a:t>
            </a:r>
          </a:p>
          <a:p>
            <a:pPr marL="342900" lvl="0" indent="-342900" algn="just">
              <a:lnSpc>
                <a:spcPct val="150000"/>
              </a:lnSpc>
              <a:buClr>
                <a:schemeClr val="accent6"/>
              </a:buClr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Hostname</a:t>
            </a:r>
            <a:endParaRPr lang="en-US" sz="2400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342900">
              <a:lnSpc>
                <a:spcPct val="150000"/>
              </a:lnSpc>
              <a:buClr>
                <a:schemeClr val="accent6"/>
              </a:buClr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URL path</a:t>
            </a:r>
            <a:endParaRPr lang="en-US" sz="2400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342900">
              <a:lnSpc>
                <a:spcPct val="150000"/>
              </a:lnSpc>
              <a:buClr>
                <a:schemeClr val="accent6"/>
              </a:buClr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TLS/HTTPS configuration</a:t>
            </a:r>
            <a:endParaRPr lang="en-US" sz="2400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lvl="0" algn="just"/>
            <a:endParaRPr lang="en-US" sz="2400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2E75278-B213-AB0C-7CBB-812380C82A20}"/>
              </a:ext>
            </a:extLst>
          </p:cNvPr>
          <p:cNvSpPr txBox="1"/>
          <p:nvPr/>
        </p:nvSpPr>
        <p:spPr>
          <a:xfrm>
            <a:off x="9782539" y="1177934"/>
            <a:ext cx="7947372" cy="5816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dirty="0">
                <a:solidFill>
                  <a:schemeClr val="accent6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Example routing: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i="1" dirty="0">
                <a:solidFill>
                  <a:schemeClr val="accent6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api.example.com/users  → User Service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i="1" dirty="0">
                <a:solidFill>
                  <a:schemeClr val="accent6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example.com/shop       → Shop Service</a:t>
            </a:r>
          </a:p>
          <a:p>
            <a:pPr algn="just">
              <a:lnSpc>
                <a:spcPct val="150000"/>
              </a:lnSpc>
            </a:pPr>
            <a:r>
              <a:rPr lang="en-US" sz="24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Ingress commonly handles </a:t>
            </a:r>
            <a:r>
              <a:rPr lang="en-US" sz="24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TLS termination</a:t>
            </a:r>
            <a:r>
              <a:rPr lang="en-US" sz="24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, allowing HTTPS traffic to be decrypted at the ingress layer before being forwarded to backend Services.</a:t>
            </a:r>
          </a:p>
          <a:p>
            <a:pPr algn="just">
              <a:lnSpc>
                <a:spcPct val="150000"/>
              </a:lnSpc>
            </a:pPr>
            <a:r>
              <a:rPr lang="en-US" sz="24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Important:</a:t>
            </a:r>
            <a:r>
              <a:rPr lang="en-US" sz="24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Ingress is not itself a Service type. It is a separate Kubernetes API resource that works with Services and requires an </a:t>
            </a:r>
            <a:r>
              <a:rPr lang="en-US" sz="24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Ingress Controller</a:t>
            </a:r>
            <a:r>
              <a:rPr lang="en-US" sz="24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to implement the routing.</a:t>
            </a:r>
          </a:p>
          <a:p>
            <a:pPr algn="just"/>
            <a:endParaRPr lang="en-US" sz="2400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626949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C0498AA-CA49-28D6-5D7C-6868B773CD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9641513"/>
              </p:ext>
            </p:extLst>
          </p:nvPr>
        </p:nvGraphicFramePr>
        <p:xfrm>
          <a:off x="2580967" y="967467"/>
          <a:ext cx="13804492" cy="5353104"/>
        </p:xfrm>
        <a:graphic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2791408">
                  <a:extLst>
                    <a:ext uri="{9D8B030D-6E8A-4147-A177-3AD203B41FA5}">
                      <a16:colId xmlns:a16="http://schemas.microsoft.com/office/drawing/2014/main" val="232205585"/>
                    </a:ext>
                  </a:extLst>
                </a:gridCol>
                <a:gridCol w="5247232">
                  <a:extLst>
                    <a:ext uri="{9D8B030D-6E8A-4147-A177-3AD203B41FA5}">
                      <a16:colId xmlns:a16="http://schemas.microsoft.com/office/drawing/2014/main" val="4238383670"/>
                    </a:ext>
                  </a:extLst>
                </a:gridCol>
                <a:gridCol w="5765852">
                  <a:extLst>
                    <a:ext uri="{9D8B030D-6E8A-4147-A177-3AD203B41FA5}">
                      <a16:colId xmlns:a16="http://schemas.microsoft.com/office/drawing/2014/main" val="3779215613"/>
                    </a:ext>
                  </a:extLst>
                </a:gridCol>
              </a:tblGrid>
              <a:tr h="93914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200" b="1" dirty="0"/>
                        <a:t>Type</a:t>
                      </a:r>
                      <a:endParaRPr lang="en-US" sz="3200" b="1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200" b="1" dirty="0"/>
                        <a:t>Access</a:t>
                      </a:r>
                      <a:endParaRPr lang="en-US" sz="3200" b="1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200" b="1" dirty="0"/>
                        <a:t>Typical Use</a:t>
                      </a:r>
                      <a:endParaRPr lang="en-US" sz="3200" b="1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82239461"/>
                  </a:ext>
                </a:extLst>
              </a:tr>
              <a:tr h="93914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800" dirty="0" err="1"/>
                        <a:t>ClusterIP</a:t>
                      </a:r>
                      <a:endParaRPr lang="en-US" sz="28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800"/>
                        <a:t>Internal</a:t>
                      </a:r>
                      <a:endParaRPr lang="en-US" sz="280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800"/>
                        <a:t>Backend, database, cache</a:t>
                      </a:r>
                      <a:endParaRPr lang="en-US" sz="280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67110682"/>
                  </a:ext>
                </a:extLst>
              </a:tr>
              <a:tr h="93914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800" dirty="0" err="1"/>
                        <a:t>NodePort</a:t>
                      </a:r>
                      <a:endParaRPr lang="en-US" sz="28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800" dirty="0"/>
                        <a:t>External via Node IP + port</a:t>
                      </a:r>
                      <a:endParaRPr lang="en-US" sz="28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800"/>
                        <a:t>Development/testing</a:t>
                      </a:r>
                      <a:endParaRPr lang="en-US" sz="280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68456339"/>
                  </a:ext>
                </a:extLst>
              </a:tr>
              <a:tr h="93914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800" dirty="0" err="1"/>
                        <a:t>LoadBalancer</a:t>
                      </a:r>
                      <a:endParaRPr lang="en-US" sz="28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800" dirty="0"/>
                        <a:t>External Load Balancer</a:t>
                      </a:r>
                      <a:endParaRPr lang="en-US" sz="28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800" dirty="0"/>
                        <a:t>Public services</a:t>
                      </a:r>
                      <a:endParaRPr lang="en-US" sz="28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75951527"/>
                  </a:ext>
                </a:extLst>
              </a:tr>
              <a:tr h="159654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800"/>
                        <a:t>Ingress</a:t>
                      </a:r>
                      <a:endParaRPr lang="en-US" sz="280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800"/>
                        <a:t>HTTP/HTTPS routing</a:t>
                      </a:r>
                      <a:endParaRPr lang="en-US" sz="280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800" dirty="0"/>
                        <a:t>Multiple web services, domains, paths</a:t>
                      </a:r>
                      <a:endParaRPr lang="en-US" sz="28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51917579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48EE0DFC-30D6-04D3-8D03-5E7CA44C61C8}"/>
              </a:ext>
            </a:extLst>
          </p:cNvPr>
          <p:cNvSpPr txBox="1"/>
          <p:nvPr/>
        </p:nvSpPr>
        <p:spPr>
          <a:xfrm>
            <a:off x="1474840" y="6385226"/>
            <a:ext cx="14910619" cy="390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Key Takeaway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 err="1">
                <a:latin typeface="Cambria" panose="02040503050406030204" pitchFamily="18" charset="0"/>
                <a:ea typeface="Cambria" panose="02040503050406030204" pitchFamily="18" charset="0"/>
              </a:rPr>
              <a:t>ClusterIP</a:t>
            </a:r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 = Internal access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 err="1">
                <a:latin typeface="Cambria" panose="02040503050406030204" pitchFamily="18" charset="0"/>
                <a:ea typeface="Cambria" panose="02040503050406030204" pitchFamily="18" charset="0"/>
              </a:rPr>
              <a:t>NodePort</a:t>
            </a:r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 = Node IP + Port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 err="1">
                <a:latin typeface="Cambria" panose="02040503050406030204" pitchFamily="18" charset="0"/>
                <a:ea typeface="Cambria" panose="02040503050406030204" pitchFamily="18" charset="0"/>
              </a:rPr>
              <a:t>LoadBalancer</a:t>
            </a:r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 = External Load Balancer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Ingress = Smart HTTP/HTTPS Routing</a:t>
            </a:r>
            <a:endParaRPr 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Remember:</a:t>
            </a:r>
            <a:b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Service exposes your application; Ingress intelligently routes web traffic to multiple Services.</a:t>
            </a:r>
            <a:endParaRPr 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25AA09A-7D6D-B23A-A53A-F43EE62374B2}"/>
              </a:ext>
            </a:extLst>
          </p:cNvPr>
          <p:cNvSpPr txBox="1"/>
          <p:nvPr/>
        </p:nvSpPr>
        <p:spPr>
          <a:xfrm>
            <a:off x="6312309" y="131363"/>
            <a:ext cx="5029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latin typeface="Cambria" panose="02040503050406030204" pitchFamily="18" charset="0"/>
                <a:ea typeface="Cambria" panose="02040503050406030204" pitchFamily="18" charset="0"/>
              </a:rPr>
              <a:t>Quick Comparison</a:t>
            </a:r>
          </a:p>
        </p:txBody>
      </p:sp>
      <p:grpSp>
        <p:nvGrpSpPr>
          <p:cNvPr id="8" name="Google Shape;571;g3dae939ee2c_0_218">
            <a:extLst>
              <a:ext uri="{FF2B5EF4-FFF2-40B4-BE49-F238E27FC236}">
                <a16:creationId xmlns:a16="http://schemas.microsoft.com/office/drawing/2014/main" id="{09714760-E69F-9981-46BA-C087F8C08E79}"/>
              </a:ext>
            </a:extLst>
          </p:cNvPr>
          <p:cNvGrpSpPr/>
          <p:nvPr/>
        </p:nvGrpSpPr>
        <p:grpSpPr>
          <a:xfrm>
            <a:off x="147145" y="131363"/>
            <a:ext cx="4536332" cy="836104"/>
            <a:chOff x="0" y="0"/>
            <a:chExt cx="6048443" cy="1114806"/>
          </a:xfrm>
        </p:grpSpPr>
        <p:sp>
          <p:nvSpPr>
            <p:cNvPr id="9" name="Google Shape;572;g3dae939ee2c_0_218" descr="Insights on ACTD Accreditation from a Leading Body">
              <a:extLst>
                <a:ext uri="{FF2B5EF4-FFF2-40B4-BE49-F238E27FC236}">
                  <a16:creationId xmlns:a16="http://schemas.microsoft.com/office/drawing/2014/main" id="{0B89729E-DF4F-1186-76DE-5E2E975C8D1B}"/>
                </a:ext>
              </a:extLst>
            </p:cNvPr>
            <p:cNvSpPr/>
            <p:nvPr/>
          </p:nvSpPr>
          <p:spPr>
            <a:xfrm>
              <a:off x="2976677" y="44434"/>
              <a:ext cx="1070372" cy="1070372"/>
            </a:xfrm>
            <a:custGeom>
              <a:avLst/>
              <a:gdLst/>
              <a:ahLst/>
              <a:cxnLst/>
              <a:rect l="l" t="t" r="r" b="b"/>
              <a:pathLst>
                <a:path w="2952750" h="2952750" extrusionOk="0">
                  <a:moveTo>
                    <a:pt x="0" y="0"/>
                  </a:moveTo>
                  <a:lnTo>
                    <a:pt x="2952750" y="0"/>
                  </a:lnTo>
                  <a:lnTo>
                    <a:pt x="2952750" y="2952750"/>
                  </a:lnTo>
                  <a:lnTo>
                    <a:pt x="0" y="295275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2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Google Shape;573;g3dae939ee2c_0_218">
              <a:extLst>
                <a:ext uri="{FF2B5EF4-FFF2-40B4-BE49-F238E27FC236}">
                  <a16:creationId xmlns:a16="http://schemas.microsoft.com/office/drawing/2014/main" id="{068A5F7C-9D8A-32F7-8F82-18C5534C7DAD}"/>
                </a:ext>
              </a:extLst>
            </p:cNvPr>
            <p:cNvSpPr txBox="1"/>
            <p:nvPr/>
          </p:nvSpPr>
          <p:spPr>
            <a:xfrm>
              <a:off x="4168343" y="157841"/>
              <a:ext cx="1880100" cy="532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1992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63"/>
                <a:buFont typeface="Arial"/>
                <a:buNone/>
              </a:pPr>
              <a:r>
                <a:rPr lang="en-US" sz="763" b="0" i="0" u="none" strike="noStrike" cap="none" dirty="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ACCREDITED BY THE AMERICAN COUNCIL OF TRAINING AND DEVELOPMENT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" name="Google Shape;574;g3dae939ee2c_0_218">
              <a:extLst>
                <a:ext uri="{FF2B5EF4-FFF2-40B4-BE49-F238E27FC236}">
                  <a16:creationId xmlns:a16="http://schemas.microsoft.com/office/drawing/2014/main" id="{3257446E-1598-1F9B-004E-7BEC49478ADC}"/>
                </a:ext>
              </a:extLst>
            </p:cNvPr>
            <p:cNvSpPr/>
            <p:nvPr/>
          </p:nvSpPr>
          <p:spPr>
            <a:xfrm>
              <a:off x="0" y="44434"/>
              <a:ext cx="2756281" cy="810768"/>
            </a:xfrm>
            <a:custGeom>
              <a:avLst/>
              <a:gdLst/>
              <a:ahLst/>
              <a:cxnLst/>
              <a:rect l="l" t="t" r="r" b="b"/>
              <a:pathLst>
                <a:path w="2756281" h="810768" extrusionOk="0">
                  <a:moveTo>
                    <a:pt x="0" y="0"/>
                  </a:moveTo>
                  <a:lnTo>
                    <a:pt x="2756281" y="0"/>
                  </a:lnTo>
                  <a:lnTo>
                    <a:pt x="2756281" y="810768"/>
                  </a:lnTo>
                  <a:lnTo>
                    <a:pt x="0" y="81076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t="-30" b="-40"/>
              </a:stretch>
            </a:blip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cxnSp>
          <p:nvCxnSpPr>
            <p:cNvPr id="12" name="Google Shape;575;g3dae939ee2c_0_218">
              <a:extLst>
                <a:ext uri="{FF2B5EF4-FFF2-40B4-BE49-F238E27FC236}">
                  <a16:creationId xmlns:a16="http://schemas.microsoft.com/office/drawing/2014/main" id="{C2093B03-52F9-4CA4-0342-747A5DDDF2CA}"/>
                </a:ext>
              </a:extLst>
            </p:cNvPr>
            <p:cNvCxnSpPr/>
            <p:nvPr/>
          </p:nvCxnSpPr>
          <p:spPr>
            <a:xfrm>
              <a:off x="2900823" y="0"/>
              <a:ext cx="0" cy="860100"/>
            </a:xfrm>
            <a:prstGeom prst="straightConnector1">
              <a:avLst/>
            </a:prstGeom>
            <a:noFill/>
            <a:ln w="254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14" name="Google Shape;547;g3dae939ee2c_0_471">
            <a:extLst>
              <a:ext uri="{FF2B5EF4-FFF2-40B4-BE49-F238E27FC236}">
                <a16:creationId xmlns:a16="http://schemas.microsoft.com/office/drawing/2014/main" id="{3E5BA079-E382-2FD7-7296-91E3300F63F3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7783973" h="9979469" extrusionOk="0">
                <a:moveTo>
                  <a:pt x="0" y="0"/>
                </a:moveTo>
                <a:lnTo>
                  <a:pt x="17783972" y="0"/>
                </a:lnTo>
                <a:lnTo>
                  <a:pt x="17783972" y="9979468"/>
                </a:lnTo>
                <a:lnTo>
                  <a:pt x="0" y="997946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4000"/>
            </a:blip>
            <a:stretch>
              <a:fillRect l="-2130" t="-130" b="-6510"/>
            </a:stretch>
          </a:blipFill>
          <a:ln>
            <a:noFill/>
          </a:ln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631877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g3dae939ee2c_0_240"/>
          <p:cNvSpPr/>
          <p:nvPr/>
        </p:nvSpPr>
        <p:spPr>
          <a:xfrm>
            <a:off x="252014" y="153766"/>
            <a:ext cx="17783973" cy="9979469"/>
          </a:xfrm>
          <a:custGeom>
            <a:avLst/>
            <a:gdLst/>
            <a:ahLst/>
            <a:cxnLst/>
            <a:rect l="l" t="t" r="r" b="b"/>
            <a:pathLst>
              <a:path w="17783973" h="9979469" extrusionOk="0">
                <a:moveTo>
                  <a:pt x="0" y="0"/>
                </a:moveTo>
                <a:lnTo>
                  <a:pt x="17783972" y="0"/>
                </a:lnTo>
                <a:lnTo>
                  <a:pt x="17783972" y="9979468"/>
                </a:lnTo>
                <a:lnTo>
                  <a:pt x="0" y="997946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4000"/>
            </a:blip>
            <a:stretch>
              <a:fillRect l="-2130" t="-130" b="-6510"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grpSp>
        <p:nvGrpSpPr>
          <p:cNvPr id="594" name="Google Shape;594;g3dae939ee2c_0_240"/>
          <p:cNvGrpSpPr/>
          <p:nvPr/>
        </p:nvGrpSpPr>
        <p:grpSpPr>
          <a:xfrm>
            <a:off x="530603" y="553241"/>
            <a:ext cx="4536332" cy="836104"/>
            <a:chOff x="0" y="0"/>
            <a:chExt cx="6048443" cy="1114806"/>
          </a:xfrm>
        </p:grpSpPr>
        <p:sp>
          <p:nvSpPr>
            <p:cNvPr id="595" name="Google Shape;595;g3dae939ee2c_0_240" descr="Insights on ACTD Accreditation from a Leading Body"/>
            <p:cNvSpPr/>
            <p:nvPr/>
          </p:nvSpPr>
          <p:spPr>
            <a:xfrm>
              <a:off x="2976677" y="44434"/>
              <a:ext cx="1070372" cy="1070372"/>
            </a:xfrm>
            <a:custGeom>
              <a:avLst/>
              <a:gdLst/>
              <a:ahLst/>
              <a:cxnLst/>
              <a:rect l="l" t="t" r="r" b="b"/>
              <a:pathLst>
                <a:path w="2952750" h="2952750" extrusionOk="0">
                  <a:moveTo>
                    <a:pt x="0" y="0"/>
                  </a:moveTo>
                  <a:lnTo>
                    <a:pt x="2952750" y="0"/>
                  </a:lnTo>
                  <a:lnTo>
                    <a:pt x="2952750" y="2952750"/>
                  </a:lnTo>
                  <a:lnTo>
                    <a:pt x="0" y="295275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96" name="Google Shape;596;g3dae939ee2c_0_240"/>
            <p:cNvSpPr txBox="1"/>
            <p:nvPr/>
          </p:nvSpPr>
          <p:spPr>
            <a:xfrm>
              <a:off x="4168343" y="157841"/>
              <a:ext cx="1880100" cy="532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1992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63"/>
                <a:buFont typeface="Arial"/>
                <a:buNone/>
              </a:pPr>
              <a:r>
                <a:rPr lang="en-US" sz="763" b="0" i="0" u="none" strike="noStrike" cap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ACCREDITED BY THE AMERICAN COUNCIL OF TRAINING AND DEVELOPMENT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7" name="Google Shape;597;g3dae939ee2c_0_240"/>
            <p:cNvSpPr/>
            <p:nvPr/>
          </p:nvSpPr>
          <p:spPr>
            <a:xfrm>
              <a:off x="0" y="44434"/>
              <a:ext cx="2756281" cy="810768"/>
            </a:xfrm>
            <a:custGeom>
              <a:avLst/>
              <a:gdLst/>
              <a:ahLst/>
              <a:cxnLst/>
              <a:rect l="l" t="t" r="r" b="b"/>
              <a:pathLst>
                <a:path w="2756281" h="810768" extrusionOk="0">
                  <a:moveTo>
                    <a:pt x="0" y="0"/>
                  </a:moveTo>
                  <a:lnTo>
                    <a:pt x="2756281" y="0"/>
                  </a:lnTo>
                  <a:lnTo>
                    <a:pt x="2756281" y="810768"/>
                  </a:lnTo>
                  <a:lnTo>
                    <a:pt x="0" y="81076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 t="-30" b="-40"/>
              </a:stretch>
            </a:blip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cxnSp>
          <p:nvCxnSpPr>
            <p:cNvPr id="598" name="Google Shape;598;g3dae939ee2c_0_240"/>
            <p:cNvCxnSpPr/>
            <p:nvPr/>
          </p:nvCxnSpPr>
          <p:spPr>
            <a:xfrm>
              <a:off x="2900823" y="0"/>
              <a:ext cx="0" cy="860100"/>
            </a:xfrm>
            <a:prstGeom prst="straightConnector1">
              <a:avLst/>
            </a:prstGeom>
            <a:noFill/>
            <a:ln w="254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599" name="Google Shape;599;g3dae939ee2c_0_240"/>
          <p:cNvSpPr/>
          <p:nvPr/>
        </p:nvSpPr>
        <p:spPr>
          <a:xfrm>
            <a:off x="6142602" y="295762"/>
            <a:ext cx="7078465" cy="8027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8F8"/>
              </a:buClr>
              <a:buSzPts val="5832"/>
              <a:buFont typeface="Trebuchet MS"/>
              <a:buNone/>
            </a:pPr>
            <a:r>
              <a:rPr lang="en-US" sz="4800" b="1" dirty="0">
                <a:solidFill>
                  <a:srgbClr val="434343"/>
                </a:solidFill>
                <a:latin typeface="Cambria" panose="02040503050406030204" pitchFamily="18" charset="0"/>
                <a:ea typeface="Cambria" panose="02040503050406030204" pitchFamily="18" charset="0"/>
                <a:cs typeface="Poppins"/>
                <a:sym typeface="Poppins"/>
              </a:rPr>
              <a:t>Ingress</a:t>
            </a:r>
            <a:endParaRPr sz="4800" b="1" i="0" u="none" strike="noStrike" cap="none" dirty="0">
              <a:solidFill>
                <a:srgbClr val="434343"/>
              </a:solidFill>
              <a:latin typeface="Cambria" panose="02040503050406030204" pitchFamily="18" charset="0"/>
              <a:ea typeface="Cambria" panose="02040503050406030204" pitchFamily="18" charset="0"/>
              <a:cs typeface="Poppins"/>
              <a:sym typeface="Poppins"/>
            </a:endParaRPr>
          </a:p>
        </p:txBody>
      </p:sp>
      <p:sp>
        <p:nvSpPr>
          <p:cNvPr id="601" name="Google Shape;601;g3dae939ee2c_0_240"/>
          <p:cNvSpPr/>
          <p:nvPr/>
        </p:nvSpPr>
        <p:spPr>
          <a:xfrm>
            <a:off x="108250" y="1389345"/>
            <a:ext cx="9395700" cy="8788830"/>
          </a:xfrm>
          <a:prstGeom prst="roundRect">
            <a:avLst>
              <a:gd name="adj" fmla="val 8602"/>
            </a:avLst>
          </a:prstGeom>
          <a:solidFill>
            <a:srgbClr val="343434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5" name="Google Shape;605;g3dae939ee2c_0_240"/>
          <p:cNvSpPr/>
          <p:nvPr/>
        </p:nvSpPr>
        <p:spPr>
          <a:xfrm>
            <a:off x="9836686" y="6511635"/>
            <a:ext cx="8199300" cy="3715133"/>
          </a:xfrm>
          <a:prstGeom prst="roundRect">
            <a:avLst>
              <a:gd name="adj" fmla="val 8602"/>
            </a:avLst>
          </a:prstGeom>
          <a:solidFill>
            <a:srgbClr val="0D0D0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9775" tIns="79775" rIns="79775" bIns="797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22"/>
              <a:buFont typeface="Arial"/>
              <a:buNone/>
            </a:pPr>
            <a:endParaRPr sz="1222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7" name="Google Shape;607;g3dae939ee2c_0_240"/>
          <p:cNvSpPr/>
          <p:nvPr/>
        </p:nvSpPr>
        <p:spPr>
          <a:xfrm>
            <a:off x="9953086" y="6632450"/>
            <a:ext cx="7966500" cy="35007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EF4FF"/>
              </a:buClr>
              <a:buSzPts val="2143"/>
              <a:buFont typeface="Consolas"/>
              <a:buNone/>
            </a:pPr>
            <a:r>
              <a:rPr lang="en-US" sz="2000" dirty="0">
                <a:solidFill>
                  <a:srgbClr val="EEF4FF"/>
                </a:solidFill>
                <a:latin typeface="Cambria" panose="02040503050406030204" pitchFamily="18" charset="0"/>
                <a:ea typeface="Cambria" panose="02040503050406030204" pitchFamily="18" charset="0"/>
                <a:cs typeface="Consolas"/>
                <a:sym typeface="Consolas"/>
              </a:rPr>
              <a:t>spec:</a:t>
            </a:r>
            <a:endParaRPr sz="2000" dirty="0">
              <a:solidFill>
                <a:srgbClr val="EEF4FF"/>
              </a:solidFill>
              <a:latin typeface="Cambria" panose="02040503050406030204" pitchFamily="18" charset="0"/>
              <a:ea typeface="Cambria" panose="02040503050406030204" pitchFamily="18" charset="0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EF4FF"/>
              </a:buClr>
              <a:buSzPts val="2143"/>
              <a:buFont typeface="Consolas"/>
              <a:buNone/>
            </a:pPr>
            <a:r>
              <a:rPr lang="en-US" sz="2000" dirty="0">
                <a:solidFill>
                  <a:srgbClr val="EEF4FF"/>
                </a:solidFill>
                <a:latin typeface="Cambria" panose="02040503050406030204" pitchFamily="18" charset="0"/>
                <a:ea typeface="Cambria" panose="02040503050406030204" pitchFamily="18" charset="0"/>
                <a:cs typeface="Consolas"/>
                <a:sym typeface="Consolas"/>
              </a:rPr>
              <a:t>  rules:</a:t>
            </a:r>
            <a:endParaRPr sz="2000" dirty="0">
              <a:solidFill>
                <a:srgbClr val="EEF4FF"/>
              </a:solidFill>
              <a:latin typeface="Cambria" panose="02040503050406030204" pitchFamily="18" charset="0"/>
              <a:ea typeface="Cambria" panose="02040503050406030204" pitchFamily="18" charset="0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EF4FF"/>
              </a:buClr>
              <a:buSzPts val="2143"/>
              <a:buFont typeface="Consolas"/>
              <a:buNone/>
            </a:pPr>
            <a:r>
              <a:rPr lang="en-US" sz="2000" dirty="0">
                <a:solidFill>
                  <a:srgbClr val="EEF4FF"/>
                </a:solidFill>
                <a:latin typeface="Cambria" panose="02040503050406030204" pitchFamily="18" charset="0"/>
                <a:ea typeface="Cambria" panose="02040503050406030204" pitchFamily="18" charset="0"/>
                <a:cs typeface="Consolas"/>
                <a:sym typeface="Consolas"/>
              </a:rPr>
              <a:t>  - host: api.myapp.com</a:t>
            </a:r>
            <a:endParaRPr sz="2000" dirty="0">
              <a:solidFill>
                <a:srgbClr val="EEF4FF"/>
              </a:solidFill>
              <a:latin typeface="Cambria" panose="02040503050406030204" pitchFamily="18" charset="0"/>
              <a:ea typeface="Cambria" panose="02040503050406030204" pitchFamily="18" charset="0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EF4FF"/>
              </a:buClr>
              <a:buSzPts val="2143"/>
              <a:buFont typeface="Consolas"/>
              <a:buNone/>
            </a:pPr>
            <a:r>
              <a:rPr lang="en-US" sz="2000" dirty="0">
                <a:solidFill>
                  <a:srgbClr val="EEF4FF"/>
                </a:solidFill>
                <a:latin typeface="Cambria" panose="02040503050406030204" pitchFamily="18" charset="0"/>
                <a:ea typeface="Cambria" panose="02040503050406030204" pitchFamily="18" charset="0"/>
                <a:cs typeface="Consolas"/>
                <a:sym typeface="Consolas"/>
              </a:rPr>
              <a:t>    http:</a:t>
            </a:r>
            <a:endParaRPr sz="2000" dirty="0">
              <a:solidFill>
                <a:srgbClr val="EEF4FF"/>
              </a:solidFill>
              <a:latin typeface="Cambria" panose="02040503050406030204" pitchFamily="18" charset="0"/>
              <a:ea typeface="Cambria" panose="02040503050406030204" pitchFamily="18" charset="0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EF4FF"/>
              </a:buClr>
              <a:buSzPts val="2143"/>
              <a:buFont typeface="Consolas"/>
              <a:buNone/>
            </a:pPr>
            <a:r>
              <a:rPr lang="en-US" sz="2000" dirty="0">
                <a:solidFill>
                  <a:srgbClr val="EEF4FF"/>
                </a:solidFill>
                <a:latin typeface="Cambria" panose="02040503050406030204" pitchFamily="18" charset="0"/>
                <a:ea typeface="Cambria" panose="02040503050406030204" pitchFamily="18" charset="0"/>
                <a:cs typeface="Consolas"/>
                <a:sym typeface="Consolas"/>
              </a:rPr>
              <a:t>      paths:</a:t>
            </a:r>
            <a:endParaRPr sz="2000" dirty="0">
              <a:solidFill>
                <a:srgbClr val="EEF4FF"/>
              </a:solidFill>
              <a:latin typeface="Cambria" panose="02040503050406030204" pitchFamily="18" charset="0"/>
              <a:ea typeface="Cambria" panose="02040503050406030204" pitchFamily="18" charset="0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EF4FF"/>
              </a:buClr>
              <a:buSzPts val="2143"/>
              <a:buFont typeface="Consolas"/>
              <a:buNone/>
            </a:pPr>
            <a:r>
              <a:rPr lang="en-US" sz="2000" dirty="0">
                <a:solidFill>
                  <a:srgbClr val="EEF4FF"/>
                </a:solidFill>
                <a:latin typeface="Cambria" panose="02040503050406030204" pitchFamily="18" charset="0"/>
                <a:ea typeface="Cambria" panose="02040503050406030204" pitchFamily="18" charset="0"/>
                <a:cs typeface="Consolas"/>
                <a:sym typeface="Consolas"/>
              </a:rPr>
              <a:t>      - path: /</a:t>
            </a:r>
            <a:endParaRPr sz="2000" dirty="0">
              <a:solidFill>
                <a:srgbClr val="EEF4FF"/>
              </a:solidFill>
              <a:latin typeface="Cambria" panose="02040503050406030204" pitchFamily="18" charset="0"/>
              <a:ea typeface="Cambria" panose="02040503050406030204" pitchFamily="18" charset="0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EF4FF"/>
              </a:buClr>
              <a:buSzPts val="2143"/>
              <a:buFont typeface="Consolas"/>
              <a:buNone/>
            </a:pPr>
            <a:r>
              <a:rPr lang="en-US" sz="2000" dirty="0">
                <a:solidFill>
                  <a:srgbClr val="EEF4FF"/>
                </a:solidFill>
                <a:latin typeface="Cambria" panose="02040503050406030204" pitchFamily="18" charset="0"/>
                <a:ea typeface="Cambria" panose="02040503050406030204" pitchFamily="18" charset="0"/>
                <a:cs typeface="Consolas"/>
                <a:sym typeface="Consolas"/>
              </a:rPr>
              <a:t>        </a:t>
            </a:r>
            <a:r>
              <a:rPr lang="en-US" sz="2000" dirty="0" err="1">
                <a:solidFill>
                  <a:srgbClr val="EEF4FF"/>
                </a:solidFill>
                <a:latin typeface="Cambria" panose="02040503050406030204" pitchFamily="18" charset="0"/>
                <a:ea typeface="Cambria" panose="02040503050406030204" pitchFamily="18" charset="0"/>
                <a:cs typeface="Consolas"/>
                <a:sym typeface="Consolas"/>
              </a:rPr>
              <a:t>pathType</a:t>
            </a:r>
            <a:r>
              <a:rPr lang="en-US" sz="2000" dirty="0">
                <a:solidFill>
                  <a:srgbClr val="EEF4FF"/>
                </a:solidFill>
                <a:latin typeface="Cambria" panose="02040503050406030204" pitchFamily="18" charset="0"/>
                <a:ea typeface="Cambria" panose="02040503050406030204" pitchFamily="18" charset="0"/>
                <a:cs typeface="Consolas"/>
                <a:sym typeface="Consolas"/>
              </a:rPr>
              <a:t>: Prefix</a:t>
            </a:r>
            <a:endParaRPr sz="2000" dirty="0">
              <a:solidFill>
                <a:srgbClr val="EEF4FF"/>
              </a:solidFill>
              <a:latin typeface="Cambria" panose="02040503050406030204" pitchFamily="18" charset="0"/>
              <a:ea typeface="Cambria" panose="02040503050406030204" pitchFamily="18" charset="0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EF4FF"/>
              </a:buClr>
              <a:buSzPts val="2143"/>
              <a:buFont typeface="Consolas"/>
              <a:buNone/>
            </a:pPr>
            <a:r>
              <a:rPr lang="en-US" sz="2000" dirty="0">
                <a:solidFill>
                  <a:srgbClr val="EEF4FF"/>
                </a:solidFill>
                <a:latin typeface="Cambria" panose="02040503050406030204" pitchFamily="18" charset="0"/>
                <a:ea typeface="Cambria" panose="02040503050406030204" pitchFamily="18" charset="0"/>
                <a:cs typeface="Consolas"/>
                <a:sym typeface="Consolas"/>
              </a:rPr>
              <a:t>        backend:</a:t>
            </a:r>
            <a:endParaRPr sz="2000" dirty="0">
              <a:solidFill>
                <a:srgbClr val="EEF4FF"/>
              </a:solidFill>
              <a:latin typeface="Cambria" panose="02040503050406030204" pitchFamily="18" charset="0"/>
              <a:ea typeface="Cambria" panose="02040503050406030204" pitchFamily="18" charset="0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EF4FF"/>
              </a:buClr>
              <a:buSzPts val="2143"/>
              <a:buFont typeface="Consolas"/>
              <a:buNone/>
            </a:pPr>
            <a:r>
              <a:rPr lang="en-US" sz="2000" dirty="0">
                <a:solidFill>
                  <a:srgbClr val="EEF4FF"/>
                </a:solidFill>
                <a:latin typeface="Cambria" panose="02040503050406030204" pitchFamily="18" charset="0"/>
                <a:ea typeface="Cambria" panose="02040503050406030204" pitchFamily="18" charset="0"/>
                <a:cs typeface="Consolas"/>
                <a:sym typeface="Consolas"/>
              </a:rPr>
              <a:t>          service:</a:t>
            </a:r>
            <a:endParaRPr sz="2000" dirty="0">
              <a:solidFill>
                <a:srgbClr val="EEF4FF"/>
              </a:solidFill>
              <a:latin typeface="Cambria" panose="02040503050406030204" pitchFamily="18" charset="0"/>
              <a:ea typeface="Cambria" panose="02040503050406030204" pitchFamily="18" charset="0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EF4FF"/>
              </a:buClr>
              <a:buSzPts val="2143"/>
              <a:buFont typeface="Consolas"/>
              <a:buNone/>
            </a:pPr>
            <a:r>
              <a:rPr lang="en-US" sz="2000" dirty="0">
                <a:solidFill>
                  <a:srgbClr val="EEF4FF"/>
                </a:solidFill>
                <a:latin typeface="Cambria" panose="02040503050406030204" pitchFamily="18" charset="0"/>
                <a:ea typeface="Cambria" panose="02040503050406030204" pitchFamily="18" charset="0"/>
                <a:cs typeface="Consolas"/>
                <a:sym typeface="Consolas"/>
              </a:rPr>
              <a:t>            name: </a:t>
            </a:r>
            <a:r>
              <a:rPr lang="en-US" sz="2000" dirty="0" err="1">
                <a:solidFill>
                  <a:srgbClr val="EEF4FF"/>
                </a:solidFill>
                <a:latin typeface="Cambria" panose="02040503050406030204" pitchFamily="18" charset="0"/>
                <a:ea typeface="Cambria" panose="02040503050406030204" pitchFamily="18" charset="0"/>
                <a:cs typeface="Consolas"/>
                <a:sym typeface="Consolas"/>
              </a:rPr>
              <a:t>api</a:t>
            </a:r>
            <a:r>
              <a:rPr lang="en-US" sz="2000" dirty="0">
                <a:solidFill>
                  <a:srgbClr val="EEF4FF"/>
                </a:solidFill>
                <a:latin typeface="Cambria" panose="02040503050406030204" pitchFamily="18" charset="0"/>
                <a:ea typeface="Cambria" panose="02040503050406030204" pitchFamily="18" charset="0"/>
                <a:cs typeface="Consolas"/>
                <a:sym typeface="Consolas"/>
              </a:rPr>
              <a:t>-service</a:t>
            </a:r>
            <a:endParaRPr sz="2000" dirty="0">
              <a:solidFill>
                <a:srgbClr val="EEF4FF"/>
              </a:solidFill>
              <a:latin typeface="Cambria" panose="02040503050406030204" pitchFamily="18" charset="0"/>
              <a:ea typeface="Cambria" panose="02040503050406030204" pitchFamily="18" charset="0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EF4FF"/>
              </a:buClr>
              <a:buSzPts val="2143"/>
              <a:buFont typeface="Consolas"/>
              <a:buNone/>
            </a:pPr>
            <a:r>
              <a:rPr lang="en-US" sz="2000" dirty="0">
                <a:solidFill>
                  <a:srgbClr val="EEF4FF"/>
                </a:solidFill>
                <a:latin typeface="Cambria" panose="02040503050406030204" pitchFamily="18" charset="0"/>
                <a:ea typeface="Cambria" panose="02040503050406030204" pitchFamily="18" charset="0"/>
                <a:cs typeface="Consolas"/>
                <a:sym typeface="Consolas"/>
              </a:rPr>
              <a:t>            port: { number: 80 }</a:t>
            </a:r>
            <a:endParaRPr sz="2000" dirty="0">
              <a:solidFill>
                <a:srgbClr val="EEF4FF"/>
              </a:solidFill>
              <a:latin typeface="Cambria" panose="02040503050406030204" pitchFamily="18" charset="0"/>
              <a:ea typeface="Cambria" panose="02040503050406030204" pitchFamily="18" charset="0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EF4FF"/>
              </a:buClr>
              <a:buSzPts val="2143"/>
              <a:buFont typeface="Consolas"/>
              <a:buNone/>
            </a:pPr>
            <a:endParaRPr sz="2000" dirty="0">
              <a:solidFill>
                <a:srgbClr val="EEF4FF"/>
              </a:solidFill>
              <a:latin typeface="Cambria" panose="02040503050406030204" pitchFamily="18" charset="0"/>
              <a:ea typeface="Cambria" panose="02040503050406030204" pitchFamily="18" charset="0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EF4FF"/>
              </a:buClr>
              <a:buSzPts val="2143"/>
              <a:buFont typeface="Consolas"/>
              <a:buNone/>
            </a:pPr>
            <a:endParaRPr sz="2000" dirty="0">
              <a:solidFill>
                <a:srgbClr val="EEF4FF"/>
              </a:solidFill>
              <a:latin typeface="Cambria" panose="02040503050406030204" pitchFamily="18" charset="0"/>
              <a:ea typeface="Cambria" panose="02040503050406030204" pitchFamily="18" charset="0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EF4FF"/>
              </a:buClr>
              <a:buSzPts val="2143"/>
              <a:buFont typeface="Consolas"/>
              <a:buNone/>
            </a:pPr>
            <a:endParaRPr sz="2000" dirty="0">
              <a:solidFill>
                <a:srgbClr val="EEF4FF"/>
              </a:solidFill>
              <a:latin typeface="Cambria" panose="02040503050406030204" pitchFamily="18" charset="0"/>
              <a:ea typeface="Cambria" panose="02040503050406030204" pitchFamily="18" charset="0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EF4FF"/>
              </a:buClr>
              <a:buSzPts val="2143"/>
              <a:buFont typeface="Consolas"/>
              <a:buNone/>
            </a:pPr>
            <a:endParaRPr sz="2000" dirty="0">
              <a:solidFill>
                <a:srgbClr val="EEF4FF"/>
              </a:solidFill>
              <a:latin typeface="Cambria" panose="02040503050406030204" pitchFamily="18" charset="0"/>
              <a:ea typeface="Cambria" panose="02040503050406030204" pitchFamily="18" charset="0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EF4FF"/>
              </a:buClr>
              <a:buSzPts val="2143"/>
              <a:buFont typeface="Consolas"/>
              <a:buNone/>
            </a:pPr>
            <a:endParaRPr sz="2000" dirty="0">
              <a:solidFill>
                <a:srgbClr val="EEF4FF"/>
              </a:solidFill>
              <a:latin typeface="Cambria" panose="02040503050406030204" pitchFamily="18" charset="0"/>
              <a:ea typeface="Cambria" panose="02040503050406030204" pitchFamily="18" charset="0"/>
              <a:cs typeface="Consolas"/>
              <a:sym typeface="Consola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30530C6-0903-F34B-7934-066D3B47446F}"/>
              </a:ext>
            </a:extLst>
          </p:cNvPr>
          <p:cNvSpPr txBox="1"/>
          <p:nvPr/>
        </p:nvSpPr>
        <p:spPr>
          <a:xfrm>
            <a:off x="292263" y="1513215"/>
            <a:ext cx="9251974" cy="83337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chemeClr val="accent6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What Is an Ingress?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An </a:t>
            </a:r>
            <a:r>
              <a:rPr lang="en-US" sz="24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Ingress</a:t>
            </a:r>
            <a:r>
              <a:rPr lang="en-US" sz="24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is a </a:t>
            </a:r>
            <a:r>
              <a:rPr lang="en-US" sz="24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Layer 7 (HTTP/HTTPS) routing mechanism</a:t>
            </a:r>
            <a:r>
              <a:rPr lang="en-US" sz="24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in Kubernetes.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Instead of exposing every application through a separate external </a:t>
            </a:r>
            <a:r>
              <a:rPr lang="en-US" sz="2400" dirty="0" err="1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LoadBalancer</a:t>
            </a:r>
            <a:r>
              <a:rPr lang="en-US" sz="24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, an Ingress can provide </a:t>
            </a:r>
            <a:r>
              <a:rPr lang="en-US" sz="24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one entry point</a:t>
            </a:r>
            <a:r>
              <a:rPr lang="en-US" sz="24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and route incoming web traffic to different Services based on the </a:t>
            </a:r>
            <a:r>
              <a:rPr lang="en-US" sz="24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hostname or URL path</a:t>
            </a:r>
            <a:r>
              <a:rPr lang="en-US" sz="24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accent6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Key Capabilities</a:t>
            </a:r>
          </a:p>
          <a:p>
            <a:pPr marL="457200" indent="-457200">
              <a:lnSpc>
                <a:spcPct val="150000"/>
              </a:lnSpc>
              <a:buClr>
                <a:schemeClr val="accent6"/>
              </a:buClr>
              <a:buFont typeface="+mj-lt"/>
              <a:buAutoNum type="arabicPeriod"/>
            </a:pPr>
            <a:r>
              <a:rPr lang="en-US" sz="2400" dirty="0">
                <a:solidFill>
                  <a:schemeClr val="accent6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Cost Efficient: </a:t>
            </a:r>
            <a:r>
              <a:rPr lang="en-US" sz="24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This can reduce the number of external load-balancing resources required, although the actual cost depends on the cloud provider and architecture.</a:t>
            </a:r>
          </a:p>
          <a:p>
            <a:pPr marL="457200" indent="-457200">
              <a:lnSpc>
                <a:spcPct val="150000"/>
              </a:lnSpc>
              <a:buClr>
                <a:schemeClr val="accent6"/>
              </a:buClr>
              <a:buFont typeface="+mj-lt"/>
              <a:buAutoNum type="arabicPeriod"/>
            </a:pPr>
            <a:r>
              <a:rPr lang="en-US" sz="2400" b="1" dirty="0">
                <a:solidFill>
                  <a:schemeClr val="accent6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Hostname-Based Routing: </a:t>
            </a:r>
            <a:r>
              <a:rPr lang="en-US" sz="24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Traffic can be routed based on the requested domain.</a:t>
            </a:r>
          </a:p>
          <a:p>
            <a:pPr marL="457200" indent="-457200">
              <a:lnSpc>
                <a:spcPct val="150000"/>
              </a:lnSpc>
              <a:buClr>
                <a:schemeClr val="accent6"/>
              </a:buClr>
              <a:buFont typeface="+mj-lt"/>
              <a:buAutoNum type="arabicPeriod"/>
            </a:pPr>
            <a:r>
              <a:rPr lang="en-US" sz="2400" b="1" dirty="0">
                <a:solidFill>
                  <a:schemeClr val="accent6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Path-Based Routing: </a:t>
            </a:r>
            <a:r>
              <a:rPr lang="en-US" sz="24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Traffic can also be routed based on the URL path.</a:t>
            </a:r>
          </a:p>
        </p:txBody>
      </p:sp>
      <p:sp>
        <p:nvSpPr>
          <p:cNvPr id="3" name="Google Shape;601;g3dae939ee2c_0_240">
            <a:extLst>
              <a:ext uri="{FF2B5EF4-FFF2-40B4-BE49-F238E27FC236}">
                <a16:creationId xmlns:a16="http://schemas.microsoft.com/office/drawing/2014/main" id="{94150F34-79D2-1376-DEA3-8A2C0DE4C69A}"/>
              </a:ext>
            </a:extLst>
          </p:cNvPr>
          <p:cNvSpPr/>
          <p:nvPr/>
        </p:nvSpPr>
        <p:spPr>
          <a:xfrm>
            <a:off x="9595443" y="1215294"/>
            <a:ext cx="8375387" cy="5202807"/>
          </a:xfrm>
          <a:prstGeom prst="roundRect">
            <a:avLst>
              <a:gd name="adj" fmla="val 8602"/>
            </a:avLst>
          </a:prstGeom>
          <a:solidFill>
            <a:srgbClr val="343434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C9059AE-1B64-1FCD-8DAD-51957D123E85}"/>
              </a:ext>
            </a:extLst>
          </p:cNvPr>
          <p:cNvSpPr txBox="1"/>
          <p:nvPr/>
        </p:nvSpPr>
        <p:spPr>
          <a:xfrm>
            <a:off x="9660637" y="1330021"/>
            <a:ext cx="8185145" cy="5563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400" b="1" dirty="0">
                <a:solidFill>
                  <a:schemeClr val="accent6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4. TLS Termination</a:t>
            </a:r>
          </a:p>
          <a:p>
            <a:pPr algn="just">
              <a:lnSpc>
                <a:spcPct val="150000"/>
              </a:lnSpc>
            </a:pPr>
            <a:r>
              <a:rPr lang="en-US" sz="24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Ingress can handle </a:t>
            </a:r>
            <a:r>
              <a:rPr lang="en-US" sz="24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HTTPS/TLS encryption</a:t>
            </a:r>
            <a:r>
              <a:rPr lang="en-US" sz="24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at the entry point.</a:t>
            </a:r>
          </a:p>
          <a:p>
            <a:pPr algn="just">
              <a:lnSpc>
                <a:spcPct val="150000"/>
              </a:lnSpc>
            </a:pPr>
            <a:r>
              <a:rPr lang="en-US" sz="24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The TLS certificate can be managed at the Ingress layer, allowing backend Pods to receive HTTP traffic when appropriate for the internal network and security design.</a:t>
            </a:r>
          </a:p>
          <a:p>
            <a:pPr algn="just">
              <a:lnSpc>
                <a:spcPct val="150000"/>
              </a:lnSpc>
            </a:pPr>
            <a:r>
              <a:rPr lang="en-US" sz="2400" b="1" dirty="0">
                <a:solidFill>
                  <a:schemeClr val="accent6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Note:</a:t>
            </a:r>
            <a:r>
              <a:rPr lang="en-US" sz="2400" dirty="0">
                <a:solidFill>
                  <a:schemeClr val="accent6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4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Using plain HTTP internally is a design choice, not a requirement. Sensitive environments may use encryption all the way to the Pods.</a:t>
            </a:r>
          </a:p>
          <a:p>
            <a:pPr algn="just">
              <a:lnSpc>
                <a:spcPct val="150000"/>
              </a:lnSpc>
            </a:pPr>
            <a:endParaRPr lang="en-US" sz="2400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2">
          <a:extLst>
            <a:ext uri="{FF2B5EF4-FFF2-40B4-BE49-F238E27FC236}">
              <a16:creationId xmlns:a16="http://schemas.microsoft.com/office/drawing/2014/main" id="{54490464-F494-0863-FBC2-20273DBAED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g3dae939ee2c_0_240">
            <a:extLst>
              <a:ext uri="{FF2B5EF4-FFF2-40B4-BE49-F238E27FC236}">
                <a16:creationId xmlns:a16="http://schemas.microsoft.com/office/drawing/2014/main" id="{DC1E4E33-6D2D-97BD-433F-0A8A27A9C5A7}"/>
              </a:ext>
            </a:extLst>
          </p:cNvPr>
          <p:cNvSpPr/>
          <p:nvPr/>
        </p:nvSpPr>
        <p:spPr>
          <a:xfrm>
            <a:off x="252014" y="153766"/>
            <a:ext cx="17783973" cy="9979469"/>
          </a:xfrm>
          <a:custGeom>
            <a:avLst/>
            <a:gdLst/>
            <a:ahLst/>
            <a:cxnLst/>
            <a:rect l="l" t="t" r="r" b="b"/>
            <a:pathLst>
              <a:path w="17783973" h="9979469" extrusionOk="0">
                <a:moveTo>
                  <a:pt x="0" y="0"/>
                </a:moveTo>
                <a:lnTo>
                  <a:pt x="17783972" y="0"/>
                </a:lnTo>
                <a:lnTo>
                  <a:pt x="17783972" y="9979468"/>
                </a:lnTo>
                <a:lnTo>
                  <a:pt x="0" y="997946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4000"/>
            </a:blip>
            <a:stretch>
              <a:fillRect l="-2130" t="-130" b="-6510"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grpSp>
        <p:nvGrpSpPr>
          <p:cNvPr id="594" name="Google Shape;594;g3dae939ee2c_0_240">
            <a:extLst>
              <a:ext uri="{FF2B5EF4-FFF2-40B4-BE49-F238E27FC236}">
                <a16:creationId xmlns:a16="http://schemas.microsoft.com/office/drawing/2014/main" id="{A23F7E46-6CAD-099D-20FE-DC399E6D3980}"/>
              </a:ext>
            </a:extLst>
          </p:cNvPr>
          <p:cNvGrpSpPr/>
          <p:nvPr/>
        </p:nvGrpSpPr>
        <p:grpSpPr>
          <a:xfrm>
            <a:off x="530603" y="553241"/>
            <a:ext cx="4536332" cy="836104"/>
            <a:chOff x="0" y="0"/>
            <a:chExt cx="6048443" cy="1114806"/>
          </a:xfrm>
        </p:grpSpPr>
        <p:sp>
          <p:nvSpPr>
            <p:cNvPr id="595" name="Google Shape;595;g3dae939ee2c_0_240" descr="Insights on ACTD Accreditation from a Leading Body">
              <a:extLst>
                <a:ext uri="{FF2B5EF4-FFF2-40B4-BE49-F238E27FC236}">
                  <a16:creationId xmlns:a16="http://schemas.microsoft.com/office/drawing/2014/main" id="{CF8941AD-43DF-F166-89CD-D7B161DE7F1E}"/>
                </a:ext>
              </a:extLst>
            </p:cNvPr>
            <p:cNvSpPr/>
            <p:nvPr/>
          </p:nvSpPr>
          <p:spPr>
            <a:xfrm>
              <a:off x="2976677" y="44434"/>
              <a:ext cx="1070372" cy="1070372"/>
            </a:xfrm>
            <a:custGeom>
              <a:avLst/>
              <a:gdLst/>
              <a:ahLst/>
              <a:cxnLst/>
              <a:rect l="l" t="t" r="r" b="b"/>
              <a:pathLst>
                <a:path w="2952750" h="2952750" extrusionOk="0">
                  <a:moveTo>
                    <a:pt x="0" y="0"/>
                  </a:moveTo>
                  <a:lnTo>
                    <a:pt x="2952750" y="0"/>
                  </a:lnTo>
                  <a:lnTo>
                    <a:pt x="2952750" y="2952750"/>
                  </a:lnTo>
                  <a:lnTo>
                    <a:pt x="0" y="295275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96" name="Google Shape;596;g3dae939ee2c_0_240">
              <a:extLst>
                <a:ext uri="{FF2B5EF4-FFF2-40B4-BE49-F238E27FC236}">
                  <a16:creationId xmlns:a16="http://schemas.microsoft.com/office/drawing/2014/main" id="{650D68C2-A0A6-4C6F-5D2B-6260DC31E55B}"/>
                </a:ext>
              </a:extLst>
            </p:cNvPr>
            <p:cNvSpPr txBox="1"/>
            <p:nvPr/>
          </p:nvSpPr>
          <p:spPr>
            <a:xfrm>
              <a:off x="4168343" y="157841"/>
              <a:ext cx="1880100" cy="532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1992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63"/>
                <a:buFont typeface="Arial"/>
                <a:buNone/>
              </a:pPr>
              <a:r>
                <a:rPr lang="en-US" sz="763" b="0" i="0" u="none" strike="noStrike" cap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ACCREDITED BY THE AMERICAN COUNCIL OF TRAINING AND DEVELOPMENT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7" name="Google Shape;597;g3dae939ee2c_0_240">
              <a:extLst>
                <a:ext uri="{FF2B5EF4-FFF2-40B4-BE49-F238E27FC236}">
                  <a16:creationId xmlns:a16="http://schemas.microsoft.com/office/drawing/2014/main" id="{2513DC49-2C22-9FC7-298A-DBD59760E163}"/>
                </a:ext>
              </a:extLst>
            </p:cNvPr>
            <p:cNvSpPr/>
            <p:nvPr/>
          </p:nvSpPr>
          <p:spPr>
            <a:xfrm>
              <a:off x="0" y="44434"/>
              <a:ext cx="2756281" cy="810768"/>
            </a:xfrm>
            <a:custGeom>
              <a:avLst/>
              <a:gdLst/>
              <a:ahLst/>
              <a:cxnLst/>
              <a:rect l="l" t="t" r="r" b="b"/>
              <a:pathLst>
                <a:path w="2756281" h="810768" extrusionOk="0">
                  <a:moveTo>
                    <a:pt x="0" y="0"/>
                  </a:moveTo>
                  <a:lnTo>
                    <a:pt x="2756281" y="0"/>
                  </a:lnTo>
                  <a:lnTo>
                    <a:pt x="2756281" y="810768"/>
                  </a:lnTo>
                  <a:lnTo>
                    <a:pt x="0" y="81076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 t="-30" b="-40"/>
              </a:stretch>
            </a:blip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cxnSp>
          <p:nvCxnSpPr>
            <p:cNvPr id="598" name="Google Shape;598;g3dae939ee2c_0_240">
              <a:extLst>
                <a:ext uri="{FF2B5EF4-FFF2-40B4-BE49-F238E27FC236}">
                  <a16:creationId xmlns:a16="http://schemas.microsoft.com/office/drawing/2014/main" id="{F279D6BD-EF25-B847-20DE-2311B37EC057}"/>
                </a:ext>
              </a:extLst>
            </p:cNvPr>
            <p:cNvCxnSpPr/>
            <p:nvPr/>
          </p:nvCxnSpPr>
          <p:spPr>
            <a:xfrm>
              <a:off x="2900823" y="0"/>
              <a:ext cx="0" cy="860100"/>
            </a:xfrm>
            <a:prstGeom prst="straightConnector1">
              <a:avLst/>
            </a:prstGeom>
            <a:noFill/>
            <a:ln w="254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599" name="Google Shape;599;g3dae939ee2c_0_240">
            <a:extLst>
              <a:ext uri="{FF2B5EF4-FFF2-40B4-BE49-F238E27FC236}">
                <a16:creationId xmlns:a16="http://schemas.microsoft.com/office/drawing/2014/main" id="{BF835A15-1FD9-4D6E-EAD4-C79F9C55DBB1}"/>
              </a:ext>
            </a:extLst>
          </p:cNvPr>
          <p:cNvSpPr/>
          <p:nvPr/>
        </p:nvSpPr>
        <p:spPr>
          <a:xfrm>
            <a:off x="5217318" y="391863"/>
            <a:ext cx="7078465" cy="8027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8F8"/>
              </a:buClr>
              <a:buSzPts val="5832"/>
              <a:buFont typeface="Trebuchet MS"/>
              <a:buNone/>
            </a:pPr>
            <a:r>
              <a:rPr lang="en-US" sz="4800" b="1" dirty="0">
                <a:solidFill>
                  <a:srgbClr val="434343"/>
                </a:solidFill>
                <a:latin typeface="Cambria" panose="02040503050406030204" pitchFamily="18" charset="0"/>
                <a:ea typeface="Cambria" panose="02040503050406030204" pitchFamily="18" charset="0"/>
                <a:cs typeface="Poppins"/>
                <a:sym typeface="Poppins"/>
              </a:rPr>
              <a:t>Ingress Controller</a:t>
            </a:r>
            <a:endParaRPr sz="4800" b="1" i="0" u="none" strike="noStrike" cap="none" dirty="0">
              <a:solidFill>
                <a:srgbClr val="434343"/>
              </a:solidFill>
              <a:latin typeface="Cambria" panose="02040503050406030204" pitchFamily="18" charset="0"/>
              <a:ea typeface="Cambria" panose="02040503050406030204" pitchFamily="18" charset="0"/>
              <a:cs typeface="Poppins"/>
              <a:sym typeface="Poppins"/>
            </a:endParaRPr>
          </a:p>
        </p:txBody>
      </p:sp>
      <p:sp>
        <p:nvSpPr>
          <p:cNvPr id="601" name="Google Shape;601;g3dae939ee2c_0_240">
            <a:extLst>
              <a:ext uri="{FF2B5EF4-FFF2-40B4-BE49-F238E27FC236}">
                <a16:creationId xmlns:a16="http://schemas.microsoft.com/office/drawing/2014/main" id="{A708156D-3EF7-5267-C638-939C8534EBD6}"/>
              </a:ext>
            </a:extLst>
          </p:cNvPr>
          <p:cNvSpPr/>
          <p:nvPr/>
        </p:nvSpPr>
        <p:spPr>
          <a:xfrm>
            <a:off x="108250" y="1389345"/>
            <a:ext cx="14632986" cy="8788830"/>
          </a:xfrm>
          <a:prstGeom prst="roundRect">
            <a:avLst>
              <a:gd name="adj" fmla="val 8602"/>
            </a:avLst>
          </a:prstGeom>
          <a:solidFill>
            <a:srgbClr val="343434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C0CB62E-DB4F-9647-1DFD-50CCC9F9489D}"/>
              </a:ext>
            </a:extLst>
          </p:cNvPr>
          <p:cNvSpPr txBox="1"/>
          <p:nvPr/>
        </p:nvSpPr>
        <p:spPr>
          <a:xfrm>
            <a:off x="1564208" y="2430221"/>
            <a:ext cx="9251974" cy="4455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chemeClr val="accent6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Popular Ingress Controllers</a:t>
            </a:r>
          </a:p>
          <a:p>
            <a:pPr algn="just">
              <a:lnSpc>
                <a:spcPct val="150000"/>
              </a:lnSpc>
            </a:pPr>
            <a:r>
              <a:rPr lang="en-US" sz="24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An </a:t>
            </a:r>
            <a:r>
              <a:rPr lang="en-US" sz="24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Ingress resource only defines the routing rules</a:t>
            </a:r>
            <a:r>
              <a:rPr lang="en-US" sz="24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. An </a:t>
            </a:r>
            <a:r>
              <a:rPr lang="en-US" sz="24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Ingress Controller</a:t>
            </a:r>
            <a:r>
              <a:rPr lang="en-US" sz="24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is responsible for actually implementing those rules.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Popular options include:</a:t>
            </a:r>
          </a:p>
          <a:p>
            <a:pPr marL="342900" lvl="0" indent="-342900">
              <a:lnSpc>
                <a:spcPct val="150000"/>
              </a:lnSpc>
              <a:buClr>
                <a:schemeClr val="accent6"/>
              </a:buClr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NGINX Ingress Controller</a:t>
            </a:r>
            <a:endParaRPr lang="en-US" sz="2400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342900">
              <a:lnSpc>
                <a:spcPct val="150000"/>
              </a:lnSpc>
              <a:buClr>
                <a:schemeClr val="accent6"/>
              </a:buClr>
              <a:buFont typeface="Arial" panose="020B0604020202020204" pitchFamily="34" charset="0"/>
              <a:buChar char="•"/>
            </a:pPr>
            <a:r>
              <a:rPr lang="en-US" sz="2400" b="1" dirty="0" err="1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Traefik</a:t>
            </a:r>
            <a:endParaRPr lang="en-US" sz="2400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342900">
              <a:lnSpc>
                <a:spcPct val="150000"/>
              </a:lnSpc>
              <a:buClr>
                <a:schemeClr val="accent6"/>
              </a:buClr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AWS Load Balancer Controller</a:t>
            </a:r>
            <a:endParaRPr lang="en-US" sz="2400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342900">
              <a:lnSpc>
                <a:spcPct val="150000"/>
              </a:lnSpc>
              <a:buClr>
                <a:schemeClr val="accent6"/>
              </a:buClr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Kong Gateway</a:t>
            </a:r>
            <a:endParaRPr lang="en-US" sz="2400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274713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Rectangle 49">
            <a:extLst>
              <a:ext uri="{FF2B5EF4-FFF2-40B4-BE49-F238E27FC236}">
                <a16:creationId xmlns:a16="http://schemas.microsoft.com/office/drawing/2014/main" id="{ED55A19D-297C-4231-AD1F-08EF9B4AA8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EBAB6C56-3D38-4923-996E-BD474BBB91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866900" y="993253"/>
            <a:ext cx="15433549" cy="8541272"/>
          </a:xfrm>
          <a:prstGeom prst="rect">
            <a:avLst/>
          </a:pr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20CD21DB-082D-417D-A5AB-FC838AF9D9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866900" y="993253"/>
            <a:ext cx="15433549" cy="8541272"/>
          </a:xfrm>
          <a:prstGeom prst="rect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DAC60DE5-2335-6FDC-CB2B-3435E034D55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02" r="144" b="1"/>
          <a:stretch>
            <a:fillRect/>
          </a:stretch>
        </p:blipFill>
        <p:spPr>
          <a:xfrm>
            <a:off x="1257300" y="350710"/>
            <a:ext cx="15703299" cy="8833106"/>
          </a:xfrm>
          <a:prstGeom prst="rect">
            <a:avLst/>
          </a:prstGeom>
          <a:ln w="28575">
            <a:solidFill>
              <a:schemeClr val="bg1"/>
            </a:solidFill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640">
          <a:extLst>
            <a:ext uri="{FF2B5EF4-FFF2-40B4-BE49-F238E27FC236}">
              <a16:creationId xmlns:a16="http://schemas.microsoft.com/office/drawing/2014/main" id="{7D0FDBD2-5923-C993-3B31-9D0EA8925C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ED55A19D-297C-4231-AD1F-08EF9B4AA8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BAB6C56-3D38-4923-996E-BD474BBB91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866900" y="993253"/>
            <a:ext cx="15433549" cy="8541272"/>
          </a:xfrm>
          <a:prstGeom prst="rect">
            <a:avLst/>
          </a:pr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0CD21DB-082D-417D-A5AB-FC838AF9D9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866900" y="993253"/>
            <a:ext cx="15433549" cy="8541272"/>
          </a:xfrm>
          <a:prstGeom prst="rect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58A9255-F16B-3525-C98B-00E73B8D79F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7556"/>
          <a:stretch>
            <a:fillRect/>
          </a:stretch>
        </p:blipFill>
        <p:spPr>
          <a:xfrm>
            <a:off x="1257300" y="350710"/>
            <a:ext cx="15703299" cy="8833106"/>
          </a:xfrm>
          <a:prstGeom prst="rect">
            <a:avLst/>
          </a:prstGeom>
          <a:ln w="28575">
            <a:solidFill>
              <a:schemeClr val="bg1"/>
            </a:solidFill>
          </a:ln>
        </p:spPr>
      </p:pic>
    </p:spTree>
    <p:extLst>
      <p:ext uri="{BB962C8B-B14F-4D97-AF65-F5344CB8AC3E}">
        <p14:creationId xmlns:p14="http://schemas.microsoft.com/office/powerpoint/2010/main" val="30991677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635</TotalTime>
  <Words>6098</Words>
  <Application>Microsoft Office PowerPoint</Application>
  <PresentationFormat>Custom</PresentationFormat>
  <Paragraphs>722</Paragraphs>
  <Slides>31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31</vt:i4>
      </vt:variant>
    </vt:vector>
  </HeadingPairs>
  <TitlesOfParts>
    <vt:vector size="39" baseType="lpstr">
      <vt:lpstr>Cambria</vt:lpstr>
      <vt:lpstr>Trebuchet MS</vt:lpstr>
      <vt:lpstr>Consolas</vt:lpstr>
      <vt:lpstr>Arial</vt:lpstr>
      <vt:lpstr>Calibri</vt:lpstr>
      <vt:lpstr>Poppins</vt:lpstr>
      <vt:lpstr>Office Theme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USER</dc:creator>
  <cp:lastModifiedBy>ojetokun victor</cp:lastModifiedBy>
  <cp:revision>10</cp:revision>
  <dcterms:created xsi:type="dcterms:W3CDTF">2006-08-16T00:00:00Z</dcterms:created>
  <dcterms:modified xsi:type="dcterms:W3CDTF">2026-09-24T22:23:00Z</dcterms:modified>
</cp:coreProperties>
</file>